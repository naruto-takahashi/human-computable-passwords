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36"/>
  </p:notesMasterIdLst>
  <p:sldIdLst>
    <p:sldId id="257" r:id="rId2"/>
    <p:sldId id="269" r:id="rId3"/>
    <p:sldId id="345" r:id="rId4"/>
    <p:sldId id="332" r:id="rId5"/>
    <p:sldId id="333" r:id="rId6"/>
    <p:sldId id="334" r:id="rId7"/>
    <p:sldId id="335" r:id="rId8"/>
    <p:sldId id="349" r:id="rId9"/>
    <p:sldId id="337" r:id="rId10"/>
    <p:sldId id="338" r:id="rId11"/>
    <p:sldId id="331" r:id="rId12"/>
    <p:sldId id="343" r:id="rId13"/>
    <p:sldId id="344" r:id="rId14"/>
    <p:sldId id="339" r:id="rId15"/>
    <p:sldId id="342" r:id="rId16"/>
    <p:sldId id="348" r:id="rId17"/>
    <p:sldId id="352" r:id="rId18"/>
    <p:sldId id="353" r:id="rId19"/>
    <p:sldId id="346" r:id="rId20"/>
    <p:sldId id="347" r:id="rId21"/>
    <p:sldId id="350" r:id="rId22"/>
    <p:sldId id="351" r:id="rId23"/>
    <p:sldId id="354" r:id="rId24"/>
    <p:sldId id="283" r:id="rId25"/>
    <p:sldId id="260" r:id="rId26"/>
    <p:sldId id="286" r:id="rId27"/>
    <p:sldId id="356" r:id="rId28"/>
    <p:sldId id="292" r:id="rId29"/>
    <p:sldId id="261" r:id="rId30"/>
    <p:sldId id="357" r:id="rId31"/>
    <p:sldId id="262" r:id="rId32"/>
    <p:sldId id="355" r:id="rId33"/>
    <p:sldId id="274" r:id="rId34"/>
    <p:sldId id="275" r:id="rId35"/>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80C9A0B-90F9-A1EA-382F-4914B7767616}" name="ogawa shohei" initials="os" userId="f009c7f52413cc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5A44"/>
    <a:srgbClr val="5D2803"/>
    <a:srgbClr val="803700"/>
    <a:srgbClr val="D9D9D9"/>
    <a:srgbClr val="9498B0"/>
    <a:srgbClr val="0C0787"/>
    <a:srgbClr val="BD3786"/>
    <a:srgbClr val="F1FA21"/>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809" autoAdjust="0"/>
    <p:restoredTop sz="96993"/>
  </p:normalViewPr>
  <p:slideViewPr>
    <p:cSldViewPr snapToGrid="0">
      <p:cViewPr varScale="1">
        <p:scale>
          <a:sx n="63" d="100"/>
          <a:sy n="63" d="100"/>
        </p:scale>
        <p:origin x="656" y="56"/>
      </p:cViewPr>
      <p:guideLst/>
    </p:cSldViewPr>
  </p:slideViewPr>
  <p:notesTextViewPr>
    <p:cViewPr>
      <p:scale>
        <a:sx n="1" d="1"/>
        <a:sy n="1" d="1"/>
      </p:scale>
      <p:origin x="0" y="0"/>
    </p:cViewPr>
  </p:notesTextViewPr>
  <p:sorterViewPr>
    <p:cViewPr>
      <p:scale>
        <a:sx n="76" d="100"/>
        <a:sy n="7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8/10/relationships/authors" Targe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78AEC03-0C02-A44A-9348-0A87FB7A70D9}" type="datetimeFigureOut">
              <a:rPr kumimoji="1" lang="ja-JP" altLang="en-US" smtClean="0"/>
              <a:t>2025/2/17</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1C133E3-1FB7-D045-A8FB-C1C8F006F334}" type="slidenum">
              <a:rPr kumimoji="1" lang="ja-JP" altLang="en-US" smtClean="0"/>
              <a:t>‹#›</a:t>
            </a:fld>
            <a:endParaRPr kumimoji="1" lang="ja-JP" altLang="en-US"/>
          </a:p>
        </p:txBody>
      </p:sp>
    </p:spTree>
    <p:extLst>
      <p:ext uri="{BB962C8B-B14F-4D97-AF65-F5344CB8AC3E}">
        <p14:creationId xmlns:p14="http://schemas.microsoft.com/office/powerpoint/2010/main" val="183741882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pPr algn="l" rtl="0">
              <a:spcBef>
                <a:spcPts val="0"/>
              </a:spcBef>
              <a:spcAft>
                <a:spcPts val="0"/>
              </a:spcAft>
            </a:pPr>
            <a:r>
              <a:rPr lang="ja-JP" altLang="en-US" sz="1800" b="0" i="0" u="none" strike="noStrike" dirty="0">
                <a:solidFill>
                  <a:srgbClr val="000000"/>
                </a:solidFill>
                <a:effectLst/>
                <a:latin typeface="Arial" panose="020B0604020202020204" pitchFamily="34" charset="0"/>
              </a:rPr>
              <a:t>これから</a:t>
            </a:r>
            <a:r>
              <a:rPr kumimoji="1" lang="ja-JP" altLang="en-US" sz="8000" b="0" dirty="0"/>
              <a:t>フォント利用に注目したデザイン品質判定</a:t>
            </a:r>
            <a:r>
              <a:rPr lang="ja-JP" altLang="en-US" sz="1800" b="0" i="0" u="none" strike="noStrike" dirty="0">
                <a:solidFill>
                  <a:srgbClr val="000000"/>
                </a:solidFill>
                <a:effectLst/>
                <a:latin typeface="Arial" panose="020B0604020202020204" pitchFamily="34" charset="0"/>
              </a:rPr>
              <a:t>というテーマで宮田が発表させていただきます．</a:t>
            </a:r>
            <a:endParaRPr lang="en-US" altLang="ja-JP" sz="1800" b="0" i="0" u="none" strike="noStrike" dirty="0">
              <a:solidFill>
                <a:srgbClr val="000000"/>
              </a:solidFill>
              <a:effectLst/>
              <a:latin typeface="Arial" panose="020B0604020202020204" pitchFamily="34" charset="0"/>
            </a:endParaRPr>
          </a:p>
          <a:p>
            <a:pPr algn="l" rtl="0">
              <a:spcBef>
                <a:spcPts val="0"/>
              </a:spcBef>
              <a:spcAft>
                <a:spcPts val="0"/>
              </a:spcAft>
            </a:pPr>
            <a:r>
              <a:rPr lang="ja-JP" altLang="en-US" sz="1800" b="0" i="0" u="none" strike="noStrike" dirty="0">
                <a:solidFill>
                  <a:srgbClr val="000000"/>
                </a:solidFill>
                <a:effectLst/>
                <a:latin typeface="Arial" panose="020B0604020202020204" pitchFamily="34" charset="0"/>
              </a:rPr>
              <a:t>（ご紹介していただいたタイトルで宮田が発表させていただきます。）</a:t>
            </a:r>
            <a:endParaRPr lang="en-US" altLang="ja-JP" sz="1800" b="0" i="0" u="none" strike="noStrike" dirty="0">
              <a:solidFill>
                <a:srgbClr val="000000"/>
              </a:solidFill>
              <a:effectLst/>
              <a:latin typeface="Arial" panose="020B0604020202020204" pitchFamily="34" charset="0"/>
            </a:endParaRPr>
          </a:p>
          <a:p>
            <a:pPr algn="l" rtl="0">
              <a:spcBef>
                <a:spcPts val="0"/>
              </a:spcBef>
              <a:spcAft>
                <a:spcPts val="0"/>
              </a:spcAft>
            </a:pPr>
            <a:r>
              <a:rPr lang="ja-JP" altLang="en-US" sz="1800" b="0" i="0" u="none" strike="noStrike" dirty="0">
                <a:solidFill>
                  <a:srgbClr val="000000"/>
                </a:solidFill>
                <a:effectLst/>
                <a:latin typeface="Arial" panose="020B0604020202020204" pitchFamily="34" charset="0"/>
              </a:rPr>
              <a:t>よろしくお願いいたします．</a:t>
            </a:r>
            <a:endParaRPr lang="ja-JP" altLang="en-US" b="0" i="0" u="none" strike="noStrike" dirty="0">
              <a:solidFill>
                <a:srgbClr val="000000"/>
              </a:solidFill>
              <a:effectLst/>
            </a:endParaRPr>
          </a:p>
          <a:p>
            <a:br>
              <a:rPr lang="ja-JP" altLang="en-US" dirty="0"/>
            </a:br>
            <a:br>
              <a:rPr lang="ja-JP" altLang="en-US" dirty="0"/>
            </a:br>
            <a:r>
              <a:rPr lang="ja-JP" altLang="en-US" dirty="0"/>
              <a:t>（１０秒）</a:t>
            </a:r>
            <a:endParaRPr lang="en-US" altLang="ja-JP" dirty="0"/>
          </a:p>
          <a:p>
            <a:endParaRPr kumimoji="1" lang="ja-JP" altLang="en-US" dirty="0"/>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0</a:t>
            </a:fld>
            <a:endParaRPr kumimoji="1" lang="ja-JP" altLang="en-US"/>
          </a:p>
        </p:txBody>
      </p:sp>
    </p:spTree>
    <p:extLst>
      <p:ext uri="{BB962C8B-B14F-4D97-AF65-F5344CB8AC3E}">
        <p14:creationId xmlns:p14="http://schemas.microsoft.com/office/powerpoint/2010/main" val="15987346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b="0" i="0" dirty="0">
              <a:solidFill>
                <a:srgbClr val="1D1C1D"/>
              </a:solidFill>
              <a:effectLst/>
              <a:highlight>
                <a:srgbClr val="F8F8F8"/>
              </a:highlight>
              <a:latin typeface="NotoSansJP"/>
            </a:endParaRP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a:t>
            </a:fld>
            <a:endParaRPr kumimoji="1" lang="ja-JP" altLang="en-US"/>
          </a:p>
        </p:txBody>
      </p:sp>
    </p:spTree>
    <p:extLst>
      <p:ext uri="{BB962C8B-B14F-4D97-AF65-F5344CB8AC3E}">
        <p14:creationId xmlns:p14="http://schemas.microsoft.com/office/powerpoint/2010/main" val="2772551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2</a:t>
            </a:fld>
            <a:endParaRPr kumimoji="1" lang="ja-JP" altLang="en-US"/>
          </a:p>
        </p:txBody>
      </p:sp>
    </p:spTree>
    <p:extLst>
      <p:ext uri="{BB962C8B-B14F-4D97-AF65-F5344CB8AC3E}">
        <p14:creationId xmlns:p14="http://schemas.microsoft.com/office/powerpoint/2010/main" val="14533375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3</a:t>
            </a:fld>
            <a:endParaRPr kumimoji="1" lang="ja-JP" altLang="en-US"/>
          </a:p>
        </p:txBody>
      </p:sp>
    </p:spTree>
    <p:extLst>
      <p:ext uri="{BB962C8B-B14F-4D97-AF65-F5344CB8AC3E}">
        <p14:creationId xmlns:p14="http://schemas.microsoft.com/office/powerpoint/2010/main" val="25448285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4</a:t>
            </a:fld>
            <a:endParaRPr kumimoji="1" lang="ja-JP" altLang="en-US"/>
          </a:p>
        </p:txBody>
      </p:sp>
    </p:spTree>
    <p:extLst>
      <p:ext uri="{BB962C8B-B14F-4D97-AF65-F5344CB8AC3E}">
        <p14:creationId xmlns:p14="http://schemas.microsoft.com/office/powerpoint/2010/main" val="19113724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5</a:t>
            </a:fld>
            <a:endParaRPr kumimoji="1" lang="ja-JP" altLang="en-US"/>
          </a:p>
        </p:txBody>
      </p:sp>
    </p:spTree>
    <p:extLst>
      <p:ext uri="{BB962C8B-B14F-4D97-AF65-F5344CB8AC3E}">
        <p14:creationId xmlns:p14="http://schemas.microsoft.com/office/powerpoint/2010/main" val="4241000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6</a:t>
            </a:fld>
            <a:endParaRPr kumimoji="1" lang="ja-JP" altLang="en-US"/>
          </a:p>
        </p:txBody>
      </p:sp>
    </p:spTree>
    <p:extLst>
      <p:ext uri="{BB962C8B-B14F-4D97-AF65-F5344CB8AC3E}">
        <p14:creationId xmlns:p14="http://schemas.microsoft.com/office/powerpoint/2010/main" val="34779137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7</a:t>
            </a:fld>
            <a:endParaRPr kumimoji="1" lang="ja-JP" altLang="en-US"/>
          </a:p>
        </p:txBody>
      </p:sp>
    </p:spTree>
    <p:extLst>
      <p:ext uri="{BB962C8B-B14F-4D97-AF65-F5344CB8AC3E}">
        <p14:creationId xmlns:p14="http://schemas.microsoft.com/office/powerpoint/2010/main" val="253742302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8</a:t>
            </a:fld>
            <a:endParaRPr kumimoji="1" lang="ja-JP" altLang="en-US"/>
          </a:p>
        </p:txBody>
      </p:sp>
    </p:spTree>
    <p:extLst>
      <p:ext uri="{BB962C8B-B14F-4D97-AF65-F5344CB8AC3E}">
        <p14:creationId xmlns:p14="http://schemas.microsoft.com/office/powerpoint/2010/main" val="24112088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10</a:t>
            </a:fld>
            <a:endParaRPr kumimoji="1" lang="ja-JP" altLang="en-US"/>
          </a:p>
        </p:txBody>
      </p:sp>
    </p:spTree>
    <p:extLst>
      <p:ext uri="{BB962C8B-B14F-4D97-AF65-F5344CB8AC3E}">
        <p14:creationId xmlns:p14="http://schemas.microsoft.com/office/powerpoint/2010/main" val="2028939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11</a:t>
            </a:fld>
            <a:endParaRPr kumimoji="1" lang="ja-JP" altLang="en-US"/>
          </a:p>
        </p:txBody>
      </p:sp>
    </p:spTree>
    <p:extLst>
      <p:ext uri="{BB962C8B-B14F-4D97-AF65-F5344CB8AC3E}">
        <p14:creationId xmlns:p14="http://schemas.microsoft.com/office/powerpoint/2010/main" val="39813717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12</a:t>
            </a:fld>
            <a:endParaRPr kumimoji="1" lang="ja-JP" altLang="en-US"/>
          </a:p>
        </p:txBody>
      </p:sp>
    </p:spTree>
    <p:extLst>
      <p:ext uri="{BB962C8B-B14F-4D97-AF65-F5344CB8AC3E}">
        <p14:creationId xmlns:p14="http://schemas.microsoft.com/office/powerpoint/2010/main" val="336602237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13</a:t>
            </a:fld>
            <a:endParaRPr kumimoji="1" lang="ja-JP" altLang="en-US"/>
          </a:p>
        </p:txBody>
      </p:sp>
    </p:spTree>
    <p:extLst>
      <p:ext uri="{BB962C8B-B14F-4D97-AF65-F5344CB8AC3E}">
        <p14:creationId xmlns:p14="http://schemas.microsoft.com/office/powerpoint/2010/main" val="29076189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14</a:t>
            </a:fld>
            <a:endParaRPr kumimoji="1" lang="ja-JP" altLang="en-US"/>
          </a:p>
        </p:txBody>
      </p:sp>
    </p:spTree>
    <p:extLst>
      <p:ext uri="{BB962C8B-B14F-4D97-AF65-F5344CB8AC3E}">
        <p14:creationId xmlns:p14="http://schemas.microsoft.com/office/powerpoint/2010/main" val="8633562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15</a:t>
            </a:fld>
            <a:endParaRPr kumimoji="1" lang="ja-JP" altLang="en-US"/>
          </a:p>
        </p:txBody>
      </p:sp>
    </p:spTree>
    <p:extLst>
      <p:ext uri="{BB962C8B-B14F-4D97-AF65-F5344CB8AC3E}">
        <p14:creationId xmlns:p14="http://schemas.microsoft.com/office/powerpoint/2010/main" val="27004633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16</a:t>
            </a:fld>
            <a:endParaRPr kumimoji="1" lang="ja-JP" altLang="en-US"/>
          </a:p>
        </p:txBody>
      </p:sp>
    </p:spTree>
    <p:extLst>
      <p:ext uri="{BB962C8B-B14F-4D97-AF65-F5344CB8AC3E}">
        <p14:creationId xmlns:p14="http://schemas.microsoft.com/office/powerpoint/2010/main" val="58811858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17</a:t>
            </a:fld>
            <a:endParaRPr kumimoji="1" lang="ja-JP" altLang="en-US"/>
          </a:p>
        </p:txBody>
      </p:sp>
    </p:spTree>
    <p:extLst>
      <p:ext uri="{BB962C8B-B14F-4D97-AF65-F5344CB8AC3E}">
        <p14:creationId xmlns:p14="http://schemas.microsoft.com/office/powerpoint/2010/main" val="123778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18</a:t>
            </a:fld>
            <a:endParaRPr kumimoji="1" lang="ja-JP" altLang="en-US"/>
          </a:p>
        </p:txBody>
      </p:sp>
    </p:spTree>
    <p:extLst>
      <p:ext uri="{BB962C8B-B14F-4D97-AF65-F5344CB8AC3E}">
        <p14:creationId xmlns:p14="http://schemas.microsoft.com/office/powerpoint/2010/main" val="167739369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19</a:t>
            </a:fld>
            <a:endParaRPr kumimoji="1" lang="ja-JP" altLang="en-US"/>
          </a:p>
        </p:txBody>
      </p:sp>
    </p:spTree>
    <p:extLst>
      <p:ext uri="{BB962C8B-B14F-4D97-AF65-F5344CB8AC3E}">
        <p14:creationId xmlns:p14="http://schemas.microsoft.com/office/powerpoint/2010/main" val="4122653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20</a:t>
            </a:fld>
            <a:endParaRPr kumimoji="1" lang="ja-JP" altLang="en-US"/>
          </a:p>
        </p:txBody>
      </p:sp>
    </p:spTree>
    <p:extLst>
      <p:ext uri="{BB962C8B-B14F-4D97-AF65-F5344CB8AC3E}">
        <p14:creationId xmlns:p14="http://schemas.microsoft.com/office/powerpoint/2010/main" val="2591714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21</a:t>
            </a:fld>
            <a:endParaRPr kumimoji="1" lang="ja-JP" altLang="en-US"/>
          </a:p>
        </p:txBody>
      </p:sp>
    </p:spTree>
    <p:extLst>
      <p:ext uri="{BB962C8B-B14F-4D97-AF65-F5344CB8AC3E}">
        <p14:creationId xmlns:p14="http://schemas.microsoft.com/office/powerpoint/2010/main" val="24344955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r>
              <a:rPr kumimoji="1" lang="ja-JP" altLang="en-US"/>
              <a:t>本研究では、フォントの組み合わせの巧拙を判断するための第一歩として、</a:t>
            </a:r>
            <a:r>
              <a:rPr lang="ja-JP" altLang="en-US" b="0" i="0">
                <a:solidFill>
                  <a:srgbClr val="1D1C1D"/>
                </a:solidFill>
                <a:effectLst/>
                <a:highlight>
                  <a:srgbClr val="F8F8F8"/>
                </a:highlight>
                <a:latin typeface="NotoSansJP"/>
              </a:rPr>
              <a:t>与えられたフォント</a:t>
            </a:r>
            <a:r>
              <a:rPr lang="en" altLang="ja-JP" b="0" i="0" dirty="0">
                <a:solidFill>
                  <a:srgbClr val="1D1C1D"/>
                </a:solidFill>
                <a:effectLst/>
                <a:highlight>
                  <a:srgbClr val="F8F8F8"/>
                </a:highlight>
                <a:latin typeface="NotoSansJP"/>
              </a:rPr>
              <a:t>ID</a:t>
            </a:r>
            <a:r>
              <a:rPr lang="ja-JP" altLang="en-US" b="0" i="0">
                <a:solidFill>
                  <a:srgbClr val="1D1C1D"/>
                </a:solidFill>
                <a:effectLst/>
                <a:highlight>
                  <a:srgbClr val="F8F8F8"/>
                </a:highlight>
                <a:latin typeface="NotoSansJP"/>
              </a:rPr>
              <a:t>の組合せに注目し，それがデザインの専門家によるものか否かの自動判定を試みました。</a:t>
            </a:r>
            <a:endParaRPr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これ以降、この自動判定のことを</a:t>
            </a:r>
            <a:r>
              <a:rPr lang="ja-JP" altLang="en-US" b="0" i="0">
                <a:solidFill>
                  <a:srgbClr val="1D1C1D"/>
                </a:solidFill>
                <a:effectLst/>
                <a:highlight>
                  <a:srgbClr val="F8F8F8"/>
                </a:highlight>
                <a:latin typeface="NotoSansJP"/>
              </a:rPr>
              <a:t>デザイン品質判定と呼ぶことにします。</a:t>
            </a:r>
            <a:endParaRPr lang="en-US" altLang="ja-JP" b="0" i="0" dirty="0">
              <a:solidFill>
                <a:srgbClr val="1D1C1D"/>
              </a:solidFill>
              <a:effectLst/>
              <a:highlight>
                <a:srgbClr val="F8F8F8"/>
              </a:highlight>
              <a:latin typeface="NotoSansJP"/>
            </a:endParaRPr>
          </a:p>
          <a:p>
            <a:r>
              <a:rPr kumimoji="1" lang="ja-JP" altLang="en-US" b="0"/>
              <a:t>本研究の取り組みとして</a:t>
            </a:r>
            <a:r>
              <a:rPr kumimoji="1" lang="ja-JP" altLang="en-US" b="0" i="0">
                <a:solidFill>
                  <a:srgbClr val="1D1C1D"/>
                </a:solidFill>
                <a:effectLst/>
                <a:highlight>
                  <a:srgbClr val="F8F8F8"/>
                </a:highlight>
                <a:latin typeface="NotoSansJP"/>
              </a:rPr>
              <a:t>、具体的には、デザインから抽出した</a:t>
            </a:r>
            <a:r>
              <a:rPr lang="ja-JP" altLang="en-US" b="0" i="0">
                <a:solidFill>
                  <a:srgbClr val="1D1C1D"/>
                </a:solidFill>
                <a:effectLst/>
                <a:highlight>
                  <a:srgbClr val="F8F8F8"/>
                </a:highlight>
                <a:latin typeface="NotoSansJP"/>
              </a:rPr>
              <a:t>フォントの組合せを入力した際に，デザイン品質判定を行う深層学習モデルの作成を行いました。</a:t>
            </a:r>
            <a:endParaRPr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endParaRPr kumimoji="1" lang="en-US" altLang="ja-JP" b="0" i="0" dirty="0">
              <a:solidFill>
                <a:srgbClr val="1D1C1D"/>
              </a:solidFill>
              <a:effectLst/>
              <a:highlight>
                <a:srgbClr val="F8F8F8"/>
              </a:highlight>
              <a:latin typeface="NotoSansJP"/>
            </a:endParaRPr>
          </a:p>
          <a:p>
            <a:r>
              <a:rPr kumimoji="1" lang="ja-JP" altLang="en-US" b="0" i="0">
                <a:solidFill>
                  <a:srgbClr val="1D1C1D"/>
                </a:solidFill>
                <a:effectLst/>
                <a:highlight>
                  <a:srgbClr val="F8F8F8"/>
                </a:highlight>
                <a:latin typeface="NotoSansJP"/>
              </a:rPr>
              <a:t>（１分５０秒）</a:t>
            </a:r>
          </a:p>
        </p:txBody>
      </p:sp>
      <p:sp>
        <p:nvSpPr>
          <p:cNvPr id="4" name="スライド番号プレースホルダー 3"/>
          <p:cNvSpPr>
            <a:spLocks noGrp="1"/>
          </p:cNvSpPr>
          <p:nvPr>
            <p:ph type="sldNum" sz="quarter" idx="5"/>
          </p:nvPr>
        </p:nvSpPr>
        <p:spPr/>
        <p:txBody>
          <a:bodyPr/>
          <a:lstStyle/>
          <a:p>
            <a:fld id="{577A365C-94E2-9149-839D-2170A84148DD}" type="slidenum">
              <a:rPr kumimoji="1" lang="ja-JP" altLang="en-US" smtClean="0"/>
              <a:t>22</a:t>
            </a:fld>
            <a:endParaRPr kumimoji="1" lang="ja-JP" altLang="en-US"/>
          </a:p>
        </p:txBody>
      </p:sp>
    </p:spTree>
    <p:extLst>
      <p:ext uri="{BB962C8B-B14F-4D97-AF65-F5344CB8AC3E}">
        <p14:creationId xmlns:p14="http://schemas.microsoft.com/office/powerpoint/2010/main" val="419852452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b8f88aabac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2b8f88aabac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2b8f88aabac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2b8f88aabac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本研究での実験手法です。</a:t>
            </a:r>
            <a:endParaRPr/>
          </a:p>
          <a:p>
            <a:pPr marL="0" lvl="0" indent="0" algn="l" rtl="0">
              <a:spcBef>
                <a:spcPts val="0"/>
              </a:spcBef>
              <a:spcAft>
                <a:spcPts val="0"/>
              </a:spcAft>
              <a:buNone/>
            </a:pPr>
            <a:r>
              <a:rPr lang="ja"/>
              <a:t>人間計算可能なパスワードを用いて認証をする際に、正規のユーザーは画像14枚を受け取ります。これを関数σを用いて14個の数値に変換し、さらに関数fによって計算することで応答を行います。</a:t>
            </a:r>
            <a:endParaRPr/>
          </a:p>
          <a:p>
            <a:pPr marL="0" lvl="0" indent="0" algn="l" rtl="0">
              <a:spcBef>
                <a:spcPts val="0"/>
              </a:spcBef>
              <a:spcAft>
                <a:spcPts val="0"/>
              </a:spcAft>
              <a:buNone/>
            </a:pPr>
            <a:r>
              <a:rPr lang="ja"/>
              <a:t>対して、既存研究では機械学習を用いて合成関数f σの近似を試みていました。チャレンジとして掲示される画像14枚と応答の組み合わせを機械学習によって学習し、合成関数f σの予測・近似が行えるかを検証しています。既存研究では予測精度が11%程度となっております。</a:t>
            </a:r>
            <a:endParaRPr/>
          </a:p>
          <a:p>
            <a:pPr marL="0" lvl="0" indent="0" algn="l" rtl="0">
              <a:spcBef>
                <a:spcPts val="0"/>
              </a:spcBef>
              <a:spcAft>
                <a:spcPts val="0"/>
              </a:spcAft>
              <a:buNone/>
            </a:pPr>
            <a:r>
              <a:rPr lang="ja"/>
              <a:t>本研究では、既存研究に対して機械学習モデルの改善を行います。具体的には、次ページ以降で説明する埋め込み層, 双方向LSTMを用いて予測精度の向上を試みています。</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69102672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69102672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g269102672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6" name="Google Shape;346;g269102672d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486567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69102672d9_0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69102672d9_0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b88a83be35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b88a83be35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ここで、機械学習のレイヤーである埋め込みと双方向LSTMを説明させていただきます。</a:t>
            </a:r>
            <a:endParaRPr/>
          </a:p>
          <a:p>
            <a:pPr marL="0" lvl="0" indent="0" algn="l" rtl="0">
              <a:spcBef>
                <a:spcPts val="0"/>
              </a:spcBef>
              <a:spcAft>
                <a:spcPts val="0"/>
              </a:spcAft>
              <a:buNone/>
            </a:pPr>
            <a:r>
              <a:rPr lang="ja"/>
              <a:t>埋め込みは、整数のデータidを受け取り、対応するベクトルを出力する層です。</a:t>
            </a:r>
            <a:endParaRPr/>
          </a:p>
          <a:p>
            <a:pPr marL="0" lvl="0" indent="0" algn="l" rtl="0">
              <a:spcBef>
                <a:spcPts val="0"/>
              </a:spcBef>
              <a:spcAft>
                <a:spcPts val="0"/>
              </a:spcAft>
              <a:buNone/>
            </a:pPr>
            <a:r>
              <a:rPr lang="ja"/>
              <a:t>入力された数値をOne-Hot表現に変換し、One-Hotベクトルと行列の×をおこなうことで一列のベクトルを抜き出しています。この操作はデータのidに対してベクトルを一つ検索する操作であるため、lookup tableとも呼ばれます。</a:t>
            </a:r>
            <a:endParaRPr/>
          </a:p>
          <a:p>
            <a:pPr marL="0" lvl="0" indent="0" algn="l" rtl="0">
              <a:spcBef>
                <a:spcPts val="0"/>
              </a:spcBef>
              <a:spcAft>
                <a:spcPts val="0"/>
              </a:spcAft>
              <a:buNone/>
            </a:pPr>
            <a:r>
              <a:rPr lang="ja"/>
              <a:t>双方向LSTMはLSTMを時系列的に双方向化したものです。LSTMは時系列データの学習に用いられるモデルですが、一方で時系列が進む方向にしかデータの保持を行いません。双方向LSTMは時系列とは逆方向にもデータの伝搬を行うため、双方向LSTMと呼ばれます。動画の補完処理など、過去のデータだけではなく未来のデータも参照して予測が行える場合に活用されるモデルです。</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b88a83be35_1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b88a83be35_1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ここで、機械学習のレイヤーである埋め込みと双方向LSTMを説明させていただきます。</a:t>
            </a:r>
            <a:endParaRPr/>
          </a:p>
          <a:p>
            <a:pPr marL="0" lvl="0" indent="0" algn="l" rtl="0">
              <a:spcBef>
                <a:spcPts val="0"/>
              </a:spcBef>
              <a:spcAft>
                <a:spcPts val="0"/>
              </a:spcAft>
              <a:buNone/>
            </a:pPr>
            <a:r>
              <a:rPr lang="ja"/>
              <a:t>埋め込みは、整数のデータidを受け取り、対応するベクトルを出力する層です。</a:t>
            </a:r>
            <a:endParaRPr/>
          </a:p>
          <a:p>
            <a:pPr marL="0" lvl="0" indent="0" algn="l" rtl="0">
              <a:spcBef>
                <a:spcPts val="0"/>
              </a:spcBef>
              <a:spcAft>
                <a:spcPts val="0"/>
              </a:spcAft>
              <a:buNone/>
            </a:pPr>
            <a:r>
              <a:rPr lang="ja"/>
              <a:t>入力された数値をOne-Hot表現に変換し、One-Hotベクトルと行列の×をおこなうことで一列のベクトルを抜き出しています。この操作はデータのidに対してベクトルを一つ検索する操作であるため、lookup tableとも呼ばれます。</a:t>
            </a:r>
            <a:endParaRPr/>
          </a:p>
          <a:p>
            <a:pPr marL="0" lvl="0" indent="0" algn="l" rtl="0">
              <a:spcBef>
                <a:spcPts val="0"/>
              </a:spcBef>
              <a:spcAft>
                <a:spcPts val="0"/>
              </a:spcAft>
              <a:buNone/>
            </a:pPr>
            <a:r>
              <a:rPr lang="ja"/>
              <a:t>双方向LSTMはLSTMを時系列的に双方向化したものです。LSTMは時系列データの学習に用いられるモデルですが、一方で時系列が進む方向にしかデータの保持を行いません。双方向LSTMは時系列とは逆方向にもデータの伝搬を行うため、双方向LSTMと呼ばれます。動画の補完処理など、過去のデータだけではなく未来のデータも参照して予測が行える場合に活用されるモデルです。</a:t>
            </a:r>
            <a:endParaRPr/>
          </a:p>
        </p:txBody>
      </p:sp>
    </p:spTree>
    <p:extLst>
      <p:ext uri="{BB962C8B-B14F-4D97-AF65-F5344CB8AC3E}">
        <p14:creationId xmlns:p14="http://schemas.microsoft.com/office/powerpoint/2010/main" val="352011218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693cbdec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693cbdec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これらのレイヤーを用いた機械学習モデルを作成し、合成関数fσの予測を行いました。正解率は最大55.81%までの向上が見られました。また、ユーザーの覚える画像枚数が増えるにつれて正解率が低下する傾向が見られました。一方で、ユーザーが100枚の画像を暗記する場合でも、14%の確率で予測が行えることがわかっています。</a:t>
            </a:r>
            <a:endParaRPr/>
          </a:p>
          <a:p>
            <a:pPr marL="0" lvl="0" indent="0" algn="l" rtl="0">
              <a:spcBef>
                <a:spcPts val="0"/>
              </a:spcBef>
              <a:spcAft>
                <a:spcPts val="0"/>
              </a:spcAft>
              <a:buNone/>
            </a:pPr>
            <a:r>
              <a:rPr lang="ja"/>
              <a:t>右のグラフは55%まで近似を行えた場合の学習曲線になります。テストデータの正解率が高くなるにつれて過学習が起こっている傾向が見られるため、これ以上エポック数を上昇させても検証データに対する正解率はほぼ向上しないことが推測されます。</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2693cbdec6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2693cbdec6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ja"/>
              <a:t>これらのレイヤーを用いた機械学習モデルを作成し、合成関数fσの予測を行いました。正解率は最大55.81%までの向上が見られました。また、ユーザーの覚える画像枚数が増えるにつれて正解率が低下する傾向が見られました。一方で、ユーザーが100枚の画像を暗記する場合でも、14%の確率で予測が行えることがわかっています。</a:t>
            </a:r>
            <a:endParaRPr/>
          </a:p>
          <a:p>
            <a:pPr marL="0" lvl="0" indent="0" algn="l" rtl="0">
              <a:spcBef>
                <a:spcPts val="0"/>
              </a:spcBef>
              <a:spcAft>
                <a:spcPts val="0"/>
              </a:spcAft>
              <a:buNone/>
            </a:pPr>
            <a:r>
              <a:rPr lang="ja"/>
              <a:t>右のグラフは55%まで近似を行えた場合の学習曲線になります。テストデータの正解率が高くなるにつれて過学習が起こっている傾向が見られるため、これ以上エポック数を上昇させても検証データに対する正解率はほぼ向上しないことが推測されます。</a:t>
            </a:r>
            <a:endParaRPr/>
          </a:p>
        </p:txBody>
      </p:sp>
    </p:spTree>
    <p:extLst>
      <p:ext uri="{BB962C8B-B14F-4D97-AF65-F5344CB8AC3E}">
        <p14:creationId xmlns:p14="http://schemas.microsoft.com/office/powerpoint/2010/main" val="400300529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269102672d9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269102672d9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69102672d9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69102672d9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C485416-56BE-A6DC-12DD-6CB6CB16CDC2}"/>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E65008C1-155C-EC86-0120-96DB859FFD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974B507F-B42D-53E2-2941-99E64943E213}"/>
              </a:ext>
            </a:extLst>
          </p:cNvPr>
          <p:cNvSpPr>
            <a:spLocks noGrp="1"/>
          </p:cNvSpPr>
          <p:nvPr>
            <p:ph type="dt" sz="half" idx="10"/>
          </p:nvPr>
        </p:nvSpPr>
        <p:spPr/>
        <p:txBody>
          <a:bodyPr/>
          <a:lstStyle/>
          <a:p>
            <a:fld id="{6E62980C-7EB7-7E40-AB05-E11338DF4F66}"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3348363F-98D3-F46B-B3DD-A6C08A1096A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AA0B55B-208F-D8EF-10CF-D3D8E632DC78}"/>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2185393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24D20AE-E06F-0662-20FD-7173347000BB}"/>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EB647879-A39B-2A87-A081-D03FE96945A5}"/>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3DF5EA-EA6E-5875-B3CD-1AB901C94718}"/>
              </a:ext>
            </a:extLst>
          </p:cNvPr>
          <p:cNvSpPr>
            <a:spLocks noGrp="1"/>
          </p:cNvSpPr>
          <p:nvPr>
            <p:ph type="dt" sz="half" idx="10"/>
          </p:nvPr>
        </p:nvSpPr>
        <p:spPr/>
        <p:txBody>
          <a:bodyPr/>
          <a:lstStyle/>
          <a:p>
            <a:fld id="{33339391-514D-164C-B772-CE862AA00950}"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CA5217C9-2442-FCAE-A05E-D6AECC85ED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A788758-04E2-5E4C-C100-73938CED9047}"/>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8517044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4F6B8AA-9B6C-0B0A-E111-D6C78DFF76A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1741ACF-3CBB-5F88-653E-5C82BE42310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288FEC-D00E-4DB3-3667-E5E3A4C5DF6D}"/>
              </a:ext>
            </a:extLst>
          </p:cNvPr>
          <p:cNvSpPr>
            <a:spLocks noGrp="1"/>
          </p:cNvSpPr>
          <p:nvPr>
            <p:ph type="dt" sz="half" idx="10"/>
          </p:nvPr>
        </p:nvSpPr>
        <p:spPr/>
        <p:txBody>
          <a:bodyPr/>
          <a:lstStyle/>
          <a:p>
            <a:fld id="{8CB74204-34C0-E84E-9470-D6FA81572D6B}"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2CF66CB3-C7F5-0708-C524-CE489188540D}"/>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E06026-E3DE-0108-979F-6FF5325A2E24}"/>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247980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D58A723-D36D-A742-375C-5E4F244366D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8A76A20-C7F8-B3BD-E1EC-EAB0EC60459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1527C76-418E-882B-3EF0-84374A129746}"/>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F29B3B42-933B-71BF-651B-C870369C6E92}"/>
              </a:ext>
            </a:extLst>
          </p:cNvPr>
          <p:cNvSpPr>
            <a:spLocks noGrp="1"/>
          </p:cNvSpPr>
          <p:nvPr>
            <p:ph type="dt" sz="half" idx="10"/>
          </p:nvPr>
        </p:nvSpPr>
        <p:spPr/>
        <p:txBody>
          <a:bodyPr/>
          <a:lstStyle/>
          <a:p>
            <a:fld id="{27500BC6-7A90-EE4D-AC3E-503E6177ED66}" type="datetime1">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BA42A308-9268-9DC8-2F7B-2026B295EB5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7014FAA-E071-7D9F-BC78-608FA18180F1}"/>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5822453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F55769-4516-90FA-01C8-25370C4B7A9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28FFF62-F7E6-7904-73E3-60F44995602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A6645C5-47C5-0CDA-5B56-DA9CAAEBF25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72666C25-F418-753F-2274-273A95DC330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E9318BF-DE92-4531-A008-B4B812A2861C}"/>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4EDD956-E7B4-5934-1025-938889FA6B09}"/>
              </a:ext>
            </a:extLst>
          </p:cNvPr>
          <p:cNvSpPr>
            <a:spLocks noGrp="1"/>
          </p:cNvSpPr>
          <p:nvPr>
            <p:ph type="dt" sz="half" idx="10"/>
          </p:nvPr>
        </p:nvSpPr>
        <p:spPr/>
        <p:txBody>
          <a:bodyPr/>
          <a:lstStyle/>
          <a:p>
            <a:fld id="{884E3E16-3508-F44D-84AA-0BE47E700323}" type="datetime1">
              <a:rPr kumimoji="1" lang="ja-JP" altLang="en-US" smtClean="0"/>
              <a:t>2025/2/17</a:t>
            </a:fld>
            <a:endParaRPr kumimoji="1" lang="ja-JP" altLang="en-US"/>
          </a:p>
        </p:txBody>
      </p:sp>
      <p:sp>
        <p:nvSpPr>
          <p:cNvPr id="8" name="フッター プレースホルダー 7">
            <a:extLst>
              <a:ext uri="{FF2B5EF4-FFF2-40B4-BE49-F238E27FC236}">
                <a16:creationId xmlns:a16="http://schemas.microsoft.com/office/drawing/2014/main" id="{924B7DEF-2CB4-56B4-D0B5-71B6753E7B40}"/>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FF439614-7C7B-3CE0-9D08-45DC883C9627}"/>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36130629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3AEFDD6-A84C-5802-88C2-95D3FC0D183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E16CD351-46F5-A145-7AF6-33EFD056E2E6}"/>
              </a:ext>
            </a:extLst>
          </p:cNvPr>
          <p:cNvSpPr>
            <a:spLocks noGrp="1"/>
          </p:cNvSpPr>
          <p:nvPr>
            <p:ph type="dt" sz="half" idx="10"/>
          </p:nvPr>
        </p:nvSpPr>
        <p:spPr/>
        <p:txBody>
          <a:bodyPr/>
          <a:lstStyle/>
          <a:p>
            <a:fld id="{44A41193-BDCA-1946-8007-E718B5B5ABB7}" type="datetime1">
              <a:rPr kumimoji="1" lang="ja-JP" altLang="en-US" smtClean="0"/>
              <a:t>2025/2/17</a:t>
            </a:fld>
            <a:endParaRPr kumimoji="1" lang="ja-JP" altLang="en-US"/>
          </a:p>
        </p:txBody>
      </p:sp>
      <p:sp>
        <p:nvSpPr>
          <p:cNvPr id="4" name="フッター プレースホルダー 3">
            <a:extLst>
              <a:ext uri="{FF2B5EF4-FFF2-40B4-BE49-F238E27FC236}">
                <a16:creationId xmlns:a16="http://schemas.microsoft.com/office/drawing/2014/main" id="{719A5A7D-5210-41BF-DE85-B3D7BD157E3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35A25162-1FA5-1E83-60F7-9365D1079A16}"/>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4877669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36149E00-3418-86DA-0BD6-1B47508FDFCF}"/>
              </a:ext>
            </a:extLst>
          </p:cNvPr>
          <p:cNvSpPr>
            <a:spLocks noGrp="1"/>
          </p:cNvSpPr>
          <p:nvPr>
            <p:ph type="dt" sz="half" idx="10"/>
          </p:nvPr>
        </p:nvSpPr>
        <p:spPr/>
        <p:txBody>
          <a:bodyPr/>
          <a:lstStyle/>
          <a:p>
            <a:fld id="{A964219C-A34B-CA45-B939-5D54C5B9C0A8}" type="datetime1">
              <a:rPr kumimoji="1" lang="ja-JP" altLang="en-US" smtClean="0"/>
              <a:t>2025/2/17</a:t>
            </a:fld>
            <a:endParaRPr kumimoji="1" lang="ja-JP" altLang="en-US"/>
          </a:p>
        </p:txBody>
      </p:sp>
      <p:sp>
        <p:nvSpPr>
          <p:cNvPr id="3" name="フッター プレースホルダー 2">
            <a:extLst>
              <a:ext uri="{FF2B5EF4-FFF2-40B4-BE49-F238E27FC236}">
                <a16:creationId xmlns:a16="http://schemas.microsoft.com/office/drawing/2014/main" id="{3DDB3995-39A0-AB6B-36D4-64503FFC955B}"/>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DFE8F99B-B8BD-F579-543A-FAAD3B20F83D}"/>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42481690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BE4E36F-4033-B759-26BD-A3C061BC0C8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14EF48CD-1C32-43A5-B4D3-A5CB6D6E71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893156E-41A5-6EE7-09EE-E67617D16A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FDAA7DA-E4EF-3769-A364-9E6ADCD57873}"/>
              </a:ext>
            </a:extLst>
          </p:cNvPr>
          <p:cNvSpPr>
            <a:spLocks noGrp="1"/>
          </p:cNvSpPr>
          <p:nvPr>
            <p:ph type="dt" sz="half" idx="10"/>
          </p:nvPr>
        </p:nvSpPr>
        <p:spPr/>
        <p:txBody>
          <a:bodyPr/>
          <a:lstStyle/>
          <a:p>
            <a:fld id="{86999FFE-D729-604A-95E5-2FA53B288FC7}" type="datetime1">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773B67B3-5725-AFD0-8BC4-A05BBF140B8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42B3A15-5070-CAC4-756C-8F422896CA39}"/>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297870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57DB8E-A3E5-F9A8-FD77-9F98ED942083}"/>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22201BF1-866E-96E3-ED71-A62304084D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B767A4F7-DE90-149E-E4D0-9CAC6EC735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1973504-423C-7E53-E767-98EE9135ADE9}"/>
              </a:ext>
            </a:extLst>
          </p:cNvPr>
          <p:cNvSpPr>
            <a:spLocks noGrp="1"/>
          </p:cNvSpPr>
          <p:nvPr>
            <p:ph type="dt" sz="half" idx="10"/>
          </p:nvPr>
        </p:nvSpPr>
        <p:spPr/>
        <p:txBody>
          <a:bodyPr/>
          <a:lstStyle/>
          <a:p>
            <a:fld id="{54826373-A208-164F-A449-BA8698A117E4}" type="datetime1">
              <a:rPr kumimoji="1" lang="ja-JP" altLang="en-US" smtClean="0"/>
              <a:t>2025/2/17</a:t>
            </a:fld>
            <a:endParaRPr kumimoji="1" lang="ja-JP" altLang="en-US"/>
          </a:p>
        </p:txBody>
      </p:sp>
      <p:sp>
        <p:nvSpPr>
          <p:cNvPr id="6" name="フッター プレースホルダー 5">
            <a:extLst>
              <a:ext uri="{FF2B5EF4-FFF2-40B4-BE49-F238E27FC236}">
                <a16:creationId xmlns:a16="http://schemas.microsoft.com/office/drawing/2014/main" id="{98A193FE-F208-1542-728D-817DB5E9E48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BA7C7B78-DC6B-D0CB-8DAF-B481148271F1}"/>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2754725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7EBDF4-C99F-674C-B1CD-883598655FD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66F4DEC-057B-7403-D3A0-D1327CD0478E}"/>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76F4016-E660-2912-9085-A43E44908D2F}"/>
              </a:ext>
            </a:extLst>
          </p:cNvPr>
          <p:cNvSpPr>
            <a:spLocks noGrp="1"/>
          </p:cNvSpPr>
          <p:nvPr>
            <p:ph type="dt" sz="half" idx="10"/>
          </p:nvPr>
        </p:nvSpPr>
        <p:spPr/>
        <p:txBody>
          <a:bodyPr/>
          <a:lstStyle/>
          <a:p>
            <a:fld id="{F1C6501B-773B-A747-BFBB-7CCBE0DC5A5B}"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FC5D397C-6771-91AE-FB98-DD9C174FAC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6B1279-B992-841F-B2A4-547D36D77F45}"/>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3550445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AD1FE04-31F8-1A8A-738D-310261EDA713}"/>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E91E48E7-75DE-052C-EA70-01FD7F3296A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E4BBB36B-3C58-C4B2-BF40-77FB9C95AD5B}"/>
              </a:ext>
            </a:extLst>
          </p:cNvPr>
          <p:cNvSpPr>
            <a:spLocks noGrp="1"/>
          </p:cNvSpPr>
          <p:nvPr>
            <p:ph type="dt" sz="half" idx="10"/>
          </p:nvPr>
        </p:nvSpPr>
        <p:spPr/>
        <p:txBody>
          <a:bodyPr/>
          <a:lstStyle/>
          <a:p>
            <a:fld id="{6415F612-6E7F-6E4C-93E7-A5A691A4283C}"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3F7968A8-6DD1-41DA-0372-D3C167BA8A7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76BDA34-F125-B2A6-B52E-3C8C1028BECF}"/>
              </a:ext>
            </a:extLst>
          </p:cNvPr>
          <p:cNvSpPr>
            <a:spLocks noGrp="1"/>
          </p:cNvSpPr>
          <p:nvPr>
            <p:ph type="sldNum" sz="quarter" idx="12"/>
          </p:nvPr>
        </p:nvSpPr>
        <p:spPr/>
        <p:txBody>
          <a:body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19451949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ユーザー設定レイアウト">
    <p:spTree>
      <p:nvGrpSpPr>
        <p:cNvPr id="1" name=""/>
        <p:cNvGrpSpPr/>
        <p:nvPr/>
      </p:nvGrpSpPr>
      <p:grpSpPr>
        <a:xfrm>
          <a:off x="0" y="0"/>
          <a:ext cx="0" cy="0"/>
          <a:chOff x="0" y="0"/>
          <a:chExt cx="0" cy="0"/>
        </a:xfrm>
      </p:grpSpPr>
      <p:sp>
        <p:nvSpPr>
          <p:cNvPr id="6" name="タイトル 1">
            <a:extLst>
              <a:ext uri="{FF2B5EF4-FFF2-40B4-BE49-F238E27FC236}">
                <a16:creationId xmlns:a16="http://schemas.microsoft.com/office/drawing/2014/main" id="{AC215B4D-F034-8887-550C-27EA29F99095}"/>
              </a:ext>
            </a:extLst>
          </p:cNvPr>
          <p:cNvSpPr>
            <a:spLocks noGrp="1"/>
          </p:cNvSpPr>
          <p:nvPr>
            <p:ph type="title"/>
          </p:nvPr>
        </p:nvSpPr>
        <p:spPr>
          <a:xfrm>
            <a:off x="558799" y="129814"/>
            <a:ext cx="9956801" cy="1325563"/>
          </a:xfrm>
        </p:spPr>
        <p:txBody>
          <a:bodyPr lIns="90000" anchor="ctr" anchorCtr="0"/>
          <a:lstStyle>
            <a:lvl1pPr>
              <a:defRPr>
                <a:latin typeface="Meiryo UI" panose="020B0604030504040204" pitchFamily="34" charset="-128"/>
                <a:ea typeface="Meiryo UI" panose="020B0604030504040204" pitchFamily="34" charset="-128"/>
              </a:defRPr>
            </a:lvl1pPr>
          </a:lstStyle>
          <a:p>
            <a:endParaRPr kumimoji="1" lang="ja-JP" altLang="en-US" b="1"/>
          </a:p>
        </p:txBody>
      </p:sp>
      <p:cxnSp>
        <p:nvCxnSpPr>
          <p:cNvPr id="7" name="直線コネクタ 6">
            <a:extLst>
              <a:ext uri="{FF2B5EF4-FFF2-40B4-BE49-F238E27FC236}">
                <a16:creationId xmlns:a16="http://schemas.microsoft.com/office/drawing/2014/main" id="{A5F68E42-A671-1D11-4EA3-DDE4E3E75036}"/>
              </a:ext>
            </a:extLst>
          </p:cNvPr>
          <p:cNvCxnSpPr>
            <a:cxnSpLocks/>
          </p:cNvCxnSpPr>
          <p:nvPr userDrawn="1"/>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8" name="パイ 7">
            <a:extLst>
              <a:ext uri="{FF2B5EF4-FFF2-40B4-BE49-F238E27FC236}">
                <a16:creationId xmlns:a16="http://schemas.microsoft.com/office/drawing/2014/main" id="{2BD2C4C7-8C67-EAA0-5672-D6B48AD0AAA5}"/>
              </a:ext>
            </a:extLst>
          </p:cNvPr>
          <p:cNvSpPr/>
          <p:nvPr userDrawn="1"/>
        </p:nvSpPr>
        <p:spPr>
          <a:xfrm rot="10800000">
            <a:off x="11482989" y="6159020"/>
            <a:ext cx="1439041" cy="1440000"/>
          </a:xfrm>
          <a:prstGeom prst="pie">
            <a:avLst>
              <a:gd name="adj1" fmla="val 25909"/>
              <a:gd name="adj2" fmla="val 5388634"/>
            </a:avLst>
          </a:prstGeom>
          <a:solidFill>
            <a:srgbClr val="15608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solidFill>
                <a:schemeClr val="tx1"/>
              </a:solidFill>
            </a:endParaRPr>
          </a:p>
        </p:txBody>
      </p:sp>
      <p:sp>
        <p:nvSpPr>
          <p:cNvPr id="9" name="コンテンツ プレースホルダー 2">
            <a:extLst>
              <a:ext uri="{FF2B5EF4-FFF2-40B4-BE49-F238E27FC236}">
                <a16:creationId xmlns:a16="http://schemas.microsoft.com/office/drawing/2014/main" id="{A2D85512-D599-C78F-AF29-275AB89D4AEF}"/>
              </a:ext>
            </a:extLst>
          </p:cNvPr>
          <p:cNvSpPr>
            <a:spLocks noGrp="1"/>
          </p:cNvSpPr>
          <p:nvPr>
            <p:ph idx="1"/>
          </p:nvPr>
        </p:nvSpPr>
        <p:spPr>
          <a:xfrm>
            <a:off x="838200" y="1399740"/>
            <a:ext cx="10515600" cy="4996876"/>
          </a:xfrm>
        </p:spPr>
        <p:txBody>
          <a:bodyPr anchor="ctr" anchorCtr="0">
            <a:normAutofit lnSpcReduction="10000"/>
          </a:bodyPr>
          <a:lstStyle>
            <a:lvl1pPr marL="0" indent="0">
              <a:buNone/>
              <a:defRPr>
                <a:latin typeface="Meiryo UI" panose="020B0604030504040204" pitchFamily="34" charset="-128"/>
                <a:ea typeface="Meiryo UI" panose="020B0604030504040204" pitchFamily="34" charset="-128"/>
              </a:defRPr>
            </a:lvl1pPr>
          </a:lstStyle>
          <a:p>
            <a:pPr>
              <a:spcBef>
                <a:spcPts val="1200"/>
              </a:spcBef>
              <a:buClr>
                <a:srgbClr val="002060"/>
              </a:buClr>
            </a:pPr>
            <a:endParaRPr kumimoji="1" lang="en-US" altLang="ja-JP" dirty="0"/>
          </a:p>
        </p:txBody>
      </p:sp>
      <p:sp>
        <p:nvSpPr>
          <p:cNvPr id="2" name="日付プレースホルダー 1">
            <a:extLst>
              <a:ext uri="{FF2B5EF4-FFF2-40B4-BE49-F238E27FC236}">
                <a16:creationId xmlns:a16="http://schemas.microsoft.com/office/drawing/2014/main" id="{8F11A864-6D5C-685B-2508-0F749FD63715}"/>
              </a:ext>
            </a:extLst>
          </p:cNvPr>
          <p:cNvSpPr>
            <a:spLocks noGrp="1"/>
          </p:cNvSpPr>
          <p:nvPr>
            <p:ph type="dt" sz="half" idx="10"/>
          </p:nvPr>
        </p:nvSpPr>
        <p:spPr/>
        <p:txBody>
          <a:bodyPr/>
          <a:lstStyle/>
          <a:p>
            <a:fld id="{5567D62C-29B0-5F46-88AC-E0E954945571}" type="datetime1">
              <a:rPr kumimoji="1" lang="ja-JP" altLang="en-US" smtClean="0"/>
              <a:t>2025/2/17</a:t>
            </a:fld>
            <a:endParaRPr kumimoji="1" lang="ja-JP" altLang="en-US"/>
          </a:p>
        </p:txBody>
      </p:sp>
      <p:sp>
        <p:nvSpPr>
          <p:cNvPr id="3" name="フッター プレースホルダー 2">
            <a:extLst>
              <a:ext uri="{FF2B5EF4-FFF2-40B4-BE49-F238E27FC236}">
                <a16:creationId xmlns:a16="http://schemas.microsoft.com/office/drawing/2014/main" id="{E395E1FA-2C5B-007F-6C43-64541669F62D}"/>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62958497-3C06-34DC-36E0-F8A356E6C37D}"/>
              </a:ext>
            </a:extLst>
          </p:cNvPr>
          <p:cNvSpPr>
            <a:spLocks noGrp="1"/>
          </p:cNvSpPr>
          <p:nvPr>
            <p:ph type="sldNum" sz="quarter" idx="12"/>
          </p:nvPr>
        </p:nvSpPr>
        <p:spPr>
          <a:xfrm>
            <a:off x="11654589" y="6436721"/>
            <a:ext cx="489284" cy="365125"/>
          </a:xfrm>
        </p:spPr>
        <p:txBody>
          <a:bodyPr/>
          <a:lstStyle>
            <a:lvl1pPr algn="ctr">
              <a:defRPr sz="1800" b="1">
                <a:solidFill>
                  <a:schemeClr val="bg1"/>
                </a:solidFill>
                <a:latin typeface="Arial" panose="020B0604020202020204" pitchFamily="34" charset="0"/>
                <a:cs typeface="Arial" panose="020B0604020202020204" pitchFamily="34" charset="0"/>
              </a:defRPr>
            </a:lvl1pPr>
          </a:lstStyle>
          <a:p>
            <a:fld id="{3762C4B7-35E7-C349-BFEA-97EA9F929263}" type="slidenum">
              <a:rPr lang="ja-JP" altLang="en-US" smtClean="0"/>
              <a:pPr/>
              <a:t>‹#›</a:t>
            </a:fld>
            <a:endParaRPr lang="ja-JP" altLang="en-US"/>
          </a:p>
        </p:txBody>
      </p:sp>
    </p:spTree>
    <p:extLst>
      <p:ext uri="{BB962C8B-B14F-4D97-AF65-F5344CB8AC3E}">
        <p14:creationId xmlns:p14="http://schemas.microsoft.com/office/powerpoint/2010/main" val="22937513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0"/>
        <p:cNvGrpSpPr/>
        <p:nvPr/>
      </p:nvGrpSpPr>
      <p:grpSpPr>
        <a:xfrm>
          <a:off x="0" y="0"/>
          <a:ext cx="0" cy="0"/>
          <a:chOff x="0" y="0"/>
          <a:chExt cx="0" cy="0"/>
        </a:xfrm>
      </p:grpSpPr>
      <p:sp>
        <p:nvSpPr>
          <p:cNvPr id="21" name="Google Shape;21;p4"/>
          <p:cNvSpPr/>
          <p:nvPr/>
        </p:nvSpPr>
        <p:spPr>
          <a:xfrm>
            <a:off x="0" y="0"/>
            <a:ext cx="12192000" cy="6504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4"/>
          <p:cNvSpPr txBox="1">
            <a:spLocks noGrp="1"/>
          </p:cNvSpPr>
          <p:nvPr>
            <p:ph type="title"/>
          </p:nvPr>
        </p:nvSpPr>
        <p:spPr>
          <a:xfrm>
            <a:off x="972600" y="1758200"/>
            <a:ext cx="10251600" cy="713600"/>
          </a:xfrm>
          <a:prstGeom prst="rect">
            <a:avLst/>
          </a:prstGeom>
        </p:spPr>
        <p:txBody>
          <a:bodyPr spcFirstLastPara="1" wrap="square" lIns="91425" tIns="91425" rIns="91425" bIns="91425" anchor="t" anchorCtr="0">
            <a:normAutofit/>
          </a:bodyPr>
          <a:lstStyle>
            <a:lvl1pPr lvl="0" rtl="0">
              <a:spcBef>
                <a:spcPts val="0"/>
              </a:spcBef>
              <a:spcAft>
                <a:spcPts val="0"/>
              </a:spcAft>
              <a:buSzPts val="2600"/>
              <a:buNone/>
              <a:defRPr sz="3467"/>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a:p>
        </p:txBody>
      </p:sp>
      <p:sp>
        <p:nvSpPr>
          <p:cNvPr id="23" name="Google Shape;23;p4"/>
          <p:cNvSpPr txBox="1">
            <a:spLocks noGrp="1"/>
          </p:cNvSpPr>
          <p:nvPr>
            <p:ph type="body" idx="1"/>
          </p:nvPr>
        </p:nvSpPr>
        <p:spPr>
          <a:xfrm>
            <a:off x="972600" y="2771833"/>
            <a:ext cx="10251600" cy="3014800"/>
          </a:xfrm>
          <a:prstGeom prst="rect">
            <a:avLst/>
          </a:prstGeom>
        </p:spPr>
        <p:txBody>
          <a:bodyPr spcFirstLastPara="1" wrap="square" lIns="91425" tIns="91425" rIns="91425" bIns="91425" anchor="t" anchorCtr="0">
            <a:normAutofit/>
          </a:bodyPr>
          <a:lstStyle>
            <a:lvl1pPr marL="609585" lvl="0" indent="-414856" rtl="0">
              <a:spcBef>
                <a:spcPts val="0"/>
              </a:spcBef>
              <a:spcAft>
                <a:spcPts val="0"/>
              </a:spcAft>
              <a:buSzPts val="1300"/>
              <a:buChar char="●"/>
              <a:defRPr/>
            </a:lvl1pPr>
            <a:lvl2pPr marL="1219170" lvl="1" indent="-397923" rtl="0">
              <a:spcBef>
                <a:spcPts val="0"/>
              </a:spcBef>
              <a:spcAft>
                <a:spcPts val="0"/>
              </a:spcAft>
              <a:buSzPts val="1100"/>
              <a:buChar char="○"/>
              <a:defRPr/>
            </a:lvl2pPr>
            <a:lvl3pPr marL="1828754" lvl="2" indent="-397923" rtl="0">
              <a:spcBef>
                <a:spcPts val="0"/>
              </a:spcBef>
              <a:spcAft>
                <a:spcPts val="0"/>
              </a:spcAft>
              <a:buSzPts val="1100"/>
              <a:buChar char="■"/>
              <a:defRPr/>
            </a:lvl3pPr>
            <a:lvl4pPr marL="2438339" lvl="3" indent="-397923" rtl="0">
              <a:spcBef>
                <a:spcPts val="0"/>
              </a:spcBef>
              <a:spcAft>
                <a:spcPts val="0"/>
              </a:spcAft>
              <a:buSzPts val="1100"/>
              <a:buChar char="●"/>
              <a:defRPr/>
            </a:lvl4pPr>
            <a:lvl5pPr marL="3047924" lvl="4" indent="-397923" rtl="0">
              <a:spcBef>
                <a:spcPts val="0"/>
              </a:spcBef>
              <a:spcAft>
                <a:spcPts val="0"/>
              </a:spcAft>
              <a:buSzPts val="1100"/>
              <a:buChar char="○"/>
              <a:defRPr/>
            </a:lvl5pPr>
            <a:lvl6pPr marL="3657509" lvl="5" indent="-397923" rtl="0">
              <a:spcBef>
                <a:spcPts val="0"/>
              </a:spcBef>
              <a:spcAft>
                <a:spcPts val="0"/>
              </a:spcAft>
              <a:buSzPts val="1100"/>
              <a:buChar char="■"/>
              <a:defRPr/>
            </a:lvl6pPr>
            <a:lvl7pPr marL="4267093" lvl="6" indent="-397923" rtl="0">
              <a:spcBef>
                <a:spcPts val="0"/>
              </a:spcBef>
              <a:spcAft>
                <a:spcPts val="0"/>
              </a:spcAft>
              <a:buSzPts val="1100"/>
              <a:buChar char="●"/>
              <a:defRPr/>
            </a:lvl7pPr>
            <a:lvl8pPr marL="4876678" lvl="7" indent="-397923" rtl="0">
              <a:spcBef>
                <a:spcPts val="0"/>
              </a:spcBef>
              <a:spcAft>
                <a:spcPts val="0"/>
              </a:spcAft>
              <a:buSzPts val="1100"/>
              <a:buChar char="○"/>
              <a:defRPr/>
            </a:lvl8pPr>
            <a:lvl9pPr marL="5486263" lvl="8" indent="-397923" rtl="0">
              <a:spcBef>
                <a:spcPts val="0"/>
              </a:spcBef>
              <a:spcAft>
                <a:spcPts val="0"/>
              </a:spcAft>
              <a:buSzPts val="1100"/>
              <a:buChar char="■"/>
              <a:defRPr/>
            </a:lvl9pPr>
          </a:lstStyle>
          <a:p>
            <a:endParaRPr/>
          </a:p>
        </p:txBody>
      </p:sp>
      <p:sp>
        <p:nvSpPr>
          <p:cNvPr id="24" name="Google Shape;24;p4"/>
          <p:cNvSpPr txBox="1">
            <a:spLocks noGrp="1"/>
          </p:cNvSpPr>
          <p:nvPr>
            <p:ph type="sldNum" idx="12"/>
          </p:nvPr>
        </p:nvSpPr>
        <p:spPr>
          <a:xfrm>
            <a:off x="11381736" y="6333135"/>
            <a:ext cx="731600" cy="5248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US" altLang="ja" smtClean="0"/>
              <a:pPr/>
              <a:t>‹#›</a:t>
            </a:fld>
            <a:endParaRPr lang="ja" altLang="en-US"/>
          </a:p>
        </p:txBody>
      </p:sp>
    </p:spTree>
    <p:extLst>
      <p:ext uri="{BB962C8B-B14F-4D97-AF65-F5344CB8AC3E}">
        <p14:creationId xmlns:p14="http://schemas.microsoft.com/office/powerpoint/2010/main" val="39199276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325E6D45-4BF2-E140-AACC-E760D1137B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57057295-E2EF-BD86-E971-DDFB38B14BE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09062C5-8FD5-E882-1860-ACEEF1547F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C9A707F-5BD2-EC46-BA8D-82E1C0648BE7}" type="datetime1">
              <a:rPr kumimoji="1" lang="ja-JP" altLang="en-US" smtClean="0"/>
              <a:t>2025/2/17</a:t>
            </a:fld>
            <a:endParaRPr kumimoji="1" lang="ja-JP" altLang="en-US"/>
          </a:p>
        </p:txBody>
      </p:sp>
      <p:sp>
        <p:nvSpPr>
          <p:cNvPr id="5" name="フッター プレースホルダー 4">
            <a:extLst>
              <a:ext uri="{FF2B5EF4-FFF2-40B4-BE49-F238E27FC236}">
                <a16:creationId xmlns:a16="http://schemas.microsoft.com/office/drawing/2014/main" id="{0ABFC83C-E956-B25D-9915-E79CBF676B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FBCB950A-D2C1-44F7-D4B2-7F8DAD84C28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762C4B7-35E7-C349-BFEA-97EA9F929263}" type="slidenum">
              <a:rPr kumimoji="1" lang="ja-JP" altLang="en-US" smtClean="0"/>
              <a:t>‹#›</a:t>
            </a:fld>
            <a:endParaRPr kumimoji="1" lang="ja-JP" altLang="en-US"/>
          </a:p>
        </p:txBody>
      </p:sp>
    </p:spTree>
    <p:extLst>
      <p:ext uri="{BB962C8B-B14F-4D97-AF65-F5344CB8AC3E}">
        <p14:creationId xmlns:p14="http://schemas.microsoft.com/office/powerpoint/2010/main" val="3836830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sv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2.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150.png"/></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slides/_rels/slide13.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2.emf"/><Relationship Id="rId7" Type="http://schemas.openxmlformats.org/officeDocument/2006/relationships/image" Target="../media/image250.pn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24.png"/><Relationship Id="rId11" Type="http://schemas.openxmlformats.org/officeDocument/2006/relationships/image" Target="../media/image29.png"/><Relationship Id="rId5" Type="http://schemas.openxmlformats.org/officeDocument/2006/relationships/image" Target="../media/image23.png"/><Relationship Id="rId10" Type="http://schemas.openxmlformats.org/officeDocument/2006/relationships/image" Target="../media/image27.png"/><Relationship Id="rId4" Type="http://schemas.openxmlformats.org/officeDocument/2006/relationships/image" Target="../media/image220.png"/><Relationship Id="rId9" Type="http://schemas.openxmlformats.org/officeDocument/2006/relationships/image" Target="../media/image26.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6.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hyperlink" Target="https://dblp.org/pid/d/AnupamDatta.html" TargetMode="External"/><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hyperlink" Target="https://dblp.org/db/conf/innovations/innovations2017.html#Blocki0DV17" TargetMode="External"/><Relationship Id="rId4" Type="http://schemas.openxmlformats.org/officeDocument/2006/relationships/hyperlink" Target="https://dblp.org/pid/v/SantoshVempala.html"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5.png"/></Relationships>
</file>

<file path=ppt/slides/_rels/slide3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EEFC4D-0F00-5B0C-FD18-4D63112D0541}"/>
              </a:ext>
            </a:extLst>
          </p:cNvPr>
          <p:cNvSpPr>
            <a:spLocks noGrp="1"/>
          </p:cNvSpPr>
          <p:nvPr>
            <p:ph type="ctrTitle"/>
          </p:nvPr>
        </p:nvSpPr>
        <p:spPr>
          <a:xfrm>
            <a:off x="1031240" y="1251587"/>
            <a:ext cx="10129520" cy="2840463"/>
          </a:xfrm>
        </p:spPr>
        <p:txBody>
          <a:bodyPr anchor="ctr">
            <a:normAutofit fontScale="90000"/>
          </a:bodyPr>
          <a:lstStyle/>
          <a:p>
            <a:pPr>
              <a:lnSpc>
                <a:spcPct val="125000"/>
              </a:lnSpc>
            </a:pPr>
            <a:r>
              <a:rPr lang="ja-JP" altLang="en-US" sz="4800" b="1" dirty="0">
                <a:latin typeface="Meiryo UI" panose="020B0604030504040204" pitchFamily="34" charset="-128"/>
                <a:ea typeface="Meiryo UI" panose="020B0604030504040204" pitchFamily="34" charset="-128"/>
              </a:rPr>
              <a:t>人間計算可能なパスワード認証に対する</a:t>
            </a:r>
            <a:br>
              <a:rPr lang="en-US" altLang="ja-JP" sz="4800" b="1" dirty="0">
                <a:latin typeface="Meiryo UI" panose="020B0604030504040204" pitchFamily="34" charset="-128"/>
                <a:ea typeface="Meiryo UI" panose="020B0604030504040204" pitchFamily="34" charset="-128"/>
              </a:rPr>
            </a:br>
            <a:r>
              <a:rPr lang="ja-JP" altLang="en-US" sz="4800" b="1" dirty="0">
                <a:latin typeface="Meiryo UI" panose="020B0604030504040204" pitchFamily="34" charset="-128"/>
                <a:ea typeface="Meiryo UI" panose="020B0604030504040204" pitchFamily="34" charset="-128"/>
              </a:rPr>
              <a:t>畳み込みニューラルネットワークを用いた</a:t>
            </a:r>
            <a:br>
              <a:rPr lang="en-US" altLang="ja-JP" sz="4800" b="1" dirty="0">
                <a:latin typeface="Meiryo UI" panose="020B0604030504040204" pitchFamily="34" charset="-128"/>
                <a:ea typeface="Meiryo UI" panose="020B0604030504040204" pitchFamily="34" charset="-128"/>
              </a:rPr>
            </a:br>
            <a:r>
              <a:rPr lang="ja-JP" altLang="en-US" sz="4800" b="1" dirty="0">
                <a:latin typeface="Meiryo UI" panose="020B0604030504040204" pitchFamily="34" charset="-128"/>
                <a:ea typeface="Meiryo UI" panose="020B0604030504040204" pitchFamily="34" charset="-128"/>
              </a:rPr>
              <a:t>安全性評価</a:t>
            </a:r>
            <a:endParaRPr kumimoji="1" lang="ja-JP" altLang="en-US" sz="4800" b="1" dirty="0">
              <a:latin typeface="Meiryo UI" panose="020B0604030504040204" pitchFamily="34" charset="-128"/>
              <a:ea typeface="Meiryo UI" panose="020B0604030504040204" pitchFamily="34" charset="-128"/>
            </a:endParaRPr>
          </a:p>
        </p:txBody>
      </p:sp>
      <p:sp>
        <p:nvSpPr>
          <p:cNvPr id="3" name="字幕 2">
            <a:extLst>
              <a:ext uri="{FF2B5EF4-FFF2-40B4-BE49-F238E27FC236}">
                <a16:creationId xmlns:a16="http://schemas.microsoft.com/office/drawing/2014/main" id="{D22BFABF-2C0B-61A6-CF54-C528E33AAC61}"/>
              </a:ext>
            </a:extLst>
          </p:cNvPr>
          <p:cNvSpPr>
            <a:spLocks noGrp="1"/>
          </p:cNvSpPr>
          <p:nvPr>
            <p:ph type="subTitle" idx="1"/>
          </p:nvPr>
        </p:nvSpPr>
        <p:spPr>
          <a:xfrm>
            <a:off x="1524000" y="4978399"/>
            <a:ext cx="9144000" cy="1046480"/>
          </a:xfrm>
        </p:spPr>
        <p:txBody>
          <a:bodyPr anchor="ctr"/>
          <a:lstStyle/>
          <a:p>
            <a:pPr>
              <a:lnSpc>
                <a:spcPct val="100000"/>
              </a:lnSpc>
            </a:pPr>
            <a:r>
              <a:rPr lang="ja-JP" altLang="en-US" dirty="0">
                <a:latin typeface="Meiryo UI" panose="020B0604030504040204" pitchFamily="34" charset="-128"/>
                <a:ea typeface="Meiryo UI" panose="020B0604030504040204" pitchFamily="34" charset="-128"/>
              </a:rPr>
              <a:t>電気情報工学科 櫻井研究室４年　小川 翔平</a:t>
            </a:r>
            <a:endParaRPr lang="en-US" altLang="ja-JP" dirty="0">
              <a:latin typeface="Meiryo UI" panose="020B0604030504040204" pitchFamily="34" charset="-128"/>
              <a:ea typeface="Meiryo UI" panose="020B0604030504040204" pitchFamily="34" charset="-128"/>
            </a:endParaRPr>
          </a:p>
          <a:p>
            <a:pPr>
              <a:lnSpc>
                <a:spcPct val="100000"/>
              </a:lnSpc>
            </a:pPr>
            <a:r>
              <a:rPr kumimoji="1" lang="ja-JP" altLang="en-US" dirty="0">
                <a:latin typeface="Meiryo UI" panose="020B0604030504040204" pitchFamily="34" charset="-128"/>
                <a:ea typeface="Meiryo UI" panose="020B0604030504040204" pitchFamily="34" charset="-128"/>
              </a:rPr>
              <a:t>発表日：</a:t>
            </a:r>
            <a:r>
              <a:rPr kumimoji="1" lang="en-US" altLang="ja-JP" dirty="0">
                <a:latin typeface="Meiryo UI" panose="020B0604030504040204" pitchFamily="34" charset="-128"/>
                <a:ea typeface="Meiryo UI" panose="020B0604030504040204" pitchFamily="34" charset="-128"/>
              </a:rPr>
              <a:t>2025/2/17</a:t>
            </a:r>
            <a:endParaRPr kumimoji="1" lang="ja-JP" altLang="en-US" dirty="0">
              <a:latin typeface="Meiryo UI" panose="020B0604030504040204" pitchFamily="34" charset="-128"/>
              <a:ea typeface="Meiryo UI" panose="020B0604030504040204" pitchFamily="34" charset="-128"/>
            </a:endParaRPr>
          </a:p>
        </p:txBody>
      </p:sp>
      <p:cxnSp>
        <p:nvCxnSpPr>
          <p:cNvPr id="5" name="直線コネクタ 4">
            <a:extLst>
              <a:ext uri="{FF2B5EF4-FFF2-40B4-BE49-F238E27FC236}">
                <a16:creationId xmlns:a16="http://schemas.microsoft.com/office/drawing/2014/main" id="{07DFE582-1159-5089-43ED-0D2BF45CD3D5}"/>
              </a:ext>
            </a:extLst>
          </p:cNvPr>
          <p:cNvCxnSpPr>
            <a:cxnSpLocks/>
          </p:cNvCxnSpPr>
          <p:nvPr/>
        </p:nvCxnSpPr>
        <p:spPr>
          <a:xfrm>
            <a:off x="876000" y="4489504"/>
            <a:ext cx="10440000" cy="0"/>
          </a:xfrm>
          <a:prstGeom prst="line">
            <a:avLst/>
          </a:prstGeom>
          <a:ln w="7302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74871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CBC7E0-2B26-93EF-C9D3-ECC55535D6B3}"/>
              </a:ext>
            </a:extLst>
          </p:cNvPr>
          <p:cNvSpPr>
            <a:spLocks noGrp="1"/>
          </p:cNvSpPr>
          <p:nvPr>
            <p:ph type="title"/>
          </p:nvPr>
        </p:nvSpPr>
        <p:spPr/>
        <p:txBody>
          <a:bodyPr lIns="90000" anchor="ctr" anchorCtr="0"/>
          <a:lstStyle/>
          <a:p>
            <a:r>
              <a:rPr kumimoji="1" lang="ja-JP" altLang="en-US" b="1" dirty="0">
                <a:latin typeface="Meiryo UI" panose="020B0604030504040204" pitchFamily="34" charset="-128"/>
                <a:ea typeface="Meiryo UI" panose="020B0604030504040204" pitchFamily="34" charset="-128"/>
              </a:rPr>
              <a:t>研究</a:t>
            </a:r>
            <a:r>
              <a:rPr lang="ja-JP" altLang="en-US" b="1" dirty="0"/>
              <a:t>背景と目的</a:t>
            </a:r>
            <a:endParaRPr kumimoji="1" lang="ja-JP" altLang="en-US" b="1" dirty="0">
              <a:latin typeface="Meiryo UI" panose="020B0604030504040204" pitchFamily="34" charset="-128"/>
              <a:ea typeface="Meiryo UI" panose="020B0604030504040204" pitchFamily="34" charset="-128"/>
            </a:endParaRPr>
          </a:p>
        </p:txBody>
      </p:sp>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1</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5" name="スライド番号プレースホルダー 4">
            <a:extLst>
              <a:ext uri="{FF2B5EF4-FFF2-40B4-BE49-F238E27FC236}">
                <a16:creationId xmlns:a16="http://schemas.microsoft.com/office/drawing/2014/main" id="{900CC919-3925-BA74-076F-54D6359AC6A4}"/>
              </a:ext>
            </a:extLst>
          </p:cNvPr>
          <p:cNvSpPr>
            <a:spLocks noGrp="1"/>
          </p:cNvSpPr>
          <p:nvPr>
            <p:ph type="sldNum" sz="quarter" idx="12"/>
          </p:nvPr>
        </p:nvSpPr>
        <p:spPr>
          <a:xfrm>
            <a:off x="9328343" y="6436721"/>
            <a:ext cx="2743200" cy="365125"/>
          </a:xfrm>
        </p:spPr>
        <p:txBody>
          <a:bodyPr/>
          <a:lstStyle/>
          <a:p>
            <a:fld id="{3762C4B7-35E7-C349-BFEA-97EA9F929263}" type="slidenum">
              <a:rPr lang="ja-JP" altLang="en-US" smtClean="0"/>
              <a:pPr/>
              <a:t>1</a:t>
            </a:fld>
            <a:endParaRPr lang="ja-JP" altLang="en-US"/>
          </a:p>
        </p:txBody>
      </p:sp>
      <p:sp>
        <p:nvSpPr>
          <p:cNvPr id="7" name="コンテンツ プレースホルダー 6">
            <a:extLst>
              <a:ext uri="{FF2B5EF4-FFF2-40B4-BE49-F238E27FC236}">
                <a16:creationId xmlns:a16="http://schemas.microsoft.com/office/drawing/2014/main" id="{BCA40E0F-4E5A-8FD0-3E3B-7507C5E110FB}"/>
              </a:ext>
            </a:extLst>
          </p:cNvPr>
          <p:cNvSpPr>
            <a:spLocks noGrp="1"/>
          </p:cNvSpPr>
          <p:nvPr>
            <p:ph idx="1"/>
          </p:nvPr>
        </p:nvSpPr>
        <p:spPr>
          <a:xfrm>
            <a:off x="838200" y="1420059"/>
            <a:ext cx="10515600" cy="4994647"/>
          </a:xfrm>
        </p:spPr>
        <p:txBody>
          <a:bodyPr>
            <a:normAutofit/>
          </a:bodyPr>
          <a:lstStyle/>
          <a:p>
            <a:pPr marL="457200" indent="-457200">
              <a:lnSpc>
                <a:spcPct val="125000"/>
              </a:lnSpc>
              <a:buClr>
                <a:srgbClr val="002060"/>
              </a:buClr>
              <a:buFont typeface="Arial" panose="020B0604020202020204" pitchFamily="34" charset="0"/>
              <a:buChar char="•"/>
            </a:pPr>
            <a:r>
              <a:rPr lang="ja-JP" altLang="en-US" b="1" dirty="0"/>
              <a:t>背景</a:t>
            </a:r>
            <a:endParaRPr lang="en-US" altLang="ja-JP" b="1" dirty="0"/>
          </a:p>
          <a:p>
            <a:pPr>
              <a:lnSpc>
                <a:spcPct val="125000"/>
              </a:lnSpc>
              <a:buClr>
                <a:srgbClr val="002060"/>
              </a:buClr>
            </a:pPr>
            <a:r>
              <a:rPr lang="ja-JP" altLang="en-US" sz="2400" dirty="0"/>
              <a:t>　　従来のパスワード：</a:t>
            </a:r>
            <a:endParaRPr lang="en-US" altLang="ja-JP" sz="2400" dirty="0"/>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単純なパスワードは、辞書攻撃に脆弱</a:t>
            </a:r>
            <a:endParaRPr lang="en-US" altLang="ja-JP"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複雑なパスワードは、覚えづらく、外部の記憶補助ツールに依存</a:t>
            </a:r>
            <a:endParaRPr lang="en-US" altLang="ja-JP" dirty="0">
              <a:latin typeface="Meiryo UI" panose="020B0604030504040204" pitchFamily="34" charset="-128"/>
              <a:ea typeface="Meiryo UI" panose="020B0604030504040204" pitchFamily="34" charset="-128"/>
            </a:endParaRPr>
          </a:p>
          <a:p>
            <a:pPr lvl="1" indent="0">
              <a:lnSpc>
                <a:spcPct val="125000"/>
              </a:lnSpc>
              <a:buClr>
                <a:srgbClr val="002060"/>
              </a:buClr>
              <a:buNone/>
            </a:pPr>
            <a:endParaRPr lang="en-US" altLang="ja-JP" sz="800" dirty="0">
              <a:effectLst/>
              <a:latin typeface="Meiryo UI" panose="020B0604030504040204" pitchFamily="34" charset="-128"/>
              <a:ea typeface="Meiryo UI" panose="020B0604030504040204" pitchFamily="34" charset="-128"/>
            </a:endParaRPr>
          </a:p>
          <a:p>
            <a:pPr lvl="1" indent="0">
              <a:lnSpc>
                <a:spcPct val="125000"/>
              </a:lnSpc>
              <a:buClr>
                <a:srgbClr val="002060"/>
              </a:buClr>
              <a:buNone/>
            </a:pPr>
            <a:r>
              <a:rPr lang="ja-JP" altLang="en-US" dirty="0">
                <a:effectLst/>
                <a:latin typeface="Meiryo UI" panose="020B0604030504040204" pitchFamily="34" charset="-128"/>
                <a:ea typeface="Meiryo UI" panose="020B0604030504040204" pitchFamily="34" charset="-128"/>
              </a:rPr>
              <a:t>　　</a:t>
            </a:r>
            <a:r>
              <a:rPr lang="ja-JP" altLang="en-US" b="1" dirty="0">
                <a:effectLst/>
                <a:latin typeface="Meiryo UI" panose="020B0604030504040204" pitchFamily="34" charset="-128"/>
                <a:ea typeface="Meiryo UI" panose="020B0604030504040204" pitchFamily="34" charset="-128"/>
              </a:rPr>
              <a:t>人間計算可能なパスワード</a:t>
            </a:r>
            <a:r>
              <a:rPr lang="ja-JP" altLang="en-US" sz="2000" dirty="0">
                <a:effectLst/>
                <a:latin typeface="Meiryo UI" panose="020B0604030504040204" pitchFamily="34" charset="-128"/>
                <a:ea typeface="Meiryo UI" panose="020B0604030504040204" pitchFamily="34" charset="-128"/>
              </a:rPr>
              <a:t> </a:t>
            </a:r>
            <a:r>
              <a:rPr lang="en-US" altLang="ja-JP" sz="2000" dirty="0">
                <a:effectLst/>
                <a:latin typeface="Meiryo UI" panose="020B0604030504040204" pitchFamily="34" charset="-128"/>
                <a:ea typeface="Meiryo UI" panose="020B0604030504040204" pitchFamily="34" charset="-128"/>
              </a:rPr>
              <a:t>[</a:t>
            </a:r>
            <a:r>
              <a:rPr lang="en-US" altLang="ja-JP" sz="2000" dirty="0" err="1">
                <a:effectLst/>
                <a:latin typeface="Meiryo UI" panose="020B0604030504040204" pitchFamily="34" charset="-128"/>
                <a:ea typeface="Meiryo UI" panose="020B0604030504040204" pitchFamily="34" charset="-128"/>
              </a:rPr>
              <a:t>J.Blocki</a:t>
            </a:r>
            <a:r>
              <a:rPr lang="en-US" altLang="ja-JP" sz="2000" dirty="0">
                <a:effectLst/>
                <a:latin typeface="Meiryo UI" panose="020B0604030504040204" pitchFamily="34" charset="-128"/>
                <a:ea typeface="Meiryo UI" panose="020B0604030504040204" pitchFamily="34" charset="-128"/>
              </a:rPr>
              <a:t>, </a:t>
            </a:r>
            <a:r>
              <a:rPr lang="en-US" altLang="ja-JP" sz="2000" dirty="0" err="1">
                <a:effectLst/>
                <a:latin typeface="Meiryo UI" panose="020B0604030504040204" pitchFamily="34" charset="-128"/>
                <a:ea typeface="Meiryo UI" panose="020B0604030504040204" pitchFamily="34" charset="-128"/>
              </a:rPr>
              <a:t>M.Blum</a:t>
            </a:r>
            <a:r>
              <a:rPr lang="en-US" altLang="ja-JP" sz="2000" dirty="0">
                <a:effectLst/>
                <a:latin typeface="Meiryo UI" panose="020B0604030504040204" pitchFamily="34" charset="-128"/>
                <a:ea typeface="Meiryo UI" panose="020B0604030504040204" pitchFamily="34" charset="-128"/>
              </a:rPr>
              <a:t>, </a:t>
            </a:r>
            <a:r>
              <a:rPr lang="en-US" altLang="ja-JP" sz="2000" dirty="0" err="1">
                <a:effectLst/>
                <a:latin typeface="Meiryo UI" panose="020B0604030504040204" pitchFamily="34" charset="-128"/>
                <a:ea typeface="Meiryo UI" panose="020B0604030504040204" pitchFamily="34" charset="-128"/>
              </a:rPr>
              <a:t>A.Datta</a:t>
            </a:r>
            <a:r>
              <a:rPr lang="en-US" altLang="ja-JP" sz="2000" dirty="0">
                <a:effectLst/>
                <a:latin typeface="Meiryo UI" panose="020B0604030504040204" pitchFamily="34" charset="-128"/>
                <a:ea typeface="Meiryo UI" panose="020B0604030504040204" pitchFamily="34" charset="-128"/>
              </a:rPr>
              <a:t>, </a:t>
            </a:r>
            <a:r>
              <a:rPr lang="en-US" altLang="ja-JP" sz="2000" dirty="0" err="1">
                <a:effectLst/>
                <a:latin typeface="Meiryo UI" panose="020B0604030504040204" pitchFamily="34" charset="-128"/>
                <a:ea typeface="Meiryo UI" panose="020B0604030504040204" pitchFamily="34" charset="-128"/>
              </a:rPr>
              <a:t>S.Vempala</a:t>
            </a:r>
            <a:r>
              <a:rPr lang="en-US" altLang="ja-JP" sz="2000" dirty="0">
                <a:effectLst/>
                <a:latin typeface="Meiryo UI" panose="020B0604030504040204" pitchFamily="34" charset="-128"/>
                <a:ea typeface="Meiryo UI" panose="020B0604030504040204" pitchFamily="34" charset="-128"/>
              </a:rPr>
              <a:t> 2014]</a:t>
            </a:r>
          </a:p>
          <a:p>
            <a:pPr>
              <a:lnSpc>
                <a:spcPct val="125000"/>
              </a:lnSpc>
              <a:buClr>
                <a:srgbClr val="002060"/>
              </a:buClr>
            </a:pPr>
            <a:endParaRPr lang="en-US" altLang="ja-JP" sz="800" dirty="0"/>
          </a:p>
          <a:p>
            <a:pPr marL="457200" indent="-457200">
              <a:lnSpc>
                <a:spcPct val="125000"/>
              </a:lnSpc>
              <a:buClr>
                <a:srgbClr val="002060"/>
              </a:buClr>
              <a:buFont typeface="Arial" panose="020B0604020202020204" pitchFamily="34" charset="0"/>
              <a:buChar char="•"/>
            </a:pPr>
            <a:r>
              <a:rPr lang="ja-JP" altLang="en-US" b="1" dirty="0"/>
              <a:t>目的</a:t>
            </a:r>
            <a:endParaRPr lang="en-US" altLang="ja-JP" b="1" dirty="0"/>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人間計算可能なパスワード</a:t>
            </a:r>
            <a:r>
              <a:rPr lang="ja-JP" altLang="en-US" sz="2400" dirty="0">
                <a:latin typeface="Meiryo UI" panose="020B0604030504040204" pitchFamily="50" charset="-128"/>
                <a:ea typeface="Meiryo UI" panose="020B0604030504040204" pitchFamily="50" charset="-128"/>
              </a:rPr>
              <a:t>認証</a:t>
            </a:r>
            <a:r>
              <a:rPr lang="ja-JP" altLang="en-US" dirty="0">
                <a:latin typeface="Meiryo UI" panose="020B0604030504040204" pitchFamily="34" charset="-128"/>
                <a:ea typeface="Meiryo UI" panose="020B0604030504040204" pitchFamily="34" charset="-128"/>
              </a:rPr>
              <a:t>の安全性評価</a:t>
            </a:r>
            <a:endParaRPr lang="ja-JP" altLang="en-US" sz="3200" dirty="0">
              <a:latin typeface="Meiryo UI" panose="020B0604030504040204" pitchFamily="34" charset="-128"/>
              <a:ea typeface="Meiryo UI" panose="020B0604030504040204" pitchFamily="34" charset="-128"/>
            </a:endParaRPr>
          </a:p>
        </p:txBody>
      </p:sp>
      <p:sp>
        <p:nvSpPr>
          <p:cNvPr id="3" name="矢印: 右 2">
            <a:extLst>
              <a:ext uri="{FF2B5EF4-FFF2-40B4-BE49-F238E27FC236}">
                <a16:creationId xmlns:a16="http://schemas.microsoft.com/office/drawing/2014/main" id="{7A991E38-CA70-C144-535D-15C37B4E758A}"/>
              </a:ext>
            </a:extLst>
          </p:cNvPr>
          <p:cNvSpPr/>
          <p:nvPr/>
        </p:nvSpPr>
        <p:spPr>
          <a:xfrm>
            <a:off x="1353820" y="4283142"/>
            <a:ext cx="325120" cy="31292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5680486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8" name="グループ化 87">
            <a:extLst>
              <a:ext uri="{FF2B5EF4-FFF2-40B4-BE49-F238E27FC236}">
                <a16:creationId xmlns:a16="http://schemas.microsoft.com/office/drawing/2014/main" id="{D5461C88-74AF-3C01-C086-3F0FD71C1A4E}"/>
              </a:ext>
            </a:extLst>
          </p:cNvPr>
          <p:cNvGrpSpPr/>
          <p:nvPr/>
        </p:nvGrpSpPr>
        <p:grpSpPr>
          <a:xfrm>
            <a:off x="3538219" y="4046262"/>
            <a:ext cx="5115562" cy="2073957"/>
            <a:chOff x="3223258" y="4312952"/>
            <a:chExt cx="5115562" cy="2073957"/>
          </a:xfrm>
        </p:grpSpPr>
        <p:grpSp>
          <p:nvGrpSpPr>
            <p:cNvPr id="86" name="グループ化 85">
              <a:extLst>
                <a:ext uri="{FF2B5EF4-FFF2-40B4-BE49-F238E27FC236}">
                  <a16:creationId xmlns:a16="http://schemas.microsoft.com/office/drawing/2014/main" id="{3B86ACC4-FD30-A8F7-B01B-152DCF5FEC33}"/>
                </a:ext>
              </a:extLst>
            </p:cNvPr>
            <p:cNvGrpSpPr/>
            <p:nvPr/>
          </p:nvGrpSpPr>
          <p:grpSpPr>
            <a:xfrm>
              <a:off x="3223258" y="4312952"/>
              <a:ext cx="5115562" cy="832228"/>
              <a:chOff x="3294379" y="4145908"/>
              <a:chExt cx="5115562" cy="832228"/>
            </a:xfrm>
          </p:grpSpPr>
          <p:sp>
            <p:nvSpPr>
              <p:cNvPr id="12" name="矢印: 右 11">
                <a:extLst>
                  <a:ext uri="{FF2B5EF4-FFF2-40B4-BE49-F238E27FC236}">
                    <a16:creationId xmlns:a16="http://schemas.microsoft.com/office/drawing/2014/main" id="{55B057F1-7049-05AA-7C75-8234398BD9C7}"/>
                  </a:ext>
                </a:extLst>
              </p:cNvPr>
              <p:cNvSpPr/>
              <p:nvPr/>
            </p:nvSpPr>
            <p:spPr>
              <a:xfrm>
                <a:off x="3294379" y="4656686"/>
                <a:ext cx="5115562" cy="321450"/>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xmlns:a14="http://schemas.microsoft.com/office/drawing/2010/main">
            <mc:Choice Requires="a14">
              <p:sp>
                <p:nvSpPr>
                  <p:cNvPr id="13" name="テキスト ボックス 12">
                    <a:extLst>
                      <a:ext uri="{FF2B5EF4-FFF2-40B4-BE49-F238E27FC236}">
                        <a16:creationId xmlns:a16="http://schemas.microsoft.com/office/drawing/2014/main" id="{F98A272A-D9F0-A4BF-C518-0E8AE7404F86}"/>
                      </a:ext>
                    </a:extLst>
                  </p:cNvPr>
                  <p:cNvSpPr txBox="1"/>
                  <p:nvPr/>
                </p:nvSpPr>
                <p:spPr>
                  <a:xfrm>
                    <a:off x="4366157" y="4145908"/>
                    <a:ext cx="2972005" cy="510778"/>
                  </a:xfrm>
                  <a:prstGeom prst="roundRect">
                    <a:avLst/>
                  </a:prstGeom>
                  <a:noFill/>
                  <a:ln w="19050">
                    <a:noFill/>
                  </a:ln>
                </p:spPr>
                <p:txBody>
                  <a:bodyPr wrap="square" rtlCol="0" anchor="ctr">
                    <a:spAutoFit/>
                  </a:bodyPr>
                  <a:lstStyle/>
                  <a:p>
                    <a:pPr algn="ctr"/>
                    <a:r>
                      <a:rPr kumimoji="1" lang="ja-JP" altLang="en-US" sz="2000" b="1" dirty="0">
                        <a:latin typeface="Meiryo UI" panose="020B0604030504040204" pitchFamily="50" charset="-128"/>
                        <a:ea typeface="Meiryo UI" panose="020B0604030504040204" pitchFamily="50" charset="-128"/>
                      </a:rPr>
                      <a:t>チャレンジ：</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𝟎</m:t>
                            </m:r>
                          </m:sub>
                        </m:sSub>
                        <m:r>
                          <a:rPr kumimoji="1" lang="en-US" altLang="ja-JP" sz="2400" b="1" i="1" smtClean="0">
                            <a:latin typeface="Cambria Math" panose="02040503050406030204" pitchFamily="18" charset="0"/>
                          </a:rPr>
                          <m:t>,…,</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𝟏𝟑</m:t>
                            </m:r>
                          </m:sub>
                        </m:sSub>
                      </m:oMath>
                    </a14:m>
                    <a:endParaRPr kumimoji="1" lang="ja-JP" altLang="en-US" sz="2400" b="1" dirty="0"/>
                  </a:p>
                </p:txBody>
              </p:sp>
            </mc:Choice>
            <mc:Fallback xmlns="">
              <p:sp>
                <p:nvSpPr>
                  <p:cNvPr id="13" name="テキスト ボックス 12">
                    <a:extLst>
                      <a:ext uri="{FF2B5EF4-FFF2-40B4-BE49-F238E27FC236}">
                        <a16:creationId xmlns:a16="http://schemas.microsoft.com/office/drawing/2014/main" id="{F98A272A-D9F0-A4BF-C518-0E8AE7404F86}"/>
                      </a:ext>
                    </a:extLst>
                  </p:cNvPr>
                  <p:cNvSpPr txBox="1">
                    <a:spLocks noRot="1" noChangeAspect="1" noMove="1" noResize="1" noEditPoints="1" noAdjustHandles="1" noChangeArrowheads="1" noChangeShapeType="1" noTextEdit="1"/>
                  </p:cNvSpPr>
                  <p:nvPr/>
                </p:nvSpPr>
                <p:spPr>
                  <a:xfrm>
                    <a:off x="4366157" y="4145908"/>
                    <a:ext cx="2972005" cy="510778"/>
                  </a:xfrm>
                  <a:prstGeom prst="roundRect">
                    <a:avLst/>
                  </a:prstGeom>
                  <a:blipFill>
                    <a:blip r:embed="rId3"/>
                    <a:stretch>
                      <a:fillRect b="-8333"/>
                    </a:stretch>
                  </a:blipFill>
                  <a:ln w="19050">
                    <a:noFill/>
                  </a:ln>
                </p:spPr>
                <p:txBody>
                  <a:bodyPr/>
                  <a:lstStyle/>
                  <a:p>
                    <a:r>
                      <a:rPr lang="ja-JP" altLang="en-US">
                        <a:noFill/>
                      </a:rPr>
                      <a:t> </a:t>
                    </a:r>
                  </a:p>
                </p:txBody>
              </p:sp>
            </mc:Fallback>
          </mc:AlternateContent>
        </p:grpSp>
        <p:grpSp>
          <p:nvGrpSpPr>
            <p:cNvPr id="87" name="グループ化 86">
              <a:extLst>
                <a:ext uri="{FF2B5EF4-FFF2-40B4-BE49-F238E27FC236}">
                  <a16:creationId xmlns:a16="http://schemas.microsoft.com/office/drawing/2014/main" id="{A3DF4813-FC79-B1B5-70CF-E2DBF0C954A2}"/>
                </a:ext>
              </a:extLst>
            </p:cNvPr>
            <p:cNvGrpSpPr/>
            <p:nvPr/>
          </p:nvGrpSpPr>
          <p:grpSpPr>
            <a:xfrm>
              <a:off x="3223258" y="5521622"/>
              <a:ext cx="5115562" cy="865287"/>
              <a:chOff x="3383279" y="5487650"/>
              <a:chExt cx="5115562" cy="865287"/>
            </a:xfrm>
          </p:grpSpPr>
          <mc:AlternateContent xmlns:mc="http://schemas.openxmlformats.org/markup-compatibility/2006" xmlns:a14="http://schemas.microsoft.com/office/drawing/2010/main">
            <mc:Choice Requires="a14">
              <p:sp>
                <p:nvSpPr>
                  <p:cNvPr id="25" name="テキスト ボックス 24">
                    <a:extLst>
                      <a:ext uri="{FF2B5EF4-FFF2-40B4-BE49-F238E27FC236}">
                        <a16:creationId xmlns:a16="http://schemas.microsoft.com/office/drawing/2014/main" id="{3D85B5FB-C6DE-D939-66F6-10052A4027F3}"/>
                      </a:ext>
                    </a:extLst>
                  </p:cNvPr>
                  <p:cNvSpPr txBox="1"/>
                  <p:nvPr/>
                </p:nvSpPr>
                <p:spPr>
                  <a:xfrm>
                    <a:off x="4086860" y="5809100"/>
                    <a:ext cx="3708400" cy="543837"/>
                  </a:xfrm>
                  <a:prstGeom prst="roundRect">
                    <a:avLst/>
                  </a:prstGeom>
                  <a:noFill/>
                  <a:ln w="19050">
                    <a:noFill/>
                  </a:ln>
                </p:spPr>
                <p:txBody>
                  <a:bodyPr wrap="square" rtlCol="0" anchor="ctr">
                    <a:spAutoFit/>
                  </a:bodyPr>
                  <a:lstStyle/>
                  <a:p>
                    <a:pPr algn="ctr"/>
                    <a:r>
                      <a:rPr kumimoji="1" lang="ja-JP" altLang="en-US" sz="2000" b="1" dirty="0">
                        <a:latin typeface="Meiryo UI" panose="020B0604030504040204" pitchFamily="50" charset="-128"/>
                        <a:ea typeface="Meiryo UI" panose="020B0604030504040204" pitchFamily="50" charset="-128"/>
                      </a:rPr>
                      <a:t>レスポンス：</a:t>
                    </a:r>
                    <a14:m>
                      <m:oMath xmlns:m="http://schemas.openxmlformats.org/officeDocument/2006/math">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𝒇</m:t>
                            </m:r>
                          </m:e>
                          <m:sub>
                            <m:r>
                              <a:rPr kumimoji="1" lang="en-US" altLang="ja-JP" sz="2400" b="1" i="1" smtClean="0">
                                <a:latin typeface="Cambria Math" panose="02040503050406030204" pitchFamily="18" charset="0"/>
                              </a:rPr>
                              <m:t>𝟐</m:t>
                            </m:r>
                            <m:r>
                              <a:rPr kumimoji="1" lang="en-US" altLang="ja-JP" sz="2400" b="1" i="1" smtClean="0">
                                <a:latin typeface="Cambria Math" panose="02040503050406030204" pitchFamily="18" charset="0"/>
                              </a:rPr>
                              <m:t>,</m:t>
                            </m:r>
                            <m:r>
                              <a:rPr kumimoji="1" lang="en-US" altLang="ja-JP" sz="2400" b="1" i="1" smtClean="0">
                                <a:latin typeface="Cambria Math" panose="02040503050406030204" pitchFamily="18" charset="0"/>
                              </a:rPr>
                              <m:t>𝟐</m:t>
                            </m:r>
                          </m:sub>
                        </m:sSub>
                        <m:r>
                          <a:rPr kumimoji="1" lang="en-US" altLang="ja-JP" sz="2400" b="1" i="1" smtClean="0">
                            <a:latin typeface="Cambria Math" panose="02040503050406030204" pitchFamily="18" charset="0"/>
                          </a:rPr>
                          <m:t>(</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𝟎</m:t>
                            </m:r>
                          </m:sub>
                        </m:sSub>
                        <m:r>
                          <a:rPr kumimoji="1" lang="en-US" altLang="ja-JP" sz="2400" b="1" i="1" smtClean="0">
                            <a:latin typeface="Cambria Math" panose="02040503050406030204" pitchFamily="18" charset="0"/>
                          </a:rPr>
                          <m:t>, …,</m:t>
                        </m:r>
                        <m:sSub>
                          <m:sSubPr>
                            <m:ctrlPr>
                              <a:rPr kumimoji="1" lang="en-US" altLang="ja-JP" sz="2400" b="1" i="1" smtClean="0">
                                <a:latin typeface="Cambria Math" panose="02040503050406030204" pitchFamily="18" charset="0"/>
                              </a:rPr>
                            </m:ctrlPr>
                          </m:sSubPr>
                          <m:e>
                            <m:r>
                              <a:rPr kumimoji="1" lang="en-US" altLang="ja-JP" sz="2400" b="1" i="1" smtClean="0">
                                <a:latin typeface="Cambria Math" panose="02040503050406030204" pitchFamily="18" charset="0"/>
                              </a:rPr>
                              <m:t>𝒙</m:t>
                            </m:r>
                          </m:e>
                          <m:sub>
                            <m:r>
                              <a:rPr kumimoji="1" lang="en-US" altLang="ja-JP" sz="2400" b="1" i="1" smtClean="0">
                                <a:latin typeface="Cambria Math" panose="02040503050406030204" pitchFamily="18" charset="0"/>
                              </a:rPr>
                              <m:t>𝟏𝟑</m:t>
                            </m:r>
                          </m:sub>
                        </m:sSub>
                        <m:r>
                          <a:rPr kumimoji="1" lang="en-US" altLang="ja-JP" sz="2400" b="1" i="1" smtClean="0">
                            <a:latin typeface="Cambria Math" panose="02040503050406030204" pitchFamily="18" charset="0"/>
                          </a:rPr>
                          <m:t>)</m:t>
                        </m:r>
                      </m:oMath>
                    </a14:m>
                    <a:endParaRPr kumimoji="1" lang="ja-JP" altLang="en-US" sz="2400" b="1" dirty="0"/>
                  </a:p>
                </p:txBody>
              </p:sp>
            </mc:Choice>
            <mc:Fallback xmlns="">
              <p:sp>
                <p:nvSpPr>
                  <p:cNvPr id="25" name="テキスト ボックス 24">
                    <a:extLst>
                      <a:ext uri="{FF2B5EF4-FFF2-40B4-BE49-F238E27FC236}">
                        <a16:creationId xmlns:a16="http://schemas.microsoft.com/office/drawing/2014/main" id="{3D85B5FB-C6DE-D939-66F6-10052A4027F3}"/>
                      </a:ext>
                    </a:extLst>
                  </p:cNvPr>
                  <p:cNvSpPr txBox="1">
                    <a:spLocks noRot="1" noChangeAspect="1" noMove="1" noResize="1" noEditPoints="1" noAdjustHandles="1" noChangeArrowheads="1" noChangeShapeType="1" noTextEdit="1"/>
                  </p:cNvSpPr>
                  <p:nvPr/>
                </p:nvSpPr>
                <p:spPr>
                  <a:xfrm>
                    <a:off x="4086860" y="5809100"/>
                    <a:ext cx="3708400" cy="543837"/>
                  </a:xfrm>
                  <a:prstGeom prst="roundRect">
                    <a:avLst/>
                  </a:prstGeom>
                  <a:blipFill>
                    <a:blip r:embed="rId4"/>
                    <a:stretch>
                      <a:fillRect b="-7865"/>
                    </a:stretch>
                  </a:blipFill>
                  <a:ln w="19050">
                    <a:noFill/>
                  </a:ln>
                </p:spPr>
                <p:txBody>
                  <a:bodyPr/>
                  <a:lstStyle/>
                  <a:p>
                    <a:r>
                      <a:rPr lang="ja-JP" altLang="en-US">
                        <a:noFill/>
                      </a:rPr>
                      <a:t> </a:t>
                    </a:r>
                  </a:p>
                </p:txBody>
              </p:sp>
            </mc:Fallback>
          </mc:AlternateContent>
          <p:sp>
            <p:nvSpPr>
              <p:cNvPr id="82" name="矢印: 右 81">
                <a:extLst>
                  <a:ext uri="{FF2B5EF4-FFF2-40B4-BE49-F238E27FC236}">
                    <a16:creationId xmlns:a16="http://schemas.microsoft.com/office/drawing/2014/main" id="{9200E796-5761-409A-83BE-F67C6E0BAB60}"/>
                  </a:ext>
                </a:extLst>
              </p:cNvPr>
              <p:cNvSpPr/>
              <p:nvPr/>
            </p:nvSpPr>
            <p:spPr>
              <a:xfrm flipH="1">
                <a:off x="3383279" y="5487650"/>
                <a:ext cx="5115562" cy="321450"/>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sp>
        <p:nvSpPr>
          <p:cNvPr id="2" name="タイトル 1">
            <a:extLst>
              <a:ext uri="{FF2B5EF4-FFF2-40B4-BE49-F238E27FC236}">
                <a16:creationId xmlns:a16="http://schemas.microsoft.com/office/drawing/2014/main" id="{A7CBC7E0-2B26-93EF-C9D3-ECC55535D6B3}"/>
              </a:ext>
            </a:extLst>
          </p:cNvPr>
          <p:cNvSpPr>
            <a:spLocks noGrp="1"/>
          </p:cNvSpPr>
          <p:nvPr>
            <p:ph type="title"/>
          </p:nvPr>
        </p:nvSpPr>
        <p:spPr/>
        <p:txBody>
          <a:bodyPr lIns="90000" anchor="ctr" anchorCtr="0"/>
          <a:lstStyle/>
          <a:p>
            <a:r>
              <a:rPr lang="ja-JP" altLang="en-US" b="1" dirty="0"/>
              <a:t>背景知識</a:t>
            </a:r>
            <a:endParaRPr kumimoji="1" lang="ja-JP" altLang="en-US" b="1" dirty="0">
              <a:latin typeface="Meiryo UI" panose="020B0604030504040204" pitchFamily="34" charset="-128"/>
              <a:ea typeface="Meiryo UI" panose="020B0604030504040204" pitchFamily="34" charset="-128"/>
            </a:endParaRP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49CCC03-81F3-336D-53DE-2428EF2C3506}"/>
                  </a:ext>
                </a:extLst>
              </p:cNvPr>
              <p:cNvSpPr>
                <a:spLocks noGrp="1"/>
              </p:cNvSpPr>
              <p:nvPr>
                <p:ph idx="1"/>
              </p:nvPr>
            </p:nvSpPr>
            <p:spPr>
              <a:xfrm>
                <a:off x="838204" y="1311683"/>
                <a:ext cx="10515600" cy="1516182"/>
              </a:xfrm>
            </p:spPr>
            <p:txBody>
              <a:bodyPr anchor="ctr" anchorCtr="0">
                <a:normAutofit/>
              </a:bodyPr>
              <a:lstStyle/>
              <a:p>
                <a:pPr marL="457200" indent="-457200">
                  <a:buClr>
                    <a:srgbClr val="002060"/>
                  </a:buClr>
                  <a:buFont typeface="Arial" panose="020B0604020202020204" pitchFamily="34" charset="0"/>
                  <a:buChar char="•"/>
                </a:pPr>
                <a:r>
                  <a:rPr kumimoji="1" lang="ja-JP" altLang="en-US" sz="2800" b="1" dirty="0">
                    <a:ea typeface="Meiryo UI" panose="020B0604030504040204" pitchFamily="34" charset="-128"/>
                  </a:rPr>
                  <a:t>人間計算可能関数</a:t>
                </a:r>
                <a:r>
                  <a:rPr kumimoji="1" lang="ja-JP" altLang="en-US" sz="2000" dirty="0">
                    <a:ea typeface="Meiryo UI" panose="020B0604030504040204" pitchFamily="34" charset="-128"/>
                  </a:rPr>
                  <a:t> </a:t>
                </a:r>
                <a:r>
                  <a:rPr lang="en-US" altLang="ja-JP" sz="2000" dirty="0"/>
                  <a:t>[</a:t>
                </a:r>
                <a:r>
                  <a:rPr lang="en-US" altLang="ja-JP" sz="2000" dirty="0" err="1"/>
                  <a:t>J.Blocki</a:t>
                </a:r>
                <a:r>
                  <a:rPr lang="en-US" altLang="ja-JP" sz="2000" dirty="0"/>
                  <a:t>, </a:t>
                </a:r>
                <a:r>
                  <a:rPr lang="en-US" altLang="ja-JP" sz="2000" dirty="0" err="1"/>
                  <a:t>M.Blum</a:t>
                </a:r>
                <a:r>
                  <a:rPr lang="en-US" altLang="ja-JP" sz="2000" dirty="0"/>
                  <a:t>, </a:t>
                </a:r>
                <a:r>
                  <a:rPr lang="en-US" altLang="ja-JP" sz="2000" dirty="0" err="1"/>
                  <a:t>A.Datta</a:t>
                </a:r>
                <a:r>
                  <a:rPr lang="en-US" altLang="ja-JP" sz="2000" dirty="0"/>
                  <a:t>, </a:t>
                </a:r>
                <a:r>
                  <a:rPr lang="en-US" altLang="ja-JP" sz="2000" dirty="0" err="1"/>
                  <a:t>S.Vempala</a:t>
                </a:r>
                <a:r>
                  <a:rPr lang="en-US" altLang="ja-JP" sz="2000" dirty="0"/>
                  <a:t> 2014] </a:t>
                </a:r>
                <a14:m>
                  <m:oMath xmlns:m="http://schemas.openxmlformats.org/officeDocument/2006/math">
                    <m:sSub>
                      <m:sSubPr>
                        <m:ctrlPr>
                          <a:rPr kumimoji="1" lang="en-US" altLang="ja-JP" sz="2800" b="1" i="1" smtClean="0">
                            <a:latin typeface="Cambria Math" panose="02040503050406030204" pitchFamily="18" charset="0"/>
                            <a:ea typeface="Meiryo UI" panose="020B0604030504040204" pitchFamily="34" charset="-128"/>
                          </a:rPr>
                        </m:ctrlPr>
                      </m:sSubPr>
                      <m:e>
                        <m:r>
                          <a:rPr kumimoji="1" lang="en-US" altLang="ja-JP" sz="2800" b="1" i="1" smtClean="0">
                            <a:latin typeface="Cambria Math" panose="02040503050406030204" pitchFamily="18" charset="0"/>
                            <a:ea typeface="Meiryo UI" panose="020B0604030504040204" pitchFamily="34" charset="-128"/>
                          </a:rPr>
                          <m:t>𝒇</m:t>
                        </m:r>
                      </m:e>
                      <m:sub>
                        <m:sSub>
                          <m:sSubPr>
                            <m:ctrlPr>
                              <a:rPr kumimoji="1" lang="en-US" altLang="ja-JP" sz="2800" b="1" i="1" smtClean="0">
                                <a:latin typeface="Cambria Math" panose="02040503050406030204" pitchFamily="18" charset="0"/>
                                <a:ea typeface="Meiryo UI" panose="020B0604030504040204" pitchFamily="34" charset="-128"/>
                              </a:rPr>
                            </m:ctrlPr>
                          </m:sSubPr>
                          <m:e>
                            <m:r>
                              <a:rPr kumimoji="1" lang="en-US" altLang="ja-JP" sz="2800" b="1" i="1" smtClean="0">
                                <a:latin typeface="Cambria Math" panose="02040503050406030204" pitchFamily="18" charset="0"/>
                                <a:ea typeface="Meiryo UI" panose="020B0604030504040204" pitchFamily="34" charset="-128"/>
                              </a:rPr>
                              <m:t>𝒌</m:t>
                            </m:r>
                          </m:e>
                          <m:sub>
                            <m:r>
                              <a:rPr kumimoji="1" lang="en-US" altLang="ja-JP" sz="2800" b="1" i="1" smtClean="0">
                                <a:latin typeface="Cambria Math" panose="02040503050406030204" pitchFamily="18" charset="0"/>
                                <a:ea typeface="Meiryo UI" panose="020B0604030504040204" pitchFamily="34" charset="-128"/>
                              </a:rPr>
                              <m:t>𝟏</m:t>
                            </m:r>
                          </m:sub>
                        </m:sSub>
                        <m:r>
                          <a:rPr kumimoji="1" lang="en-US" altLang="ja-JP" sz="2800" b="1" i="1" smtClean="0">
                            <a:latin typeface="Cambria Math" panose="02040503050406030204" pitchFamily="18" charset="0"/>
                            <a:ea typeface="Meiryo UI" panose="020B0604030504040204" pitchFamily="34" charset="-128"/>
                          </a:rPr>
                          <m:t>,</m:t>
                        </m:r>
                        <m:sSub>
                          <m:sSubPr>
                            <m:ctrlPr>
                              <a:rPr kumimoji="1" lang="en-US" altLang="ja-JP" sz="2800" b="1" i="1" smtClean="0">
                                <a:latin typeface="Cambria Math" panose="02040503050406030204" pitchFamily="18" charset="0"/>
                                <a:ea typeface="Meiryo UI" panose="020B0604030504040204" pitchFamily="34" charset="-128"/>
                              </a:rPr>
                            </m:ctrlPr>
                          </m:sSubPr>
                          <m:e>
                            <m:r>
                              <a:rPr kumimoji="1" lang="en-US" altLang="ja-JP" sz="2800" b="1" i="1" smtClean="0">
                                <a:latin typeface="Cambria Math" panose="02040503050406030204" pitchFamily="18" charset="0"/>
                                <a:ea typeface="Meiryo UI" panose="020B0604030504040204" pitchFamily="34" charset="-128"/>
                              </a:rPr>
                              <m:t>𝒌</m:t>
                            </m:r>
                          </m:e>
                          <m:sub>
                            <m:r>
                              <a:rPr kumimoji="1" lang="en-US" altLang="ja-JP" sz="2800" b="1" i="1" smtClean="0">
                                <a:latin typeface="Cambria Math" panose="02040503050406030204" pitchFamily="18" charset="0"/>
                                <a:ea typeface="Meiryo UI" panose="020B0604030504040204" pitchFamily="34" charset="-128"/>
                              </a:rPr>
                              <m:t>𝟐</m:t>
                            </m:r>
                          </m:sub>
                        </m:sSub>
                      </m:sub>
                    </m:sSub>
                  </m:oMath>
                </a14:m>
                <a:r>
                  <a:rPr kumimoji="1" lang="ja-JP" altLang="en-US" sz="2800" b="1" dirty="0">
                    <a:ea typeface="Meiryo UI" panose="020B0604030504040204" pitchFamily="34" charset="-128"/>
                  </a:rPr>
                  <a:t>：</a:t>
                </a:r>
                <a:endParaRPr kumimoji="1" lang="en-US" altLang="ja-JP" sz="2800" b="1" dirty="0">
                  <a:ea typeface="Meiryo UI" panose="020B0604030504040204" pitchFamily="34" charset="-128"/>
                </a:endParaRPr>
              </a:p>
            </p:txBody>
          </p:sp>
        </mc:Choice>
        <mc:Fallback xmlns="">
          <p:sp>
            <p:nvSpPr>
              <p:cNvPr id="3" name="コンテンツ プレースホルダー 2">
                <a:extLst>
                  <a:ext uri="{FF2B5EF4-FFF2-40B4-BE49-F238E27FC236}">
                    <a16:creationId xmlns:a16="http://schemas.microsoft.com/office/drawing/2014/main" id="{549CCC03-81F3-336D-53DE-2428EF2C3506}"/>
                  </a:ext>
                </a:extLst>
              </p:cNvPr>
              <p:cNvSpPr>
                <a:spLocks noGrp="1" noRot="1" noChangeAspect="1" noMove="1" noResize="1" noEditPoints="1" noAdjustHandles="1" noChangeArrowheads="1" noChangeShapeType="1" noTextEdit="1"/>
              </p:cNvSpPr>
              <p:nvPr>
                <p:ph idx="1"/>
              </p:nvPr>
            </p:nvSpPr>
            <p:spPr>
              <a:xfrm>
                <a:off x="838204" y="1311683"/>
                <a:ext cx="10515600" cy="1516182"/>
              </a:xfrm>
              <a:blipFill>
                <a:blip r:embed="rId5"/>
                <a:stretch>
                  <a:fillRect l="-1043" r="-464"/>
                </a:stretch>
              </a:blipFill>
            </p:spPr>
            <p:txBody>
              <a:bodyPr/>
              <a:lstStyle/>
              <a:p>
                <a:r>
                  <a:rPr lang="ja-JP" altLang="en-US">
                    <a:noFill/>
                  </a:rPr>
                  <a:t> </a:t>
                </a:r>
              </a:p>
            </p:txBody>
          </p:sp>
        </mc:Fallback>
      </mc:AlternateContent>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2</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076AFE3-3520-C8C4-A406-C96002EA78BC}"/>
                  </a:ext>
                </a:extLst>
              </p:cNvPr>
              <p:cNvSpPr txBox="1"/>
              <p:nvPr/>
            </p:nvSpPr>
            <p:spPr>
              <a:xfrm>
                <a:off x="838196" y="2567590"/>
                <a:ext cx="10515600" cy="531877"/>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2400" b="1" i="1" smtClean="0">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𝒇</m:t>
                          </m:r>
                        </m:e>
                        <m:sub>
                          <m:r>
                            <a:rPr lang="en-US" altLang="ja-JP" sz="2400" b="1" i="0" smtClean="0">
                              <a:effectLst/>
                              <a:latin typeface="Cambria Math" panose="02040503050406030204" pitchFamily="18" charset="0"/>
                            </a:rPr>
                            <m:t>𝟐</m:t>
                          </m:r>
                          <m:r>
                            <a:rPr lang="ja-JP" altLang="en-US" sz="2400" b="1" i="0">
                              <a:effectLst/>
                              <a:latin typeface="Cambria Math" panose="02040503050406030204" pitchFamily="18" charset="0"/>
                            </a:rPr>
                            <m:t>,</m:t>
                          </m:r>
                          <m:r>
                            <a:rPr lang="en-US" altLang="ja-JP" sz="2400" b="1" i="1" smtClean="0">
                              <a:effectLst/>
                              <a:latin typeface="Cambria Math" panose="02040503050406030204" pitchFamily="18" charset="0"/>
                            </a:rPr>
                            <m:t>𝟐</m:t>
                          </m:r>
                          <m:r>
                            <a:rPr lang="ja-JP" altLang="en-US" sz="2400" b="1" i="1" smtClean="0">
                              <a:solidFill>
                                <a:srgbClr val="836967"/>
                              </a:solidFill>
                              <a:effectLst/>
                              <a:latin typeface="Cambria Math" panose="02040503050406030204" pitchFamily="18" charset="0"/>
                            </a:rPr>
                            <m:t> </m:t>
                          </m:r>
                        </m:sub>
                      </m:sSub>
                      <m:d>
                        <m:dPr>
                          <m:ctrlPr>
                            <a:rPr lang="ja-JP" altLang="en-US" sz="2400" b="1" i="1">
                              <a:solidFill>
                                <a:srgbClr val="836967"/>
                              </a:solidFill>
                              <a:effectLst/>
                              <a:latin typeface="Cambria Math" panose="02040503050406030204" pitchFamily="18" charset="0"/>
                            </a:rPr>
                          </m:ctrlPr>
                        </m:dPr>
                        <m:e>
                          <m:r>
                            <a:rPr lang="en-US" altLang="ja-JP" sz="2400" b="1" i="1" smtClean="0">
                              <a:solidFill>
                                <a:srgbClr val="836967"/>
                              </a:solidFill>
                              <a:effectLst/>
                              <a:latin typeface="Cambria Math" panose="02040503050406030204" pitchFamily="18" charset="0"/>
                            </a:rPr>
                            <m:t> </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ja-JP" altLang="en-US" sz="2400" b="1" i="0">
                                  <a:effectLst/>
                                  <a:latin typeface="Cambria Math" panose="02040503050406030204" pitchFamily="18" charset="0"/>
                                </a:rPr>
                                <m:t>𝟎</m:t>
                              </m:r>
                            </m:sub>
                          </m:sSub>
                          <m:r>
                            <a:rPr lang="ja-JP" altLang="en-US" sz="2400" b="1" i="0">
                              <a:effectLst/>
                              <a:latin typeface="Cambria Math" panose="02040503050406030204" pitchFamily="18" charset="0"/>
                            </a:rPr>
                            <m:t>,…,</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en-US" altLang="ja-JP" sz="2400" b="1" i="1" smtClean="0">
                                  <a:effectLst/>
                                  <a:latin typeface="Cambria Math" panose="02040503050406030204" pitchFamily="18" charset="0"/>
                                </a:rPr>
                                <m:t>𝟏𝟑</m:t>
                              </m:r>
                            </m:sub>
                          </m:sSub>
                          <m:r>
                            <a:rPr lang="en-US" altLang="ja-JP" sz="2400" b="1" i="1" smtClean="0">
                              <a:effectLst/>
                              <a:latin typeface="Cambria Math" panose="02040503050406030204" pitchFamily="18" charset="0"/>
                            </a:rPr>
                            <m:t> </m:t>
                          </m:r>
                        </m:e>
                      </m:d>
                      <m:r>
                        <a:rPr lang="ja-JP" altLang="en-US" sz="2400" b="1" i="0">
                          <a:effectLst/>
                          <a:latin typeface="Cambria Math" panose="02040503050406030204" pitchFamily="18" charset="0"/>
                        </a:rPr>
                        <m:t>=</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ja-JP" altLang="en-US" sz="2400" b="1" i="1">
                              <a:effectLst/>
                              <a:latin typeface="Cambria Math" panose="02040503050406030204" pitchFamily="18" charset="0"/>
                            </a:rPr>
                            <m:t>𝒋</m:t>
                          </m:r>
                        </m:sub>
                      </m:sSub>
                      <m:r>
                        <a:rPr lang="ja-JP" altLang="en-US" sz="2400" b="1" i="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𝟏𝟐</m:t>
                          </m:r>
                        </m:sub>
                      </m:sSub>
                      <m:r>
                        <a:rPr lang="en-US" altLang="ja-JP" sz="2400" b="1" i="1" smtClean="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𝟏𝟑</m:t>
                          </m:r>
                        </m:sub>
                      </m:sSub>
                      <m:r>
                        <a:rPr lang="ja-JP" altLang="en-US" sz="2400" b="1" i="0">
                          <a:effectLst/>
                          <a:latin typeface="Cambria Math" panose="02040503050406030204" pitchFamily="18" charset="0"/>
                        </a:rPr>
                        <m:t> </m:t>
                      </m:r>
                      <m:r>
                        <a:rPr lang="ja-JP" altLang="en-US" sz="2400" b="1" i="1">
                          <a:effectLst/>
                          <a:latin typeface="Cambria Math" panose="02040503050406030204" pitchFamily="18" charset="0"/>
                        </a:rPr>
                        <m:t>𝒎𝒐𝒅</m:t>
                      </m:r>
                      <m:r>
                        <a:rPr lang="ja-JP" altLang="en-US" sz="2400" b="1" i="0">
                          <a:effectLst/>
                          <a:latin typeface="Cambria Math" panose="02040503050406030204" pitchFamily="18" charset="0"/>
                        </a:rPr>
                        <m:t> </m:t>
                      </m:r>
                      <m:r>
                        <a:rPr lang="ja-JP" altLang="en-US" sz="2400" b="1" i="0">
                          <a:effectLst/>
                          <a:latin typeface="Cambria Math" panose="02040503050406030204" pitchFamily="18" charset="0"/>
                        </a:rPr>
                        <m:t>𝟏𝟎</m:t>
                      </m:r>
                      <m:r>
                        <a:rPr lang="ja-JP" altLang="en-US" sz="2400" b="1" i="0">
                          <a:effectLst/>
                          <a:latin typeface="Cambria Math" panose="02040503050406030204" pitchFamily="18" charset="0"/>
                        </a:rPr>
                        <m:t>　</m:t>
                      </m:r>
                      <m:r>
                        <a:rPr lang="ja-JP" altLang="en-US" sz="2400" b="1" i="1">
                          <a:latin typeface="Cambria Math" panose="02040503050406030204" pitchFamily="18" charset="0"/>
                        </a:rPr>
                        <m:t>ただし、</m:t>
                      </m:r>
                      <m:r>
                        <a:rPr lang="ja-JP" altLang="en-US" sz="2400" b="1" i="1">
                          <a:effectLst/>
                          <a:latin typeface="Cambria Math" panose="02040503050406030204" pitchFamily="18" charset="0"/>
                        </a:rPr>
                        <m:t>𝒋</m:t>
                      </m:r>
                      <m:r>
                        <a:rPr lang="ja-JP" altLang="en-US" sz="2400" b="1" i="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𝟏𝟎</m:t>
                          </m:r>
                        </m:sub>
                      </m:sSub>
                      <m:r>
                        <a:rPr lang="en-US" altLang="ja-JP" sz="2400" b="1" i="1" smtClean="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𝟏𝟏</m:t>
                          </m:r>
                        </m:sub>
                      </m:sSub>
                      <m:r>
                        <a:rPr lang="ja-JP" altLang="en-US" sz="2400" b="1" i="0">
                          <a:effectLst/>
                          <a:latin typeface="Cambria Math" panose="02040503050406030204" pitchFamily="18" charset="0"/>
                        </a:rPr>
                        <m:t> </m:t>
                      </m:r>
                      <m:r>
                        <a:rPr lang="ja-JP" altLang="en-US" sz="2400" b="1" i="1">
                          <a:effectLst/>
                          <a:latin typeface="Cambria Math" panose="02040503050406030204" pitchFamily="18" charset="0"/>
                        </a:rPr>
                        <m:t>𝒎𝒐𝒅</m:t>
                      </m:r>
                      <m:r>
                        <a:rPr lang="ja-JP" altLang="en-US" sz="2400" b="1" i="0">
                          <a:effectLst/>
                          <a:latin typeface="Cambria Math" panose="02040503050406030204" pitchFamily="18" charset="0"/>
                        </a:rPr>
                        <m:t> </m:t>
                      </m:r>
                      <m:r>
                        <a:rPr lang="ja-JP" altLang="en-US" sz="2400" b="1" i="0">
                          <a:effectLst/>
                          <a:latin typeface="Cambria Math" panose="02040503050406030204" pitchFamily="18" charset="0"/>
                        </a:rPr>
                        <m:t>𝟏𝟎</m:t>
                      </m:r>
                    </m:oMath>
                  </m:oMathPara>
                </a14:m>
                <a:endParaRPr lang="ja-JP" altLang="en-US" sz="2400" b="1" dirty="0">
                  <a:effectLst/>
                  <a:latin typeface="Meiryo UI" panose="020B0604030504040204" pitchFamily="50" charset="-128"/>
                  <a:ea typeface="Meiryo UI" panose="020B0604030504040204" pitchFamily="50" charset="-128"/>
                </a:endParaRPr>
              </a:p>
            </p:txBody>
          </p:sp>
        </mc:Choice>
        <mc:Fallback xmlns="">
          <p:sp>
            <p:nvSpPr>
              <p:cNvPr id="9" name="テキスト ボックス 8">
                <a:extLst>
                  <a:ext uri="{FF2B5EF4-FFF2-40B4-BE49-F238E27FC236}">
                    <a16:creationId xmlns:a16="http://schemas.microsoft.com/office/drawing/2014/main" id="{1076AFE3-3520-C8C4-A406-C96002EA78BC}"/>
                  </a:ext>
                </a:extLst>
              </p:cNvPr>
              <p:cNvSpPr txBox="1">
                <a:spLocks noRot="1" noChangeAspect="1" noMove="1" noResize="1" noEditPoints="1" noAdjustHandles="1" noChangeArrowheads="1" noChangeShapeType="1" noTextEdit="1"/>
              </p:cNvSpPr>
              <p:nvPr/>
            </p:nvSpPr>
            <p:spPr>
              <a:xfrm>
                <a:off x="838196" y="2567590"/>
                <a:ext cx="10515600" cy="531877"/>
              </a:xfrm>
              <a:prstGeom prst="rect">
                <a:avLst/>
              </a:prstGeom>
              <a:blipFill>
                <a:blip r:embed="rId6"/>
                <a:stretch>
                  <a:fillRect/>
                </a:stretch>
              </a:blipFill>
              <a:ln>
                <a:solidFill>
                  <a:schemeClr val="tx1"/>
                </a:solidFill>
              </a:ln>
            </p:spPr>
            <p:txBody>
              <a:bodyPr/>
              <a:lstStyle/>
              <a:p>
                <a:r>
                  <a:rPr lang="ja-JP" altLang="en-US">
                    <a:noFill/>
                  </a:rPr>
                  <a:t> </a:t>
                </a:r>
              </a:p>
            </p:txBody>
          </p:sp>
        </mc:Fallback>
      </mc:AlternateContent>
      <p:grpSp>
        <p:nvGrpSpPr>
          <p:cNvPr id="91" name="グループ化 90">
            <a:extLst>
              <a:ext uri="{FF2B5EF4-FFF2-40B4-BE49-F238E27FC236}">
                <a16:creationId xmlns:a16="http://schemas.microsoft.com/office/drawing/2014/main" id="{71AA371C-FCE1-3D2A-6FF4-5AFFB74D0A41}"/>
              </a:ext>
            </a:extLst>
          </p:cNvPr>
          <p:cNvGrpSpPr/>
          <p:nvPr/>
        </p:nvGrpSpPr>
        <p:grpSpPr>
          <a:xfrm>
            <a:off x="1813609" y="4439235"/>
            <a:ext cx="1188721" cy="1631394"/>
            <a:chOff x="157483" y="3451902"/>
            <a:chExt cx="1188721" cy="1631394"/>
          </a:xfrm>
        </p:grpSpPr>
        <p:pic>
          <p:nvPicPr>
            <p:cNvPr id="76" name="グラフィックス 75" descr="データベース 枠線">
              <a:extLst>
                <a:ext uri="{FF2B5EF4-FFF2-40B4-BE49-F238E27FC236}">
                  <a16:creationId xmlns:a16="http://schemas.microsoft.com/office/drawing/2014/main" id="{6A73EA7C-DA1B-FEAF-881F-AE6F3797291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57484" y="3451902"/>
              <a:ext cx="1188720" cy="1188720"/>
            </a:xfrm>
            <a:prstGeom prst="rect">
              <a:avLst/>
            </a:prstGeom>
          </p:spPr>
        </p:pic>
        <p:sp>
          <p:nvSpPr>
            <p:cNvPr id="89" name="テキスト ボックス 88">
              <a:extLst>
                <a:ext uri="{FF2B5EF4-FFF2-40B4-BE49-F238E27FC236}">
                  <a16:creationId xmlns:a16="http://schemas.microsoft.com/office/drawing/2014/main" id="{A55350D6-41B2-F06B-90EE-0BF826D7A949}"/>
                </a:ext>
              </a:extLst>
            </p:cNvPr>
            <p:cNvSpPr txBox="1"/>
            <p:nvPr/>
          </p:nvSpPr>
          <p:spPr>
            <a:xfrm>
              <a:off x="157483" y="4640622"/>
              <a:ext cx="1188721" cy="442674"/>
            </a:xfrm>
            <a:prstGeom prst="roundRect">
              <a:avLst/>
            </a:prstGeom>
            <a:noFill/>
            <a:ln w="19050">
              <a:noFill/>
            </a:ln>
          </p:spPr>
          <p:txBody>
            <a:bodyPr wrap="square" rtlCol="0" anchor="ctr">
              <a:spAutoFit/>
            </a:bodyPr>
            <a:lstStyle/>
            <a:p>
              <a:pPr algn="ctr"/>
              <a:r>
                <a:rPr kumimoji="1" lang="ja-JP" altLang="en-US" sz="2000" b="1" dirty="0"/>
                <a:t>サーバ</a:t>
              </a:r>
            </a:p>
          </p:txBody>
        </p:sp>
      </p:grpSp>
      <p:grpSp>
        <p:nvGrpSpPr>
          <p:cNvPr id="92" name="グループ化 91">
            <a:extLst>
              <a:ext uri="{FF2B5EF4-FFF2-40B4-BE49-F238E27FC236}">
                <a16:creationId xmlns:a16="http://schemas.microsoft.com/office/drawing/2014/main" id="{6A393568-C5B6-780B-0BAA-A3C498CF7A36}"/>
              </a:ext>
            </a:extLst>
          </p:cNvPr>
          <p:cNvGrpSpPr/>
          <p:nvPr/>
        </p:nvGrpSpPr>
        <p:grpSpPr>
          <a:xfrm>
            <a:off x="9189669" y="4439235"/>
            <a:ext cx="1188721" cy="1631394"/>
            <a:chOff x="1656079" y="3451902"/>
            <a:chExt cx="1188721" cy="1631394"/>
          </a:xfrm>
        </p:grpSpPr>
        <p:pic>
          <p:nvPicPr>
            <p:cNvPr id="77" name="コンテンツ プレースホルダー 4" descr="男性のプロフィール 枠線">
              <a:extLst>
                <a:ext uri="{FF2B5EF4-FFF2-40B4-BE49-F238E27FC236}">
                  <a16:creationId xmlns:a16="http://schemas.microsoft.com/office/drawing/2014/main" id="{E57DCC5D-B1BC-3B20-7EDD-6ABA920F300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656080" y="3451902"/>
              <a:ext cx="1188720" cy="1188720"/>
            </a:xfrm>
            <a:prstGeom prst="rect">
              <a:avLst/>
            </a:prstGeom>
          </p:spPr>
        </p:pic>
        <p:sp>
          <p:nvSpPr>
            <p:cNvPr id="90" name="テキスト ボックス 89">
              <a:extLst>
                <a:ext uri="{FF2B5EF4-FFF2-40B4-BE49-F238E27FC236}">
                  <a16:creationId xmlns:a16="http://schemas.microsoft.com/office/drawing/2014/main" id="{7C842926-65AA-BA17-F405-6C8BE079E0E4}"/>
                </a:ext>
              </a:extLst>
            </p:cNvPr>
            <p:cNvSpPr txBox="1"/>
            <p:nvPr/>
          </p:nvSpPr>
          <p:spPr>
            <a:xfrm>
              <a:off x="1656079" y="4640622"/>
              <a:ext cx="1188721" cy="442674"/>
            </a:xfrm>
            <a:prstGeom prst="roundRect">
              <a:avLst/>
            </a:prstGeom>
            <a:noFill/>
            <a:ln w="19050">
              <a:noFill/>
            </a:ln>
          </p:spPr>
          <p:txBody>
            <a:bodyPr wrap="square" rtlCol="0" anchor="ctr">
              <a:spAutoFit/>
            </a:bodyPr>
            <a:lstStyle/>
            <a:p>
              <a:pPr algn="ctr"/>
              <a:r>
                <a:rPr kumimoji="1" lang="ja-JP" altLang="en-US" sz="2000" b="1" dirty="0"/>
                <a:t>ユーザ</a:t>
              </a:r>
            </a:p>
          </p:txBody>
        </p:sp>
      </p:grpSp>
    </p:spTree>
    <p:extLst>
      <p:ext uri="{BB962C8B-B14F-4D97-AF65-F5344CB8AC3E}">
        <p14:creationId xmlns:p14="http://schemas.microsoft.com/office/powerpoint/2010/main" val="13576815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CBC7E0-2B26-93EF-C9D3-ECC55535D6B3}"/>
              </a:ext>
            </a:extLst>
          </p:cNvPr>
          <p:cNvSpPr>
            <a:spLocks noGrp="1"/>
          </p:cNvSpPr>
          <p:nvPr>
            <p:ph type="title"/>
          </p:nvPr>
        </p:nvSpPr>
        <p:spPr/>
        <p:txBody>
          <a:bodyPr lIns="90000" anchor="ctr" anchorCtr="0"/>
          <a:lstStyle/>
          <a:p>
            <a:r>
              <a:rPr kumimoji="1" lang="ja-JP" altLang="en-US" b="1" dirty="0">
                <a:latin typeface="Meiryo UI" panose="020B0604030504040204" pitchFamily="34" charset="-128"/>
                <a:ea typeface="Meiryo UI" panose="020B0604030504040204" pitchFamily="34" charset="-128"/>
              </a:rPr>
              <a:t>本研究の取り組み</a:t>
            </a:r>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549CCC03-81F3-336D-53DE-2428EF2C3506}"/>
                  </a:ext>
                </a:extLst>
              </p:cNvPr>
              <p:cNvSpPr>
                <a:spLocks noGrp="1"/>
              </p:cNvSpPr>
              <p:nvPr>
                <p:ph idx="1"/>
              </p:nvPr>
            </p:nvSpPr>
            <p:spPr>
              <a:xfrm>
                <a:off x="838200" y="1387424"/>
                <a:ext cx="10515600" cy="3533729"/>
              </a:xfrm>
            </p:spPr>
            <p:txBody>
              <a:bodyPr anchor="ctr" anchorCtr="0">
                <a:normAutofit/>
              </a:bodyPr>
              <a:lstStyle/>
              <a:p>
                <a:pPr marL="457200" indent="-457200">
                  <a:lnSpc>
                    <a:spcPct val="125000"/>
                  </a:lnSpc>
                  <a:buClr>
                    <a:srgbClr val="002060"/>
                  </a:buClr>
                  <a:buFont typeface="Arial" panose="020B0604020202020204" pitchFamily="34" charset="0"/>
                  <a:buChar char="•"/>
                </a:pPr>
                <a:r>
                  <a:rPr kumimoji="1" lang="ja-JP" altLang="en-US" dirty="0">
                    <a:ea typeface="Meiryo UI" panose="020B0604030504040204" pitchFamily="34" charset="-128"/>
                  </a:rPr>
                  <a:t>人間計算可能関数 </a:t>
                </a:r>
                <a14:m>
                  <m:oMath xmlns:m="http://schemas.openxmlformats.org/officeDocument/2006/math">
                    <m:sSub>
                      <m:sSubPr>
                        <m:ctrlPr>
                          <a:rPr kumimoji="1" lang="en-US" altLang="ja-JP" i="1" smtClean="0">
                            <a:latin typeface="Cambria Math" panose="02040503050406030204" pitchFamily="18" charset="0"/>
                            <a:ea typeface="Meiryo UI" panose="020B0604030504040204" pitchFamily="34" charset="-128"/>
                          </a:rPr>
                        </m:ctrlPr>
                      </m:sSubPr>
                      <m:e>
                        <m:r>
                          <a:rPr kumimoji="1" lang="en-US" altLang="ja-JP" b="0" i="1" smtClean="0">
                            <a:latin typeface="Cambria Math" panose="02040503050406030204" pitchFamily="18" charset="0"/>
                            <a:ea typeface="Meiryo UI" panose="020B0604030504040204" pitchFamily="34" charset="-128"/>
                          </a:rPr>
                          <m:t>𝑓</m:t>
                        </m:r>
                      </m:e>
                      <m:sub>
                        <m:r>
                          <a:rPr kumimoji="1" lang="en-US" altLang="ja-JP" b="0" i="1" smtClean="0">
                            <a:latin typeface="Cambria Math" panose="02040503050406030204" pitchFamily="18" charset="0"/>
                            <a:ea typeface="Meiryo UI" panose="020B0604030504040204" pitchFamily="34" charset="-128"/>
                          </a:rPr>
                          <m:t>2,2</m:t>
                        </m:r>
                      </m:sub>
                    </m:sSub>
                    <m:r>
                      <a:rPr lang="ja-JP" altLang="en-US" i="1">
                        <a:latin typeface="Cambria Math" panose="02040503050406030204" pitchFamily="18" charset="0"/>
                      </a:rPr>
                      <m:t>○</m:t>
                    </m:r>
                    <m:r>
                      <a:rPr kumimoji="1" lang="en-US" altLang="ja-JP" b="0" i="1" smtClean="0">
                        <a:latin typeface="Cambria Math" panose="02040503050406030204" pitchFamily="18" charset="0"/>
                        <a:ea typeface="Meiryo UI" panose="020B0604030504040204" pitchFamily="34" charset="-128"/>
                      </a:rPr>
                      <m:t>𝜎</m:t>
                    </m:r>
                  </m:oMath>
                </a14:m>
                <a:r>
                  <a:rPr kumimoji="1" lang="ja-JP" altLang="en-US" dirty="0">
                    <a:ea typeface="Meiryo UI" panose="020B0604030504040204" pitchFamily="34" charset="-128"/>
                  </a:rPr>
                  <a:t> の近似・予測</a:t>
                </a:r>
                <a:endParaRPr kumimoji="1" lang="en-US" altLang="ja-JP" dirty="0">
                  <a:ea typeface="Meiryo UI" panose="020B0604030504040204" pitchFamily="34" charset="-128"/>
                </a:endParaRPr>
              </a:p>
              <a:p>
                <a:pPr marL="457200" indent="-457200">
                  <a:lnSpc>
                    <a:spcPct val="125000"/>
                  </a:lnSpc>
                  <a:buClr>
                    <a:srgbClr val="002060"/>
                  </a:buClr>
                  <a:buFont typeface="Arial" panose="020B0604020202020204" pitchFamily="34" charset="0"/>
                  <a:buChar char="•"/>
                </a:pPr>
                <a:endParaRPr kumimoji="1" lang="en-US" altLang="ja-JP" sz="800" dirty="0">
                  <a:ea typeface="Meiryo UI" panose="020B0604030504040204" pitchFamily="34" charset="-128"/>
                </a:endParaRPr>
              </a:p>
              <a:p>
                <a:pPr marL="457200" lvl="1" indent="0">
                  <a:lnSpc>
                    <a:spcPct val="125000"/>
                  </a:lnSpc>
                  <a:spcBef>
                    <a:spcPts val="1000"/>
                  </a:spcBef>
                  <a:buClr>
                    <a:srgbClr val="002060"/>
                  </a:buClr>
                  <a:buNone/>
                </a:pPr>
                <a:r>
                  <a:rPr lang="ja-JP" altLang="en-US" b="1" dirty="0">
                    <a:latin typeface="Meiryo UI" panose="020B0604030504040204" pitchFamily="34" charset="-128"/>
                    <a:ea typeface="Meiryo UI" panose="020B0604030504040204" pitchFamily="34" charset="-128"/>
                  </a:rPr>
                  <a:t>　　　機械学習を用いた解読に対するパスワードの安全性を検証する。</a:t>
                </a:r>
                <a:endParaRPr lang="en-US" altLang="ja-JP" b="1" dirty="0">
                  <a:latin typeface="Meiryo UI" panose="020B0604030504040204" pitchFamily="34" charset="-128"/>
                  <a:ea typeface="Meiryo UI" panose="020B0604030504040204" pitchFamily="34" charset="-128"/>
                </a:endParaRPr>
              </a:p>
              <a:p>
                <a:pPr marL="457200" lvl="1" indent="0">
                  <a:lnSpc>
                    <a:spcPct val="125000"/>
                  </a:lnSpc>
                  <a:spcBef>
                    <a:spcPts val="1000"/>
                  </a:spcBef>
                  <a:buClr>
                    <a:srgbClr val="002060"/>
                  </a:buClr>
                  <a:buNone/>
                </a:pPr>
                <a:r>
                  <a:rPr kumimoji="1" lang="ja-JP" altLang="en-US" dirty="0">
                    <a:latin typeface="Meiryo UI" panose="020B0604030504040204" pitchFamily="34" charset="-128"/>
                    <a:ea typeface="Meiryo UI" panose="020B0604030504040204" pitchFamily="34" charset="-128"/>
                  </a:rPr>
                  <a:t>　　　関数 </a:t>
                </a:r>
                <a14:m>
                  <m:oMath xmlns:m="http://schemas.openxmlformats.org/officeDocument/2006/math">
                    <m:r>
                      <a:rPr kumimoji="1" lang="en-US" altLang="ja-JP" b="0" i="1" smtClean="0">
                        <a:latin typeface="Cambria Math" panose="02040503050406030204" pitchFamily="18" charset="0"/>
                        <a:ea typeface="Meiryo UI" panose="020B0604030504040204" pitchFamily="34" charset="-128"/>
                      </a:rPr>
                      <m:t>𝜎</m:t>
                    </m:r>
                  </m:oMath>
                </a14:m>
                <a:r>
                  <a:rPr kumimoji="1" lang="ja-JP" altLang="en-US" dirty="0">
                    <a:latin typeface="Meiryo UI" panose="020B0604030504040204" pitchFamily="34" charset="-128"/>
                    <a:ea typeface="Meiryo UI" panose="020B0604030504040204" pitchFamily="34" charset="-128"/>
                  </a:rPr>
                  <a:t> および 関数 </a:t>
                </a:r>
                <a14:m>
                  <m:oMath xmlns:m="http://schemas.openxmlformats.org/officeDocument/2006/math">
                    <m:r>
                      <a:rPr kumimoji="1" lang="en-US" altLang="ja-JP" b="0" i="1" smtClean="0">
                        <a:latin typeface="Cambria Math" panose="02040503050406030204" pitchFamily="18" charset="0"/>
                        <a:ea typeface="Meiryo UI" panose="020B0604030504040204" pitchFamily="34" charset="-128"/>
                      </a:rPr>
                      <m:t>𝑓</m:t>
                    </m:r>
                  </m:oMath>
                </a14:m>
                <a:r>
                  <a:rPr kumimoji="1" lang="en-US" altLang="ja-JP" dirty="0">
                    <a:latin typeface="Meiryo UI" panose="020B0604030504040204" pitchFamily="34" charset="-128"/>
                    <a:ea typeface="Meiryo UI" panose="020B0604030504040204" pitchFamily="34" charset="-128"/>
                  </a:rPr>
                  <a:t> </a:t>
                </a:r>
                <a:r>
                  <a:rPr kumimoji="1" lang="ja-JP" altLang="en-US" dirty="0">
                    <a:latin typeface="Meiryo UI" panose="020B0604030504040204" pitchFamily="34" charset="-128"/>
                    <a:ea typeface="Meiryo UI" panose="020B0604030504040204" pitchFamily="34" charset="-128"/>
                  </a:rPr>
                  <a:t>が未知の状態における予測精度の向上</a:t>
                </a:r>
                <a:endParaRPr lang="en-US" altLang="ja-JP" b="1" dirty="0">
                  <a:latin typeface="Meiryo UI" panose="020B0604030504040204" pitchFamily="34" charset="-128"/>
                  <a:ea typeface="Meiryo UI" panose="020B0604030504040204" pitchFamily="34" charset="-128"/>
                </a:endParaRPr>
              </a:p>
              <a:p>
                <a:pPr marL="457200" lvl="1" indent="0">
                  <a:lnSpc>
                    <a:spcPct val="125000"/>
                  </a:lnSpc>
                  <a:spcBef>
                    <a:spcPts val="1000"/>
                  </a:spcBef>
                  <a:buClr>
                    <a:srgbClr val="002060"/>
                  </a:buClr>
                  <a:buNone/>
                </a:pPr>
                <a:endParaRPr lang="en-US" altLang="ja-JP" sz="800" dirty="0">
                  <a:latin typeface="Meiryo UI" panose="020B0604030504040204" pitchFamily="34" charset="-128"/>
                  <a:ea typeface="Meiryo UI" panose="020B0604030504040204" pitchFamily="34" charset="-128"/>
                </a:endParaRPr>
              </a:p>
              <a:p>
                <a:pPr marL="457200" lvl="1" indent="0">
                  <a:lnSpc>
                    <a:spcPct val="125000"/>
                  </a:lnSpc>
                  <a:spcBef>
                    <a:spcPts val="1000"/>
                  </a:spcBef>
                  <a:buClr>
                    <a:srgbClr val="002060"/>
                  </a:buClr>
                  <a:buNone/>
                </a:pPr>
                <a:r>
                  <a:rPr lang="ja-JP" altLang="en-US" b="1" dirty="0">
                    <a:latin typeface="Meiryo UI" panose="020B0604030504040204" pitchFamily="34" charset="-128"/>
                    <a:ea typeface="Meiryo UI" panose="020B0604030504040204" pitchFamily="34" charset="-128"/>
                  </a:rPr>
                  <a:t>　　　既存研究とは異なる機械学習モデルを用いた予測精度の向上を目指す。</a:t>
                </a:r>
                <a:endParaRPr lang="en-US" altLang="ja-JP" b="1" dirty="0">
                  <a:latin typeface="Meiryo UI" panose="020B0604030504040204" pitchFamily="34" charset="-128"/>
                  <a:ea typeface="Meiryo UI" panose="020B0604030504040204" pitchFamily="34" charset="-128"/>
                </a:endParaRPr>
              </a:p>
            </p:txBody>
          </p:sp>
        </mc:Choice>
        <mc:Fallback xmlns="">
          <p:sp>
            <p:nvSpPr>
              <p:cNvPr id="3" name="コンテンツ プレースホルダー 2">
                <a:extLst>
                  <a:ext uri="{FF2B5EF4-FFF2-40B4-BE49-F238E27FC236}">
                    <a16:creationId xmlns:a16="http://schemas.microsoft.com/office/drawing/2014/main" id="{549CCC03-81F3-336D-53DE-2428EF2C3506}"/>
                  </a:ext>
                </a:extLst>
              </p:cNvPr>
              <p:cNvSpPr>
                <a:spLocks noGrp="1" noRot="1" noChangeAspect="1" noMove="1" noResize="1" noEditPoints="1" noAdjustHandles="1" noChangeArrowheads="1" noChangeShapeType="1" noTextEdit="1"/>
              </p:cNvSpPr>
              <p:nvPr>
                <p:ph idx="1"/>
              </p:nvPr>
            </p:nvSpPr>
            <p:spPr>
              <a:xfrm>
                <a:off x="838200" y="1387424"/>
                <a:ext cx="10515600" cy="3533729"/>
              </a:xfrm>
              <a:blipFill>
                <a:blip r:embed="rId3"/>
                <a:stretch>
                  <a:fillRect l="-1043"/>
                </a:stretch>
              </a:blipFill>
            </p:spPr>
            <p:txBody>
              <a:bodyPr/>
              <a:lstStyle/>
              <a:p>
                <a:r>
                  <a:rPr lang="ja-JP" altLang="en-US">
                    <a:noFill/>
                  </a:rPr>
                  <a:t> </a:t>
                </a:r>
              </a:p>
            </p:txBody>
          </p:sp>
        </mc:Fallback>
      </mc:AlternateContent>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3</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5" name="矢印: 右 4">
            <a:extLst>
              <a:ext uri="{FF2B5EF4-FFF2-40B4-BE49-F238E27FC236}">
                <a16:creationId xmlns:a16="http://schemas.microsoft.com/office/drawing/2014/main" id="{93B36DF0-C096-9D1E-B922-3E4A02CC2B70}"/>
              </a:ext>
            </a:extLst>
          </p:cNvPr>
          <p:cNvSpPr/>
          <p:nvPr/>
        </p:nvSpPr>
        <p:spPr>
          <a:xfrm>
            <a:off x="1442720" y="2790565"/>
            <a:ext cx="325120" cy="31292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矢印: 右 5">
            <a:extLst>
              <a:ext uri="{FF2B5EF4-FFF2-40B4-BE49-F238E27FC236}">
                <a16:creationId xmlns:a16="http://schemas.microsoft.com/office/drawing/2014/main" id="{BB4206DB-BF3D-1D6E-FC5B-C60A970939EE}"/>
              </a:ext>
            </a:extLst>
          </p:cNvPr>
          <p:cNvSpPr/>
          <p:nvPr/>
        </p:nvSpPr>
        <p:spPr>
          <a:xfrm>
            <a:off x="1442720" y="4225867"/>
            <a:ext cx="325120" cy="31292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397089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4</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アイデア：</a:t>
            </a:r>
            <a:r>
              <a:rPr lang="en-US" altLang="ja-JP" b="1" dirty="0"/>
              <a:t>CNN </a:t>
            </a:r>
            <a:r>
              <a:rPr lang="ja-JP" altLang="en-US" b="1" dirty="0"/>
              <a:t>による局所特徴量の学習</a:t>
            </a:r>
            <a:endParaRPr kumimoji="1" lang="ja-JP" altLang="en-US" b="1" dirty="0">
              <a:latin typeface="Meiryo UI" panose="020B0604030504040204" pitchFamily="34" charset="-128"/>
              <a:ea typeface="Meiryo UI" panose="020B0604030504040204" pitchFamily="34" charset="-128"/>
            </a:endParaRPr>
          </a:p>
        </p:txBody>
      </p:sp>
      <mc:AlternateContent xmlns:mc="http://schemas.openxmlformats.org/markup-compatibility/2006" xmlns:a14="http://schemas.microsoft.com/office/drawing/2010/main">
        <mc:Choice Requires="a14">
          <p:sp>
            <p:nvSpPr>
              <p:cNvPr id="13" name="コンテンツ プレースホルダー 2">
                <a:extLst>
                  <a:ext uri="{FF2B5EF4-FFF2-40B4-BE49-F238E27FC236}">
                    <a16:creationId xmlns:a16="http://schemas.microsoft.com/office/drawing/2014/main" id="{84EA6AF3-166D-13AA-C51F-B5EDD273FA00}"/>
                  </a:ext>
                </a:extLst>
              </p:cNvPr>
              <p:cNvSpPr>
                <a:spLocks noGrp="1"/>
              </p:cNvSpPr>
              <p:nvPr>
                <p:ph idx="1"/>
              </p:nvPr>
            </p:nvSpPr>
            <p:spPr>
              <a:xfrm>
                <a:off x="838200" y="1414737"/>
                <a:ext cx="10515600" cy="2328000"/>
              </a:xfrm>
            </p:spPr>
            <p:txBody>
              <a:bodyPr anchor="ctr" anchorCtr="0">
                <a:normAutofit/>
              </a:bodyPr>
              <a:lstStyle/>
              <a:p>
                <a:pPr marL="457200" indent="-457200">
                  <a:lnSpc>
                    <a:spcPct val="150000"/>
                  </a:lnSpc>
                  <a:buClr>
                    <a:srgbClr val="002060"/>
                  </a:buClr>
                  <a:buFont typeface="Arial" panose="020B0604020202020204" pitchFamily="34" charset="0"/>
                  <a:buChar char="•"/>
                </a:pPr>
                <a:r>
                  <a:rPr lang="ja-JP" altLang="en-US" b="1" dirty="0"/>
                  <a:t>畳み込みニューラルネットワーク（</a:t>
                </a:r>
                <a:r>
                  <a:rPr lang="en-US" altLang="ja-JP" b="1" dirty="0"/>
                  <a:t>CNN</a:t>
                </a:r>
                <a:r>
                  <a:rPr lang="ja-JP" altLang="en-US" b="1" dirty="0"/>
                  <a:t>）</a:t>
                </a:r>
                <a:endParaRPr lang="en-US" altLang="ja-JP" sz="800" dirty="0"/>
              </a:p>
              <a:p>
                <a:pPr marL="1143000" lvl="1" indent="-457200">
                  <a:lnSpc>
                    <a:spcPct val="150000"/>
                  </a:lnSpc>
                  <a:buClr>
                    <a:srgbClr val="002060"/>
                  </a:buClr>
                </a:pPr>
                <a:r>
                  <a:rPr kumimoji="1" lang="ja-JP" altLang="en-US" dirty="0">
                    <a:latin typeface="Meiryo UI" panose="020B0604030504040204" pitchFamily="34" charset="-128"/>
                    <a:ea typeface="Meiryo UI" panose="020B0604030504040204" pitchFamily="34" charset="-128"/>
                  </a:rPr>
                  <a:t>データの局所的な関係性を学習するモデル</a:t>
                </a:r>
                <a:endParaRPr kumimoji="1" lang="en-US" altLang="ja-JP" dirty="0">
                  <a:latin typeface="Meiryo UI" panose="020B0604030504040204" pitchFamily="34" charset="-128"/>
                  <a:ea typeface="Meiryo UI" panose="020B0604030504040204" pitchFamily="34" charset="-128"/>
                </a:endParaRPr>
              </a:p>
              <a:p>
                <a:pPr lvl="1" indent="0">
                  <a:lnSpc>
                    <a:spcPct val="150000"/>
                  </a:lnSpc>
                  <a:buClr>
                    <a:srgbClr val="002060"/>
                  </a:buClr>
                  <a:buNone/>
                </a:pPr>
                <a:r>
                  <a:rPr lang="ja-JP" altLang="en-US" dirty="0">
                    <a:latin typeface="Meiryo UI" panose="020B0604030504040204" pitchFamily="34" charset="-128"/>
                    <a:ea typeface="Meiryo UI" panose="020B0604030504040204" pitchFamily="34" charset="-128"/>
                  </a:rPr>
                  <a:t>　　　関数 </a:t>
                </a:r>
                <a14:m>
                  <m:oMath xmlns:m="http://schemas.openxmlformats.org/officeDocument/2006/math">
                    <m:r>
                      <a:rPr lang="en-US" altLang="ja-JP" b="0" i="1" smtClean="0">
                        <a:latin typeface="Cambria Math" panose="02040503050406030204" pitchFamily="18" charset="0"/>
                        <a:ea typeface="Meiryo UI" panose="020B0604030504040204" pitchFamily="34" charset="-128"/>
                      </a:rPr>
                      <m:t>𝑓</m:t>
                    </m:r>
                  </m:oMath>
                </a14:m>
                <a:r>
                  <a:rPr lang="ja-JP" altLang="en-US" dirty="0">
                    <a:latin typeface="Meiryo UI" panose="020B0604030504040204" pitchFamily="34" charset="-128"/>
                    <a:ea typeface="Meiryo UI" panose="020B0604030504040204" pitchFamily="34" charset="-128"/>
                  </a:rPr>
                  <a:t> の局所性を近似できるのでは？</a:t>
                </a:r>
                <a:endParaRPr kumimoji="1" lang="en-US" altLang="ja-JP" dirty="0">
                  <a:latin typeface="Meiryo UI" panose="020B0604030504040204" pitchFamily="34" charset="-128"/>
                  <a:ea typeface="Meiryo UI" panose="020B0604030504040204" pitchFamily="34" charset="-128"/>
                </a:endParaRPr>
              </a:p>
            </p:txBody>
          </p:sp>
        </mc:Choice>
        <mc:Fallback xmlns="">
          <p:sp>
            <p:nvSpPr>
              <p:cNvPr id="13" name="コンテンツ プレースホルダー 2">
                <a:extLst>
                  <a:ext uri="{FF2B5EF4-FFF2-40B4-BE49-F238E27FC236}">
                    <a16:creationId xmlns:a16="http://schemas.microsoft.com/office/drawing/2014/main" id="{84EA6AF3-166D-13AA-C51F-B5EDD273FA00}"/>
                  </a:ext>
                </a:extLst>
              </p:cNvPr>
              <p:cNvSpPr>
                <a:spLocks noGrp="1" noRot="1" noChangeAspect="1" noMove="1" noResize="1" noEditPoints="1" noAdjustHandles="1" noChangeArrowheads="1" noChangeShapeType="1" noTextEdit="1"/>
              </p:cNvSpPr>
              <p:nvPr>
                <p:ph idx="1"/>
              </p:nvPr>
            </p:nvSpPr>
            <p:spPr>
              <a:xfrm>
                <a:off x="838200" y="1414737"/>
                <a:ext cx="10515600" cy="2328000"/>
              </a:xfrm>
              <a:blipFill>
                <a:blip r:embed="rId3"/>
                <a:stretch>
                  <a:fillRect l="-1043"/>
                </a:stretch>
              </a:blipFill>
            </p:spPr>
            <p:txBody>
              <a:bodyPr/>
              <a:lstStyle/>
              <a:p>
                <a:r>
                  <a:rPr lang="ja-JP" altLang="en-US">
                    <a:noFill/>
                  </a:rPr>
                  <a:t> </a:t>
                </a:r>
              </a:p>
            </p:txBody>
          </p:sp>
        </mc:Fallback>
      </mc:AlternateContent>
      <p:sp>
        <p:nvSpPr>
          <p:cNvPr id="39" name="矢印: 右 38">
            <a:extLst>
              <a:ext uri="{FF2B5EF4-FFF2-40B4-BE49-F238E27FC236}">
                <a16:creationId xmlns:a16="http://schemas.microsoft.com/office/drawing/2014/main" id="{EB278630-FD52-B9D4-882A-FCC28E5577AA}"/>
              </a:ext>
            </a:extLst>
          </p:cNvPr>
          <p:cNvSpPr/>
          <p:nvPr/>
        </p:nvSpPr>
        <p:spPr>
          <a:xfrm>
            <a:off x="1554479" y="3141943"/>
            <a:ext cx="325120" cy="312923"/>
          </a:xfrm>
          <a:prstGeom prst="rightArrow">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1" name="グループ化 40">
            <a:extLst>
              <a:ext uri="{FF2B5EF4-FFF2-40B4-BE49-F238E27FC236}">
                <a16:creationId xmlns:a16="http://schemas.microsoft.com/office/drawing/2014/main" id="{2B4B0564-A47F-BE5E-A81C-B91997652F52}"/>
              </a:ext>
            </a:extLst>
          </p:cNvPr>
          <p:cNvGrpSpPr/>
          <p:nvPr/>
        </p:nvGrpSpPr>
        <p:grpSpPr>
          <a:xfrm>
            <a:off x="3213039" y="3742737"/>
            <a:ext cx="5765922" cy="2853351"/>
            <a:chOff x="2935269" y="3072840"/>
            <a:chExt cx="5765922" cy="2853351"/>
          </a:xfrm>
        </p:grpSpPr>
        <p:sp>
          <p:nvSpPr>
            <p:cNvPr id="42" name="Google Shape;178;p5">
              <a:extLst>
                <a:ext uri="{FF2B5EF4-FFF2-40B4-BE49-F238E27FC236}">
                  <a16:creationId xmlns:a16="http://schemas.microsoft.com/office/drawing/2014/main" id="{ABEFCFEE-493C-936F-7E88-919FD331D8F6}"/>
                </a:ext>
              </a:extLst>
            </p:cNvPr>
            <p:cNvSpPr txBox="1"/>
            <p:nvPr/>
          </p:nvSpPr>
          <p:spPr>
            <a:xfrm rot="5400000">
              <a:off x="3013318" y="4597090"/>
              <a:ext cx="209402" cy="36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sz="1800" dirty="0">
                  <a:solidFill>
                    <a:schemeClr val="dk1"/>
                  </a:solidFill>
                  <a:latin typeface="Meiryo UI" panose="020B0604030504040204" pitchFamily="34" charset="-128"/>
                  <a:ea typeface="Meiryo UI" panose="020B0604030504040204" pitchFamily="34" charset="-128"/>
                  <a:cs typeface="Calibri"/>
                  <a:sym typeface="Calibri"/>
                </a:rPr>
                <a:t>…</a:t>
              </a:r>
              <a:endParaRPr sz="1800" dirty="0">
                <a:solidFill>
                  <a:schemeClr val="dk1"/>
                </a:solidFill>
                <a:latin typeface="Meiryo UI" panose="020B0604030504040204" pitchFamily="34" charset="-128"/>
                <a:ea typeface="Meiryo UI" panose="020B0604030504040204" pitchFamily="34" charset="-128"/>
                <a:cs typeface="Calibri"/>
                <a:sym typeface="Calibri"/>
              </a:endParaRPr>
            </a:p>
          </p:txBody>
        </p:sp>
        <p:cxnSp>
          <p:nvCxnSpPr>
            <p:cNvPr id="43" name="Google Shape;184;p5">
              <a:extLst>
                <a:ext uri="{FF2B5EF4-FFF2-40B4-BE49-F238E27FC236}">
                  <a16:creationId xmlns:a16="http://schemas.microsoft.com/office/drawing/2014/main" id="{41FCE3C6-EA8E-DA71-5E5F-035CE6584161}"/>
                </a:ext>
              </a:extLst>
            </p:cNvPr>
            <p:cNvCxnSpPr/>
            <p:nvPr/>
          </p:nvCxnSpPr>
          <p:spPr>
            <a:xfrm>
              <a:off x="3552922" y="3801396"/>
              <a:ext cx="482882" cy="0"/>
            </a:xfrm>
            <a:prstGeom prst="straightConnector1">
              <a:avLst/>
            </a:prstGeom>
            <a:noFill/>
            <a:ln w="19050" cap="flat" cmpd="sng">
              <a:solidFill>
                <a:schemeClr val="dk1"/>
              </a:solidFill>
              <a:prstDash val="solid"/>
              <a:miter lim="800000"/>
              <a:headEnd type="none" w="sm" len="sm"/>
              <a:tailEnd type="triangle" w="med" len="med"/>
            </a:ln>
          </p:spPr>
        </p:cxnSp>
        <p:cxnSp>
          <p:nvCxnSpPr>
            <p:cNvPr id="44" name="Google Shape;186;p5">
              <a:extLst>
                <a:ext uri="{FF2B5EF4-FFF2-40B4-BE49-F238E27FC236}">
                  <a16:creationId xmlns:a16="http://schemas.microsoft.com/office/drawing/2014/main" id="{0ADFCF09-AEC0-574A-5987-C94A91875D8A}"/>
                </a:ext>
              </a:extLst>
            </p:cNvPr>
            <p:cNvCxnSpPr/>
            <p:nvPr/>
          </p:nvCxnSpPr>
          <p:spPr>
            <a:xfrm>
              <a:off x="3552922" y="3337560"/>
              <a:ext cx="482882" cy="0"/>
            </a:xfrm>
            <a:prstGeom prst="straightConnector1">
              <a:avLst/>
            </a:prstGeom>
            <a:noFill/>
            <a:ln w="19050" cap="flat" cmpd="sng">
              <a:solidFill>
                <a:schemeClr val="dk1"/>
              </a:solidFill>
              <a:prstDash val="solid"/>
              <a:miter lim="800000"/>
              <a:headEnd type="none" w="sm" len="sm"/>
              <a:tailEnd type="triangle" w="med" len="med"/>
            </a:ln>
          </p:spPr>
        </p:cxnSp>
        <p:sp>
          <p:nvSpPr>
            <p:cNvPr id="45" name="Google Shape;187;p5">
              <a:extLst>
                <a:ext uri="{FF2B5EF4-FFF2-40B4-BE49-F238E27FC236}">
                  <a16:creationId xmlns:a16="http://schemas.microsoft.com/office/drawing/2014/main" id="{F9AF0F83-9C87-0202-94B8-CEB2F4F0B878}"/>
                </a:ext>
              </a:extLst>
            </p:cNvPr>
            <p:cNvSpPr txBox="1"/>
            <p:nvPr/>
          </p:nvSpPr>
          <p:spPr>
            <a:xfrm>
              <a:off x="4035804" y="3130008"/>
              <a:ext cx="1735040" cy="2314833"/>
            </a:xfrm>
            <a:prstGeom prst="rect">
              <a:avLst/>
            </a:prstGeom>
            <a:noFill/>
            <a:ln w="28575" cap="flat" cmpd="sng">
              <a:solidFill>
                <a:schemeClr val="accent1"/>
              </a:solidFill>
              <a:prstDash val="solid"/>
              <a:miter lim="800000"/>
              <a:headEnd type="none" w="sm" len="sm"/>
              <a:tailEnd type="none" w="sm" len="sm"/>
            </a:ln>
          </p:spPr>
          <p:txBody>
            <a:bodyPr spcFirstLastPara="1" wrap="square" lIns="91425" tIns="45700" rIns="91425" bIns="45700" anchor="ctr" anchorCtr="0">
              <a:spAutoFit/>
            </a:bodyPr>
            <a:lstStyle/>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cxnSp>
          <p:nvCxnSpPr>
            <p:cNvPr id="46" name="Google Shape;188;p5">
              <a:extLst>
                <a:ext uri="{FF2B5EF4-FFF2-40B4-BE49-F238E27FC236}">
                  <a16:creationId xmlns:a16="http://schemas.microsoft.com/office/drawing/2014/main" id="{BFF592E6-3C6C-3E9C-8C70-E1B0AB59266D}"/>
                </a:ext>
              </a:extLst>
            </p:cNvPr>
            <p:cNvCxnSpPr/>
            <p:nvPr/>
          </p:nvCxnSpPr>
          <p:spPr>
            <a:xfrm>
              <a:off x="5786856" y="4286503"/>
              <a:ext cx="702181" cy="0"/>
            </a:xfrm>
            <a:prstGeom prst="straightConnector1">
              <a:avLst/>
            </a:prstGeom>
            <a:noFill/>
            <a:ln w="19050" cap="flat" cmpd="sng">
              <a:solidFill>
                <a:schemeClr val="dk1"/>
              </a:solidFill>
              <a:prstDash val="solid"/>
              <a:miter lim="800000"/>
              <a:headEnd type="none" w="sm" len="sm"/>
              <a:tailEnd type="triangle" w="med" len="med"/>
            </a:ln>
          </p:spPr>
        </p:cxnSp>
        <p:sp>
          <p:nvSpPr>
            <p:cNvPr id="47" name="Google Shape;193;p5">
              <a:extLst>
                <a:ext uri="{FF2B5EF4-FFF2-40B4-BE49-F238E27FC236}">
                  <a16:creationId xmlns:a16="http://schemas.microsoft.com/office/drawing/2014/main" id="{F87EE9AC-2998-986B-F169-5C25272175EC}"/>
                </a:ext>
              </a:extLst>
            </p:cNvPr>
            <p:cNvSpPr txBox="1"/>
            <p:nvPr/>
          </p:nvSpPr>
          <p:spPr>
            <a:xfrm>
              <a:off x="4341121" y="5526121"/>
              <a:ext cx="1124406" cy="40007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000" dirty="0">
                  <a:latin typeface="Meiryo UI" panose="020B0604030504040204" pitchFamily="50" charset="-128"/>
                  <a:ea typeface="Meiryo UI" panose="020B0604030504040204" pitchFamily="50" charset="-128"/>
                </a:rPr>
                <a:t>CNN</a:t>
              </a:r>
              <a:endParaRPr sz="2000" dirty="0">
                <a:latin typeface="Meiryo UI" panose="020B0604030504040204" pitchFamily="50" charset="-128"/>
                <a:ea typeface="Meiryo UI" panose="020B0604030504040204" pitchFamily="50" charset="-128"/>
              </a:endParaRPr>
            </a:p>
          </p:txBody>
        </p:sp>
        <p:sp>
          <p:nvSpPr>
            <p:cNvPr id="48" name="Google Shape;195;p5">
              <a:extLst>
                <a:ext uri="{FF2B5EF4-FFF2-40B4-BE49-F238E27FC236}">
                  <a16:creationId xmlns:a16="http://schemas.microsoft.com/office/drawing/2014/main" id="{F215C48C-BF42-30BC-8019-0F5102C1E16E}"/>
                </a:ext>
              </a:extLst>
            </p:cNvPr>
            <p:cNvSpPr/>
            <p:nvPr/>
          </p:nvSpPr>
          <p:spPr>
            <a:xfrm>
              <a:off x="3672190" y="3339772"/>
              <a:ext cx="653507" cy="461624"/>
            </a:xfrm>
            <a:prstGeom prst="arc">
              <a:avLst>
                <a:gd name="adj1" fmla="val 17261166"/>
                <a:gd name="adj2" fmla="val 4270726"/>
              </a:avLst>
            </a:prstGeom>
            <a:noFill/>
            <a:ln w="9525" cap="flat" cmpd="sng">
              <a:solidFill>
                <a:schemeClr val="bg1">
                  <a:lumMod val="65000"/>
                </a:schemeClr>
              </a:solidFill>
              <a:prstDash val="solid"/>
              <a:miter lim="800000"/>
              <a:headEnd type="triangle"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49" name="Google Shape;193;p5">
                  <a:extLst>
                    <a:ext uri="{FF2B5EF4-FFF2-40B4-BE49-F238E27FC236}">
                      <a16:creationId xmlns:a16="http://schemas.microsoft.com/office/drawing/2014/main" id="{FEF01BBD-57A8-AF07-7C5D-A6DBA16D0A49}"/>
                    </a:ext>
                  </a:extLst>
                </p:cNvPr>
                <p:cNvSpPr txBox="1"/>
                <p:nvPr/>
              </p:nvSpPr>
              <p:spPr>
                <a:xfrm>
                  <a:off x="2935269" y="3072840"/>
                  <a:ext cx="482882" cy="46162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14:m>
                    <m:oMathPara xmlns:m="http://schemas.openxmlformats.org/officeDocument/2006/math">
                      <m:oMathParaPr>
                        <m:jc m:val="center"/>
                      </m:oMathParaPr>
                      <m:oMath xmlns:m="http://schemas.openxmlformats.org/officeDocument/2006/math">
                        <m:sSub>
                          <m:sSubPr>
                            <m:ctrlPr>
                              <a:rPr lang="en-US" altLang="ja-JP" sz="240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0</m:t>
                            </m:r>
                          </m:sub>
                        </m:sSub>
                      </m:oMath>
                    </m:oMathPara>
                  </a14:m>
                  <a:endParaRPr sz="2400" dirty="0">
                    <a:latin typeface="Meiryo UI" panose="020B0604030504040204" pitchFamily="34" charset="-128"/>
                    <a:ea typeface="Meiryo UI" panose="020B0604030504040204" pitchFamily="34" charset="-128"/>
                  </a:endParaRPr>
                </a:p>
              </p:txBody>
            </p:sp>
          </mc:Choice>
          <mc:Fallback xmlns="">
            <p:sp>
              <p:nvSpPr>
                <p:cNvPr id="49" name="Google Shape;193;p5">
                  <a:extLst>
                    <a:ext uri="{FF2B5EF4-FFF2-40B4-BE49-F238E27FC236}">
                      <a16:creationId xmlns:a16="http://schemas.microsoft.com/office/drawing/2014/main" id="{FEF01BBD-57A8-AF07-7C5D-A6DBA16D0A49}"/>
                    </a:ext>
                  </a:extLst>
                </p:cNvPr>
                <p:cNvSpPr txBox="1">
                  <a:spLocks noRot="1" noChangeAspect="1" noMove="1" noResize="1" noEditPoints="1" noAdjustHandles="1" noChangeArrowheads="1" noChangeShapeType="1" noTextEdit="1"/>
                </p:cNvSpPr>
                <p:nvPr/>
              </p:nvSpPr>
              <p:spPr>
                <a:xfrm>
                  <a:off x="2935269" y="3072840"/>
                  <a:ext cx="482882" cy="461624"/>
                </a:xfrm>
                <a:prstGeom prst="rect">
                  <a:avLst/>
                </a:prstGeom>
                <a:blipFill>
                  <a:blip r:embed="rId4"/>
                  <a:stretch>
                    <a:fillRect b="-3947"/>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0" name="Google Shape;193;p5">
                  <a:extLst>
                    <a:ext uri="{FF2B5EF4-FFF2-40B4-BE49-F238E27FC236}">
                      <a16:creationId xmlns:a16="http://schemas.microsoft.com/office/drawing/2014/main" id="{D6B5718F-ECD7-05D3-E885-F149971B2ABE}"/>
                    </a:ext>
                  </a:extLst>
                </p:cNvPr>
                <p:cNvSpPr txBox="1"/>
                <p:nvPr/>
              </p:nvSpPr>
              <p:spPr>
                <a:xfrm>
                  <a:off x="2935269" y="3524304"/>
                  <a:ext cx="482882" cy="46162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14:m>
                    <m:oMathPara xmlns:m="http://schemas.openxmlformats.org/officeDocument/2006/math">
                      <m:oMathParaPr>
                        <m:jc m:val="center"/>
                      </m:oMathParaPr>
                      <m:oMath xmlns:m="http://schemas.openxmlformats.org/officeDocument/2006/math">
                        <m:sSub>
                          <m:sSubPr>
                            <m:ctrlPr>
                              <a:rPr lang="en-US" altLang="ja-JP" sz="240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1</m:t>
                            </m:r>
                          </m:sub>
                        </m:sSub>
                      </m:oMath>
                    </m:oMathPara>
                  </a14:m>
                  <a:endParaRPr sz="2400" dirty="0">
                    <a:latin typeface="Meiryo UI" panose="020B0604030504040204" pitchFamily="34" charset="-128"/>
                    <a:ea typeface="Meiryo UI" panose="020B0604030504040204" pitchFamily="34" charset="-128"/>
                  </a:endParaRPr>
                </a:p>
              </p:txBody>
            </p:sp>
          </mc:Choice>
          <mc:Fallback xmlns="">
            <p:sp>
              <p:nvSpPr>
                <p:cNvPr id="50" name="Google Shape;193;p5">
                  <a:extLst>
                    <a:ext uri="{FF2B5EF4-FFF2-40B4-BE49-F238E27FC236}">
                      <a16:creationId xmlns:a16="http://schemas.microsoft.com/office/drawing/2014/main" id="{D6B5718F-ECD7-05D3-E885-F149971B2ABE}"/>
                    </a:ext>
                  </a:extLst>
                </p:cNvPr>
                <p:cNvSpPr txBox="1">
                  <a:spLocks noRot="1" noChangeAspect="1" noMove="1" noResize="1" noEditPoints="1" noAdjustHandles="1" noChangeArrowheads="1" noChangeShapeType="1" noTextEdit="1"/>
                </p:cNvSpPr>
                <p:nvPr/>
              </p:nvSpPr>
              <p:spPr>
                <a:xfrm>
                  <a:off x="2935269" y="3524304"/>
                  <a:ext cx="482882" cy="461624"/>
                </a:xfrm>
                <a:prstGeom prst="rect">
                  <a:avLst/>
                </a:prstGeom>
                <a:blipFill>
                  <a:blip r:embed="rId5"/>
                  <a:stretch>
                    <a:fillRect b="-3947"/>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1" name="Google Shape;193;p5">
                  <a:extLst>
                    <a:ext uri="{FF2B5EF4-FFF2-40B4-BE49-F238E27FC236}">
                      <a16:creationId xmlns:a16="http://schemas.microsoft.com/office/drawing/2014/main" id="{0AAFD266-E926-F41C-6E7E-01EC8517CFE7}"/>
                    </a:ext>
                  </a:extLst>
                </p:cNvPr>
                <p:cNvSpPr txBox="1"/>
                <p:nvPr/>
              </p:nvSpPr>
              <p:spPr>
                <a:xfrm>
                  <a:off x="2936343" y="4983217"/>
                  <a:ext cx="482882" cy="46162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14:m>
                    <m:oMathPara xmlns:m="http://schemas.openxmlformats.org/officeDocument/2006/math">
                      <m:oMathParaPr>
                        <m:jc m:val="center"/>
                      </m:oMathParaPr>
                      <m:oMath xmlns:m="http://schemas.openxmlformats.org/officeDocument/2006/math">
                        <m:sSub>
                          <m:sSubPr>
                            <m:ctrlPr>
                              <a:rPr lang="en-US" altLang="ja-JP" sz="240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13</m:t>
                            </m:r>
                          </m:sub>
                        </m:sSub>
                      </m:oMath>
                    </m:oMathPara>
                  </a14:m>
                  <a:endParaRPr sz="2400" dirty="0">
                    <a:latin typeface="Meiryo UI" panose="020B0604030504040204" pitchFamily="34" charset="-128"/>
                    <a:ea typeface="Meiryo UI" panose="020B0604030504040204" pitchFamily="34" charset="-128"/>
                  </a:endParaRPr>
                </a:p>
              </p:txBody>
            </p:sp>
          </mc:Choice>
          <mc:Fallback xmlns="">
            <p:sp>
              <p:nvSpPr>
                <p:cNvPr id="51" name="Google Shape;193;p5">
                  <a:extLst>
                    <a:ext uri="{FF2B5EF4-FFF2-40B4-BE49-F238E27FC236}">
                      <a16:creationId xmlns:a16="http://schemas.microsoft.com/office/drawing/2014/main" id="{0AAFD266-E926-F41C-6E7E-01EC8517CFE7}"/>
                    </a:ext>
                  </a:extLst>
                </p:cNvPr>
                <p:cNvSpPr txBox="1">
                  <a:spLocks noRot="1" noChangeAspect="1" noMove="1" noResize="1" noEditPoints="1" noAdjustHandles="1" noChangeArrowheads="1" noChangeShapeType="1" noTextEdit="1"/>
                </p:cNvSpPr>
                <p:nvPr/>
              </p:nvSpPr>
              <p:spPr>
                <a:xfrm>
                  <a:off x="2936343" y="4983217"/>
                  <a:ext cx="482882" cy="461624"/>
                </a:xfrm>
                <a:prstGeom prst="rect">
                  <a:avLst/>
                </a:prstGeom>
                <a:blipFill>
                  <a:blip r:embed="rId6"/>
                  <a:stretch>
                    <a:fillRect r="-20253" b="-3947"/>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52" name="Google Shape;193;p5">
                  <a:extLst>
                    <a:ext uri="{FF2B5EF4-FFF2-40B4-BE49-F238E27FC236}">
                      <a16:creationId xmlns:a16="http://schemas.microsoft.com/office/drawing/2014/main" id="{94EF63ED-A276-DC12-70F3-D436558E6C74}"/>
                    </a:ext>
                  </a:extLst>
                </p:cNvPr>
                <p:cNvSpPr txBox="1"/>
                <p:nvPr/>
              </p:nvSpPr>
              <p:spPr>
                <a:xfrm>
                  <a:off x="6599053" y="4047579"/>
                  <a:ext cx="2102138" cy="477847"/>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14:m>
                    <m:oMathPara xmlns:m="http://schemas.openxmlformats.org/officeDocument/2006/math">
                      <m:oMathParaPr>
                        <m:jc m:val="center"/>
                      </m:oMathParaPr>
                      <m:oMath xmlns:m="http://schemas.openxmlformats.org/officeDocument/2006/math">
                        <m:sSub>
                          <m:sSubPr>
                            <m:ctrlPr>
                              <a:rPr lang="en-US" altLang="ja-JP" sz="240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𝑓</m:t>
                            </m:r>
                          </m:e>
                          <m:sub>
                            <m:r>
                              <a:rPr lang="en-US" altLang="ja-JP" sz="2400" b="0" i="1" smtClean="0">
                                <a:latin typeface="Cambria Math" panose="02040503050406030204" pitchFamily="18" charset="0"/>
                                <a:ea typeface="Meiryo UI" panose="020B0604030504040204" pitchFamily="34" charset="-128"/>
                              </a:rPr>
                              <m:t>2,2</m:t>
                            </m:r>
                          </m:sub>
                        </m:sSub>
                        <m:r>
                          <a:rPr lang="en-US" altLang="ja-JP" sz="2400" b="0" i="1" smtClean="0">
                            <a:latin typeface="Cambria Math" panose="02040503050406030204" pitchFamily="18" charset="0"/>
                            <a:ea typeface="Meiryo UI" panose="020B0604030504040204" pitchFamily="34" charset="-128"/>
                          </a:rPr>
                          <m:t>(</m:t>
                        </m:r>
                        <m:sSub>
                          <m:sSubPr>
                            <m:ctrlPr>
                              <a:rPr lang="en-US" altLang="ja-JP" sz="2400" b="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0</m:t>
                            </m:r>
                          </m:sub>
                        </m:sSub>
                        <m:r>
                          <a:rPr lang="en-US" altLang="ja-JP" sz="2400" b="0" i="1" smtClean="0">
                            <a:latin typeface="Cambria Math" panose="02040503050406030204" pitchFamily="18" charset="0"/>
                            <a:ea typeface="Meiryo UI" panose="020B0604030504040204" pitchFamily="34" charset="-128"/>
                          </a:rPr>
                          <m:t>,…,</m:t>
                        </m:r>
                        <m:sSub>
                          <m:sSubPr>
                            <m:ctrlPr>
                              <a:rPr lang="en-US" altLang="ja-JP" sz="2400" b="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13</m:t>
                            </m:r>
                          </m:sub>
                        </m:sSub>
                        <m:r>
                          <a:rPr lang="en-US" altLang="ja-JP" sz="2400" b="0" i="1" smtClean="0">
                            <a:latin typeface="Cambria Math" panose="02040503050406030204" pitchFamily="18" charset="0"/>
                            <a:ea typeface="Meiryo UI" panose="020B0604030504040204" pitchFamily="34" charset="-128"/>
                          </a:rPr>
                          <m:t>)</m:t>
                        </m:r>
                      </m:oMath>
                    </m:oMathPara>
                  </a14:m>
                  <a:endParaRPr sz="2400" dirty="0">
                    <a:latin typeface="Meiryo UI" panose="020B0604030504040204" pitchFamily="34" charset="-128"/>
                    <a:ea typeface="Meiryo UI" panose="020B0604030504040204" pitchFamily="34" charset="-128"/>
                  </a:endParaRPr>
                </a:p>
              </p:txBody>
            </p:sp>
          </mc:Choice>
          <mc:Fallback xmlns="">
            <p:sp>
              <p:nvSpPr>
                <p:cNvPr id="52" name="Google Shape;193;p5">
                  <a:extLst>
                    <a:ext uri="{FF2B5EF4-FFF2-40B4-BE49-F238E27FC236}">
                      <a16:creationId xmlns:a16="http://schemas.microsoft.com/office/drawing/2014/main" id="{94EF63ED-A276-DC12-70F3-D436558E6C74}"/>
                    </a:ext>
                  </a:extLst>
                </p:cNvPr>
                <p:cNvSpPr txBox="1">
                  <a:spLocks noRot="1" noChangeAspect="1" noMove="1" noResize="1" noEditPoints="1" noAdjustHandles="1" noChangeArrowheads="1" noChangeShapeType="1" noTextEdit="1"/>
                </p:cNvSpPr>
                <p:nvPr/>
              </p:nvSpPr>
              <p:spPr>
                <a:xfrm>
                  <a:off x="6599053" y="4047579"/>
                  <a:ext cx="2102138" cy="477847"/>
                </a:xfrm>
                <a:prstGeom prst="rect">
                  <a:avLst/>
                </a:prstGeom>
                <a:blipFill>
                  <a:blip r:embed="rId7"/>
                  <a:stretch>
                    <a:fillRect l="-2319" r="-2899" b="-15385"/>
                  </a:stretch>
                </a:blipFill>
                <a:ln>
                  <a:noFill/>
                </a:ln>
              </p:spPr>
              <p:txBody>
                <a:bodyPr/>
                <a:lstStyle/>
                <a:p>
                  <a:r>
                    <a:rPr lang="ja-JP" altLang="en-US">
                      <a:noFill/>
                    </a:rPr>
                    <a:t> </a:t>
                  </a:r>
                </a:p>
              </p:txBody>
            </p:sp>
          </mc:Fallback>
        </mc:AlternateContent>
        <p:cxnSp>
          <p:nvCxnSpPr>
            <p:cNvPr id="53" name="Google Shape;184;p5">
              <a:extLst>
                <a:ext uri="{FF2B5EF4-FFF2-40B4-BE49-F238E27FC236}">
                  <a16:creationId xmlns:a16="http://schemas.microsoft.com/office/drawing/2014/main" id="{14CD2CC8-19B9-C104-0F10-1C00DF80BDC6}"/>
                </a:ext>
              </a:extLst>
            </p:cNvPr>
            <p:cNvCxnSpPr/>
            <p:nvPr/>
          </p:nvCxnSpPr>
          <p:spPr>
            <a:xfrm>
              <a:off x="3552922" y="5254669"/>
              <a:ext cx="482882" cy="0"/>
            </a:xfrm>
            <a:prstGeom prst="straightConnector1">
              <a:avLst/>
            </a:prstGeom>
            <a:noFill/>
            <a:ln w="19050" cap="flat" cmpd="sng">
              <a:solidFill>
                <a:schemeClr val="dk1"/>
              </a:solidFill>
              <a:prstDash val="solid"/>
              <a:miter lim="800000"/>
              <a:headEnd type="none" w="sm" len="sm"/>
              <a:tailEnd type="triangle" w="med" len="med"/>
            </a:ln>
          </p:spPr>
        </p:cxnSp>
        <mc:AlternateContent xmlns:mc="http://schemas.openxmlformats.org/markup-compatibility/2006" xmlns:a14="http://schemas.microsoft.com/office/drawing/2010/main">
          <mc:Choice Requires="a14">
            <p:sp>
              <p:nvSpPr>
                <p:cNvPr id="54" name="Google Shape;193;p5">
                  <a:extLst>
                    <a:ext uri="{FF2B5EF4-FFF2-40B4-BE49-F238E27FC236}">
                      <a16:creationId xmlns:a16="http://schemas.microsoft.com/office/drawing/2014/main" id="{B1B8AAEE-071F-D494-F778-0D1EEAC26E07}"/>
                    </a:ext>
                  </a:extLst>
                </p:cNvPr>
                <p:cNvSpPr txBox="1"/>
                <p:nvPr/>
              </p:nvSpPr>
              <p:spPr>
                <a:xfrm>
                  <a:off x="2935269" y="3996088"/>
                  <a:ext cx="482882" cy="461624"/>
                </a:xfrm>
                <a:prstGeom prst="rect">
                  <a:avLst/>
                </a:prstGeom>
                <a:noFill/>
                <a:ln>
                  <a:noFill/>
                </a:ln>
              </p:spPr>
              <p:txBody>
                <a:bodyPr spcFirstLastPara="1" wrap="square" lIns="91425" tIns="45700" rIns="91425" bIns="45700" anchor="ctr" anchorCtr="0">
                  <a:spAutoFit/>
                </a:bodyPr>
                <a:lstStyle/>
                <a:p>
                  <a:pPr marL="0" marR="0" lvl="0" indent="0" algn="l" rtl="0">
                    <a:spcBef>
                      <a:spcPts val="0"/>
                    </a:spcBef>
                    <a:spcAft>
                      <a:spcPts val="0"/>
                    </a:spcAft>
                    <a:buNone/>
                  </a:pPr>
                  <a14:m>
                    <m:oMathPara xmlns:m="http://schemas.openxmlformats.org/officeDocument/2006/math">
                      <m:oMathParaPr>
                        <m:jc m:val="center"/>
                      </m:oMathParaPr>
                      <m:oMath xmlns:m="http://schemas.openxmlformats.org/officeDocument/2006/math">
                        <m:sSub>
                          <m:sSubPr>
                            <m:ctrlPr>
                              <a:rPr lang="en-US" altLang="ja-JP" sz="2400" i="1" smtClean="0">
                                <a:latin typeface="Cambria Math" panose="02040503050406030204" pitchFamily="18" charset="0"/>
                                <a:ea typeface="Meiryo UI" panose="020B0604030504040204" pitchFamily="34" charset="-128"/>
                              </a:rPr>
                            </m:ctrlPr>
                          </m:sSubPr>
                          <m:e>
                            <m:r>
                              <a:rPr lang="en-US" altLang="ja-JP" sz="2400" b="0" i="1" smtClean="0">
                                <a:latin typeface="Cambria Math" panose="02040503050406030204" pitchFamily="18" charset="0"/>
                                <a:ea typeface="Meiryo UI" panose="020B0604030504040204" pitchFamily="34" charset="-128"/>
                              </a:rPr>
                              <m:t>𝑥</m:t>
                            </m:r>
                          </m:e>
                          <m:sub>
                            <m:r>
                              <a:rPr lang="en-US" altLang="ja-JP" sz="2400" b="0" i="1" smtClean="0">
                                <a:latin typeface="Cambria Math" panose="02040503050406030204" pitchFamily="18" charset="0"/>
                                <a:ea typeface="Meiryo UI" panose="020B0604030504040204" pitchFamily="34" charset="-128"/>
                              </a:rPr>
                              <m:t>2</m:t>
                            </m:r>
                          </m:sub>
                        </m:sSub>
                      </m:oMath>
                    </m:oMathPara>
                  </a14:m>
                  <a:endParaRPr sz="2400" dirty="0">
                    <a:latin typeface="Meiryo UI" panose="020B0604030504040204" pitchFamily="34" charset="-128"/>
                    <a:ea typeface="Meiryo UI" panose="020B0604030504040204" pitchFamily="34" charset="-128"/>
                  </a:endParaRPr>
                </a:p>
              </p:txBody>
            </p:sp>
          </mc:Choice>
          <mc:Fallback xmlns="">
            <p:sp>
              <p:nvSpPr>
                <p:cNvPr id="54" name="Google Shape;193;p5">
                  <a:extLst>
                    <a:ext uri="{FF2B5EF4-FFF2-40B4-BE49-F238E27FC236}">
                      <a16:creationId xmlns:a16="http://schemas.microsoft.com/office/drawing/2014/main" id="{B1B8AAEE-071F-D494-F778-0D1EEAC26E07}"/>
                    </a:ext>
                  </a:extLst>
                </p:cNvPr>
                <p:cNvSpPr txBox="1">
                  <a:spLocks noRot="1" noChangeAspect="1" noMove="1" noResize="1" noEditPoints="1" noAdjustHandles="1" noChangeArrowheads="1" noChangeShapeType="1" noTextEdit="1"/>
                </p:cNvSpPr>
                <p:nvPr/>
              </p:nvSpPr>
              <p:spPr>
                <a:xfrm>
                  <a:off x="2935269" y="3996088"/>
                  <a:ext cx="482882" cy="461624"/>
                </a:xfrm>
                <a:prstGeom prst="rect">
                  <a:avLst/>
                </a:prstGeom>
                <a:blipFill>
                  <a:blip r:embed="rId8"/>
                  <a:stretch>
                    <a:fillRect b="-3947"/>
                  </a:stretch>
                </a:blipFill>
                <a:ln>
                  <a:noFill/>
                </a:ln>
              </p:spPr>
              <p:txBody>
                <a:bodyPr/>
                <a:lstStyle/>
                <a:p>
                  <a:r>
                    <a:rPr lang="ja-JP" altLang="en-US">
                      <a:noFill/>
                    </a:rPr>
                    <a:t> </a:t>
                  </a:r>
                </a:p>
              </p:txBody>
            </p:sp>
          </mc:Fallback>
        </mc:AlternateContent>
        <p:cxnSp>
          <p:nvCxnSpPr>
            <p:cNvPr id="55" name="Google Shape;184;p5">
              <a:extLst>
                <a:ext uri="{FF2B5EF4-FFF2-40B4-BE49-F238E27FC236}">
                  <a16:creationId xmlns:a16="http://schemas.microsoft.com/office/drawing/2014/main" id="{CAD4869C-E1C5-CFD5-658F-F6DB883718EB}"/>
                </a:ext>
              </a:extLst>
            </p:cNvPr>
            <p:cNvCxnSpPr/>
            <p:nvPr/>
          </p:nvCxnSpPr>
          <p:spPr>
            <a:xfrm>
              <a:off x="3552922" y="4266182"/>
              <a:ext cx="482882" cy="0"/>
            </a:xfrm>
            <a:prstGeom prst="straightConnector1">
              <a:avLst/>
            </a:prstGeom>
            <a:noFill/>
            <a:ln w="19050" cap="flat" cmpd="sng">
              <a:solidFill>
                <a:schemeClr val="dk1"/>
              </a:solidFill>
              <a:prstDash val="solid"/>
              <a:miter lim="800000"/>
              <a:headEnd type="none" w="sm" len="sm"/>
              <a:tailEnd type="triangle" w="med" len="med"/>
            </a:ln>
          </p:spPr>
        </p:cxnSp>
        <p:sp>
          <p:nvSpPr>
            <p:cNvPr id="56" name="Google Shape;195;p5">
              <a:extLst>
                <a:ext uri="{FF2B5EF4-FFF2-40B4-BE49-F238E27FC236}">
                  <a16:creationId xmlns:a16="http://schemas.microsoft.com/office/drawing/2014/main" id="{4DC3EBA8-BE90-7772-66D6-A2EBACEC4096}"/>
                </a:ext>
              </a:extLst>
            </p:cNvPr>
            <p:cNvSpPr/>
            <p:nvPr/>
          </p:nvSpPr>
          <p:spPr>
            <a:xfrm>
              <a:off x="3176710" y="3341505"/>
              <a:ext cx="1481848" cy="922990"/>
            </a:xfrm>
            <a:prstGeom prst="arc">
              <a:avLst>
                <a:gd name="adj1" fmla="val 17261166"/>
                <a:gd name="adj2" fmla="val 4270726"/>
              </a:avLst>
            </a:prstGeom>
            <a:noFill/>
            <a:ln w="9525" cap="flat" cmpd="sng">
              <a:solidFill>
                <a:schemeClr val="bg1">
                  <a:lumMod val="65000"/>
                </a:schemeClr>
              </a:solidFill>
              <a:prstDash val="solid"/>
              <a:miter lim="800000"/>
              <a:headEnd type="triangle"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7" name="Google Shape;195;p5">
              <a:extLst>
                <a:ext uri="{FF2B5EF4-FFF2-40B4-BE49-F238E27FC236}">
                  <a16:creationId xmlns:a16="http://schemas.microsoft.com/office/drawing/2014/main" id="{C6D59148-ADC4-AB56-DCC9-092F1EF21E3B}"/>
                </a:ext>
              </a:extLst>
            </p:cNvPr>
            <p:cNvSpPr/>
            <p:nvPr/>
          </p:nvSpPr>
          <p:spPr>
            <a:xfrm>
              <a:off x="3672190" y="3804604"/>
              <a:ext cx="653507" cy="461624"/>
            </a:xfrm>
            <a:prstGeom prst="arc">
              <a:avLst>
                <a:gd name="adj1" fmla="val 17261166"/>
                <a:gd name="adj2" fmla="val 4270726"/>
              </a:avLst>
            </a:prstGeom>
            <a:noFill/>
            <a:ln w="9525" cap="flat" cmpd="sng">
              <a:solidFill>
                <a:schemeClr val="bg1">
                  <a:lumMod val="65000"/>
                </a:schemeClr>
              </a:solidFill>
              <a:prstDash val="solid"/>
              <a:miter lim="800000"/>
              <a:headEnd type="triangle"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178;p5">
              <a:extLst>
                <a:ext uri="{FF2B5EF4-FFF2-40B4-BE49-F238E27FC236}">
                  <a16:creationId xmlns:a16="http://schemas.microsoft.com/office/drawing/2014/main" id="{0A69CDAF-C19F-FB47-7CD4-607ADE8796E3}"/>
                </a:ext>
              </a:extLst>
            </p:cNvPr>
            <p:cNvSpPr txBox="1"/>
            <p:nvPr/>
          </p:nvSpPr>
          <p:spPr>
            <a:xfrm rot="5400000">
              <a:off x="3630971" y="4597090"/>
              <a:ext cx="209402" cy="365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ja-JP" sz="1800" dirty="0">
                  <a:solidFill>
                    <a:schemeClr val="dk1"/>
                  </a:solidFill>
                  <a:latin typeface="Meiryo UI" panose="020B0604030504040204" pitchFamily="34" charset="-128"/>
                  <a:ea typeface="Meiryo UI" panose="020B0604030504040204" pitchFamily="34" charset="-128"/>
                  <a:cs typeface="Calibri"/>
                  <a:sym typeface="Calibri"/>
                </a:rPr>
                <a:t>…</a:t>
              </a:r>
              <a:endParaRPr sz="1800" dirty="0">
                <a:solidFill>
                  <a:schemeClr val="dk1"/>
                </a:solidFill>
                <a:latin typeface="Meiryo UI" panose="020B0604030504040204" pitchFamily="34" charset="-128"/>
                <a:ea typeface="Meiryo UI" panose="020B0604030504040204" pitchFamily="34" charset="-128"/>
                <a:cs typeface="Calibri"/>
                <a:sym typeface="Calibri"/>
              </a:endParaRPr>
            </a:p>
          </p:txBody>
        </p:sp>
        <p:sp>
          <p:nvSpPr>
            <p:cNvPr id="59" name="Google Shape;195;p5">
              <a:extLst>
                <a:ext uri="{FF2B5EF4-FFF2-40B4-BE49-F238E27FC236}">
                  <a16:creationId xmlns:a16="http://schemas.microsoft.com/office/drawing/2014/main" id="{9502A331-1F94-57AD-3881-8E72696AC9AF}"/>
                </a:ext>
              </a:extLst>
            </p:cNvPr>
            <p:cNvSpPr/>
            <p:nvPr/>
          </p:nvSpPr>
          <p:spPr>
            <a:xfrm>
              <a:off x="3672190" y="4266137"/>
              <a:ext cx="653507" cy="461624"/>
            </a:xfrm>
            <a:prstGeom prst="arc">
              <a:avLst>
                <a:gd name="adj1" fmla="val 17261166"/>
                <a:gd name="adj2" fmla="val 4270726"/>
              </a:avLst>
            </a:prstGeom>
            <a:noFill/>
            <a:ln w="9525" cap="flat" cmpd="sng">
              <a:solidFill>
                <a:schemeClr val="bg1">
                  <a:lumMod val="65000"/>
                </a:schemeClr>
              </a:solidFill>
              <a:prstDash val="solid"/>
              <a:miter lim="800000"/>
              <a:headEnd type="triangle"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60" name="Google Shape;195;p5">
              <a:extLst>
                <a:ext uri="{FF2B5EF4-FFF2-40B4-BE49-F238E27FC236}">
                  <a16:creationId xmlns:a16="http://schemas.microsoft.com/office/drawing/2014/main" id="{C57BBDDE-0648-5CAE-A98A-2559A69423AC}"/>
                </a:ext>
              </a:extLst>
            </p:cNvPr>
            <p:cNvSpPr/>
            <p:nvPr/>
          </p:nvSpPr>
          <p:spPr>
            <a:xfrm>
              <a:off x="3176424" y="3806207"/>
              <a:ext cx="1481848" cy="922990"/>
            </a:xfrm>
            <a:prstGeom prst="arc">
              <a:avLst>
                <a:gd name="adj1" fmla="val 17261166"/>
                <a:gd name="adj2" fmla="val 4270726"/>
              </a:avLst>
            </a:prstGeom>
            <a:noFill/>
            <a:ln w="9525" cap="flat" cmpd="sng">
              <a:solidFill>
                <a:schemeClr val="bg1">
                  <a:lumMod val="65000"/>
                </a:schemeClr>
              </a:solidFill>
              <a:prstDash val="solid"/>
              <a:miter lim="800000"/>
              <a:headEnd type="triangle" w="med" len="med"/>
              <a:tailEnd type="triangle" w="med" len="med"/>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grpSp>
    </p:spTree>
    <p:extLst>
      <p:ext uri="{BB962C8B-B14F-4D97-AF65-F5344CB8AC3E}">
        <p14:creationId xmlns:p14="http://schemas.microsoft.com/office/powerpoint/2010/main" val="11911260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5</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アイデア：</a:t>
            </a:r>
            <a:r>
              <a:rPr lang="en-US" altLang="ja-JP" b="1" dirty="0"/>
              <a:t>CNN </a:t>
            </a:r>
            <a:r>
              <a:rPr lang="ja-JP" altLang="en-US" b="1" dirty="0"/>
              <a:t>による局所特徴量の学習</a:t>
            </a:r>
            <a:endParaRPr kumimoji="1" lang="ja-JP" altLang="en-US" b="1" dirty="0">
              <a:latin typeface="Meiryo UI" panose="020B0604030504040204" pitchFamily="34" charset="-128"/>
              <a:ea typeface="Meiryo UI" panose="020B0604030504040204" pitchFamily="34" charset="-128"/>
            </a:endParaRPr>
          </a:p>
        </p:txBody>
      </p:sp>
      <mc:AlternateContent xmlns:mc="http://schemas.openxmlformats.org/markup-compatibility/2006" xmlns:a14="http://schemas.microsoft.com/office/drawing/2010/main">
        <mc:Choice Requires="a14">
          <p:sp>
            <p:nvSpPr>
              <p:cNvPr id="15" name="コンテンツ プレースホルダー 2">
                <a:extLst>
                  <a:ext uri="{FF2B5EF4-FFF2-40B4-BE49-F238E27FC236}">
                    <a16:creationId xmlns:a16="http://schemas.microsoft.com/office/drawing/2014/main" id="{E50CBCF8-BB5F-43EA-E9F6-1AEEE74BAB61}"/>
                  </a:ext>
                </a:extLst>
              </p:cNvPr>
              <p:cNvSpPr txBox="1">
                <a:spLocks/>
              </p:cNvSpPr>
              <p:nvPr/>
            </p:nvSpPr>
            <p:spPr>
              <a:xfrm>
                <a:off x="1520260" y="2286808"/>
                <a:ext cx="10515600" cy="1325563"/>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25000"/>
                  </a:lnSpc>
                  <a:buClr>
                    <a:srgbClr val="002060"/>
                  </a:buClr>
                  <a:buFont typeface="Arial" panose="020B0604020202020204" pitchFamily="34" charset="0"/>
                  <a:buChar char="•"/>
                </a:pPr>
                <a:r>
                  <a:rPr lang="ja-JP" altLang="en-US" sz="2400" dirty="0"/>
                  <a:t>一部の入力（ </a:t>
                </a:r>
                <a14:m>
                  <m:oMath xmlns:m="http://schemas.openxmlformats.org/officeDocument/2006/math">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𝑗</m:t>
                        </m:r>
                      </m:sub>
                    </m:sSub>
                    <m:r>
                      <a:rPr lang="en-US" altLang="ja-JP" sz="2400" b="0" i="1" smtClean="0">
                        <a:latin typeface="Cambria Math" panose="02040503050406030204" pitchFamily="18" charset="0"/>
                      </a:rPr>
                      <m:t>,</m:t>
                    </m:r>
                    <m:sSub>
                      <m:sSubPr>
                        <m:ctrlPr>
                          <a:rPr lang="en-US" altLang="ja-JP" sz="2400" b="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10</m:t>
                        </m:r>
                      </m:sub>
                    </m:sSub>
                    <m:r>
                      <a:rPr lang="en-US" altLang="ja-JP" sz="2400" b="0" i="1" smtClean="0">
                        <a:latin typeface="Cambria Math" panose="02040503050406030204" pitchFamily="18" charset="0"/>
                      </a:rPr>
                      <m:t>,</m:t>
                    </m:r>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11</m:t>
                        </m:r>
                      </m:sub>
                    </m:sSub>
                    <m:r>
                      <a:rPr lang="en-US" altLang="ja-JP" sz="2400" b="0" i="1" smtClean="0">
                        <a:latin typeface="Cambria Math" panose="02040503050406030204" pitchFamily="18" charset="0"/>
                      </a:rPr>
                      <m:t>,</m:t>
                    </m:r>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12</m:t>
                        </m:r>
                      </m:sub>
                    </m:sSub>
                    <m:r>
                      <a:rPr lang="en-US" altLang="ja-JP" sz="2400" b="0" i="1" smtClean="0">
                        <a:latin typeface="Cambria Math" panose="02040503050406030204" pitchFamily="18" charset="0"/>
                      </a:rPr>
                      <m:t>,</m:t>
                    </m:r>
                    <m:sSub>
                      <m:sSubPr>
                        <m:ctrlPr>
                          <a:rPr lang="en-US" altLang="ja-JP" sz="2400" i="1" smtClean="0">
                            <a:latin typeface="Cambria Math" panose="02040503050406030204" pitchFamily="18" charset="0"/>
                          </a:rPr>
                        </m:ctrlPr>
                      </m:sSubPr>
                      <m:e>
                        <m:r>
                          <a:rPr lang="en-US" altLang="ja-JP" sz="2400" b="0" i="1" smtClean="0">
                            <a:latin typeface="Cambria Math" panose="02040503050406030204" pitchFamily="18" charset="0"/>
                          </a:rPr>
                          <m:t>𝑥</m:t>
                        </m:r>
                      </m:e>
                      <m:sub>
                        <m:r>
                          <a:rPr lang="en-US" altLang="ja-JP" sz="2400" b="0" i="1" smtClean="0">
                            <a:latin typeface="Cambria Math" panose="02040503050406030204" pitchFamily="18" charset="0"/>
                          </a:rPr>
                          <m:t>13</m:t>
                        </m:r>
                      </m:sub>
                    </m:sSub>
                  </m:oMath>
                </a14:m>
                <a:r>
                  <a:rPr lang="ja-JP" altLang="en-US" sz="2400" dirty="0"/>
                  <a:t> ）が支配的（＝ 局所特徴量）</a:t>
                </a:r>
                <a:endParaRPr lang="en-US" altLang="ja-JP" sz="2400" dirty="0"/>
              </a:p>
              <a:p>
                <a:pPr marL="342900" indent="-342900">
                  <a:lnSpc>
                    <a:spcPct val="125000"/>
                  </a:lnSpc>
                  <a:buClr>
                    <a:srgbClr val="002060"/>
                  </a:buClr>
                  <a:buFont typeface="Arial" panose="020B0604020202020204" pitchFamily="34" charset="0"/>
                  <a:buChar char="•"/>
                </a:pPr>
                <a:r>
                  <a:rPr lang="ja-JP" altLang="en-US" sz="2400" dirty="0"/>
                  <a:t>すべての入力が、出力に対して一様に影響を与えるわけではない</a:t>
                </a:r>
                <a:endParaRPr lang="en-US" altLang="ja-JP" sz="2400" dirty="0"/>
              </a:p>
            </p:txBody>
          </p:sp>
        </mc:Choice>
        <mc:Fallback xmlns="">
          <p:sp>
            <p:nvSpPr>
              <p:cNvPr id="15" name="コンテンツ プレースホルダー 2">
                <a:extLst>
                  <a:ext uri="{FF2B5EF4-FFF2-40B4-BE49-F238E27FC236}">
                    <a16:creationId xmlns:a16="http://schemas.microsoft.com/office/drawing/2014/main" id="{E50CBCF8-BB5F-43EA-E9F6-1AEEE74BAB61}"/>
                  </a:ext>
                </a:extLst>
              </p:cNvPr>
              <p:cNvSpPr txBox="1">
                <a:spLocks noRot="1" noChangeAspect="1" noMove="1" noResize="1" noEditPoints="1" noAdjustHandles="1" noChangeArrowheads="1" noChangeShapeType="1" noTextEdit="1"/>
              </p:cNvSpPr>
              <p:nvPr/>
            </p:nvSpPr>
            <p:spPr>
              <a:xfrm>
                <a:off x="1520260" y="2286808"/>
                <a:ext cx="10515600" cy="1325563"/>
              </a:xfrm>
              <a:prstGeom prst="rect">
                <a:avLst/>
              </a:prstGeom>
              <a:blipFill>
                <a:blip r:embed="rId3"/>
                <a:stretch>
                  <a:fillRect l="-754" b="-2294"/>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9" name="コンテンツ プレースホルダー 2">
                <a:extLst>
                  <a:ext uri="{FF2B5EF4-FFF2-40B4-BE49-F238E27FC236}">
                    <a16:creationId xmlns:a16="http://schemas.microsoft.com/office/drawing/2014/main" id="{AE622A18-A556-B692-2455-D334BB13B4FA}"/>
                  </a:ext>
                </a:extLst>
              </p:cNvPr>
              <p:cNvSpPr txBox="1">
                <a:spLocks/>
              </p:cNvSpPr>
              <p:nvPr/>
            </p:nvSpPr>
            <p:spPr>
              <a:xfrm>
                <a:off x="838200" y="1343617"/>
                <a:ext cx="10515600" cy="1325564"/>
              </a:xfrm>
              <a:prstGeom prst="rect">
                <a:avLst/>
              </a:prstGeom>
            </p:spPr>
            <p:txBody>
              <a:bodyPr vert="horz" lIns="91440" tIns="45720" rIns="91440" bIns="45720" rtlCol="0" anchor="ctr" anchorCtr="0">
                <a:normAutofit/>
              </a:bodyPr>
              <a:lstStyle>
                <a:lvl1pPr marL="0" indent="0" algn="l" defTabSz="914400" rtl="0" eaLnBrk="1" latinLnBrk="0" hangingPunct="1">
                  <a:lnSpc>
                    <a:spcPct val="90000"/>
                  </a:lnSpc>
                  <a:spcBef>
                    <a:spcPts val="1000"/>
                  </a:spcBef>
                  <a:buFont typeface="Arial" panose="020B0604020202020204" pitchFamily="34" charset="0"/>
                  <a:buNone/>
                  <a:defRPr kumimoji="1" sz="2800" kern="1200">
                    <a:solidFill>
                      <a:schemeClr val="tx1"/>
                    </a:solidFill>
                    <a:latin typeface="Meiryo UI" panose="020B0604030504040204" pitchFamily="34" charset="-128"/>
                    <a:ea typeface="Meiryo UI"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342900" indent="-342900">
                  <a:lnSpc>
                    <a:spcPct val="125000"/>
                  </a:lnSpc>
                  <a:buClr>
                    <a:srgbClr val="002060"/>
                  </a:buClr>
                  <a:buFont typeface="Arial" panose="020B0604020202020204" pitchFamily="34" charset="0"/>
                  <a:buChar char="•"/>
                </a:pPr>
                <a:r>
                  <a:rPr lang="ja-JP" altLang="en-US" b="1" dirty="0"/>
                  <a:t> 関数 </a:t>
                </a:r>
                <a14:m>
                  <m:oMath xmlns:m="http://schemas.openxmlformats.org/officeDocument/2006/math">
                    <m:r>
                      <a:rPr lang="en-US" altLang="ja-JP" b="1" i="1" smtClean="0">
                        <a:latin typeface="Cambria Math" panose="02040503050406030204" pitchFamily="18" charset="0"/>
                      </a:rPr>
                      <m:t>𝒇</m:t>
                    </m:r>
                  </m:oMath>
                </a14:m>
                <a:r>
                  <a:rPr lang="ja-JP" altLang="en-US" b="1" dirty="0"/>
                  <a:t> の局所性とは？</a:t>
                </a:r>
                <a:endParaRPr lang="en-US" altLang="ja-JP" b="1" dirty="0"/>
              </a:p>
            </p:txBody>
          </p:sp>
        </mc:Choice>
        <mc:Fallback xmlns="">
          <p:sp>
            <p:nvSpPr>
              <p:cNvPr id="29" name="コンテンツ プレースホルダー 2">
                <a:extLst>
                  <a:ext uri="{FF2B5EF4-FFF2-40B4-BE49-F238E27FC236}">
                    <a16:creationId xmlns:a16="http://schemas.microsoft.com/office/drawing/2014/main" id="{AE622A18-A556-B692-2455-D334BB13B4FA}"/>
                  </a:ext>
                </a:extLst>
              </p:cNvPr>
              <p:cNvSpPr txBox="1">
                <a:spLocks noRot="1" noChangeAspect="1" noMove="1" noResize="1" noEditPoints="1" noAdjustHandles="1" noChangeArrowheads="1" noChangeShapeType="1" noTextEdit="1"/>
              </p:cNvSpPr>
              <p:nvPr/>
            </p:nvSpPr>
            <p:spPr>
              <a:xfrm>
                <a:off x="838200" y="1343617"/>
                <a:ext cx="10515600" cy="1325564"/>
              </a:xfrm>
              <a:prstGeom prst="rect">
                <a:avLst/>
              </a:prstGeom>
              <a:blipFill>
                <a:blip r:embed="rId4"/>
                <a:stretch>
                  <a:fillRect l="-1043"/>
                </a:stretch>
              </a:blipFill>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2" name="テキスト ボックス 1">
                <a:extLst>
                  <a:ext uri="{FF2B5EF4-FFF2-40B4-BE49-F238E27FC236}">
                    <a16:creationId xmlns:a16="http://schemas.microsoft.com/office/drawing/2014/main" id="{F8738DDE-52F7-93E8-262E-DFEF678DE62F}"/>
                  </a:ext>
                </a:extLst>
              </p:cNvPr>
              <p:cNvSpPr txBox="1"/>
              <p:nvPr/>
            </p:nvSpPr>
            <p:spPr>
              <a:xfrm>
                <a:off x="838200" y="4384209"/>
                <a:ext cx="10515600" cy="531877"/>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2400" b="1" i="1" smtClean="0">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𝒇</m:t>
                          </m:r>
                        </m:e>
                        <m:sub>
                          <m:r>
                            <a:rPr lang="en-US" altLang="ja-JP" sz="2400" b="1" i="0" smtClean="0">
                              <a:effectLst/>
                              <a:latin typeface="Cambria Math" panose="02040503050406030204" pitchFamily="18" charset="0"/>
                            </a:rPr>
                            <m:t>𝟐</m:t>
                          </m:r>
                          <m:r>
                            <a:rPr lang="ja-JP" altLang="en-US" sz="2400" b="1" i="0">
                              <a:effectLst/>
                              <a:latin typeface="Cambria Math" panose="02040503050406030204" pitchFamily="18" charset="0"/>
                            </a:rPr>
                            <m:t>,</m:t>
                          </m:r>
                          <m:r>
                            <a:rPr lang="en-US" altLang="ja-JP" sz="2400" b="1" i="1" smtClean="0">
                              <a:effectLst/>
                              <a:latin typeface="Cambria Math" panose="02040503050406030204" pitchFamily="18" charset="0"/>
                            </a:rPr>
                            <m:t>𝟐</m:t>
                          </m:r>
                          <m:r>
                            <a:rPr lang="ja-JP" altLang="en-US" sz="2400" b="1" i="1" smtClean="0">
                              <a:solidFill>
                                <a:srgbClr val="836967"/>
                              </a:solidFill>
                              <a:effectLst/>
                              <a:latin typeface="Cambria Math" panose="02040503050406030204" pitchFamily="18" charset="0"/>
                            </a:rPr>
                            <m:t> </m:t>
                          </m:r>
                        </m:sub>
                      </m:sSub>
                      <m:d>
                        <m:dPr>
                          <m:ctrlPr>
                            <a:rPr lang="ja-JP" altLang="en-US" sz="2400" b="1" i="1">
                              <a:solidFill>
                                <a:srgbClr val="836967"/>
                              </a:solidFill>
                              <a:effectLst/>
                              <a:latin typeface="Cambria Math" panose="02040503050406030204" pitchFamily="18" charset="0"/>
                            </a:rPr>
                          </m:ctrlPr>
                        </m:dPr>
                        <m:e>
                          <m:r>
                            <a:rPr lang="en-US" altLang="ja-JP" sz="2400" b="1" i="1" smtClean="0">
                              <a:solidFill>
                                <a:srgbClr val="836967"/>
                              </a:solidFill>
                              <a:effectLst/>
                              <a:latin typeface="Cambria Math" panose="02040503050406030204" pitchFamily="18" charset="0"/>
                            </a:rPr>
                            <m:t> </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ja-JP" altLang="en-US" sz="2400" b="1" i="0">
                                  <a:effectLst/>
                                  <a:latin typeface="Cambria Math" panose="02040503050406030204" pitchFamily="18" charset="0"/>
                                </a:rPr>
                                <m:t>𝟎</m:t>
                              </m:r>
                            </m:sub>
                          </m:sSub>
                          <m:r>
                            <a:rPr lang="ja-JP" altLang="en-US" sz="2400" b="1" i="0">
                              <a:effectLst/>
                              <a:latin typeface="Cambria Math" panose="02040503050406030204" pitchFamily="18" charset="0"/>
                            </a:rPr>
                            <m:t>,…,</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en-US" altLang="ja-JP" sz="2400" b="1" i="1" smtClean="0">
                                  <a:effectLst/>
                                  <a:latin typeface="Cambria Math" panose="02040503050406030204" pitchFamily="18" charset="0"/>
                                </a:rPr>
                                <m:t>𝟏𝟑</m:t>
                              </m:r>
                            </m:sub>
                          </m:sSub>
                          <m:r>
                            <a:rPr lang="en-US" altLang="ja-JP" sz="2400" b="1" i="1" smtClean="0">
                              <a:effectLst/>
                              <a:latin typeface="Cambria Math" panose="02040503050406030204" pitchFamily="18" charset="0"/>
                            </a:rPr>
                            <m:t> </m:t>
                          </m:r>
                        </m:e>
                      </m:d>
                      <m:r>
                        <a:rPr lang="ja-JP" altLang="en-US" sz="2400" b="1" i="0">
                          <a:effectLst/>
                          <a:latin typeface="Cambria Math" panose="02040503050406030204" pitchFamily="18" charset="0"/>
                        </a:rPr>
                        <m:t>=</m:t>
                      </m:r>
                      <m:sSub>
                        <m:sSubPr>
                          <m:ctrlPr>
                            <a:rPr lang="ja-JP" altLang="en-US" sz="2400" b="1" i="1">
                              <a:solidFill>
                                <a:srgbClr val="836967"/>
                              </a:solidFill>
                              <a:effectLst/>
                              <a:latin typeface="Cambria Math" panose="02040503050406030204" pitchFamily="18" charset="0"/>
                            </a:rPr>
                          </m:ctrlPr>
                        </m:sSubPr>
                        <m:e>
                          <m:r>
                            <a:rPr lang="ja-JP" altLang="en-US" sz="2400" b="1" i="1">
                              <a:effectLst/>
                              <a:latin typeface="Cambria Math" panose="02040503050406030204" pitchFamily="18" charset="0"/>
                            </a:rPr>
                            <m:t>𝒙</m:t>
                          </m:r>
                        </m:e>
                        <m:sub>
                          <m:r>
                            <a:rPr lang="ja-JP" altLang="en-US" sz="2400" b="1" i="1">
                              <a:effectLst/>
                              <a:latin typeface="Cambria Math" panose="02040503050406030204" pitchFamily="18" charset="0"/>
                            </a:rPr>
                            <m:t>𝒋</m:t>
                          </m:r>
                        </m:sub>
                      </m:sSub>
                      <m:r>
                        <a:rPr lang="ja-JP" altLang="en-US" sz="2400" b="1" i="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𝟏𝟐</m:t>
                          </m:r>
                        </m:sub>
                      </m:sSub>
                      <m:r>
                        <a:rPr lang="en-US" altLang="ja-JP" sz="2400" b="1" i="1" smtClean="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𝟏𝟑</m:t>
                          </m:r>
                        </m:sub>
                      </m:sSub>
                      <m:r>
                        <a:rPr lang="ja-JP" altLang="en-US" sz="2400" b="1" i="0">
                          <a:effectLst/>
                          <a:latin typeface="Cambria Math" panose="02040503050406030204" pitchFamily="18" charset="0"/>
                        </a:rPr>
                        <m:t> </m:t>
                      </m:r>
                      <m:r>
                        <a:rPr lang="ja-JP" altLang="en-US" sz="2400" b="1" i="1">
                          <a:effectLst/>
                          <a:latin typeface="Cambria Math" panose="02040503050406030204" pitchFamily="18" charset="0"/>
                        </a:rPr>
                        <m:t>𝒎𝒐𝒅</m:t>
                      </m:r>
                      <m:r>
                        <a:rPr lang="ja-JP" altLang="en-US" sz="2400" b="1" i="0">
                          <a:effectLst/>
                          <a:latin typeface="Cambria Math" panose="02040503050406030204" pitchFamily="18" charset="0"/>
                        </a:rPr>
                        <m:t> </m:t>
                      </m:r>
                      <m:r>
                        <a:rPr lang="ja-JP" altLang="en-US" sz="2400" b="1" i="0">
                          <a:effectLst/>
                          <a:latin typeface="Cambria Math" panose="02040503050406030204" pitchFamily="18" charset="0"/>
                        </a:rPr>
                        <m:t>𝟏𝟎</m:t>
                      </m:r>
                      <m:r>
                        <a:rPr lang="ja-JP" altLang="en-US" sz="2400" b="1" i="0">
                          <a:effectLst/>
                          <a:latin typeface="Cambria Math" panose="02040503050406030204" pitchFamily="18" charset="0"/>
                        </a:rPr>
                        <m:t>　</m:t>
                      </m:r>
                      <m:r>
                        <a:rPr lang="ja-JP" altLang="en-US" sz="2400" b="1" i="1">
                          <a:latin typeface="Cambria Math" panose="02040503050406030204" pitchFamily="18" charset="0"/>
                        </a:rPr>
                        <m:t>ただし、</m:t>
                      </m:r>
                      <m:r>
                        <a:rPr lang="ja-JP" altLang="en-US" sz="2400" b="1" i="1">
                          <a:effectLst/>
                          <a:latin typeface="Cambria Math" panose="02040503050406030204" pitchFamily="18" charset="0"/>
                        </a:rPr>
                        <m:t>𝒋</m:t>
                      </m:r>
                      <m:r>
                        <a:rPr lang="ja-JP" altLang="en-US" sz="2400" b="1" i="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𝟏𝟎</m:t>
                          </m:r>
                        </m:sub>
                      </m:sSub>
                      <m:r>
                        <a:rPr lang="en-US" altLang="ja-JP" sz="2400" b="1" i="1" smtClean="0">
                          <a:effectLst/>
                          <a:latin typeface="Cambria Math" panose="02040503050406030204" pitchFamily="18" charset="0"/>
                        </a:rPr>
                        <m:t>+</m:t>
                      </m:r>
                      <m:sSub>
                        <m:sSubPr>
                          <m:ctrlPr>
                            <a:rPr lang="en-US" altLang="ja-JP" sz="2400" b="1" i="1" smtClean="0">
                              <a:effectLst/>
                              <a:latin typeface="Cambria Math" panose="02040503050406030204" pitchFamily="18" charset="0"/>
                            </a:rPr>
                          </m:ctrlPr>
                        </m:sSubPr>
                        <m:e>
                          <m:r>
                            <a:rPr lang="en-US" altLang="ja-JP" sz="2400" b="1" i="1" smtClean="0">
                              <a:effectLst/>
                              <a:latin typeface="Cambria Math" panose="02040503050406030204" pitchFamily="18" charset="0"/>
                            </a:rPr>
                            <m:t>𝒙</m:t>
                          </m:r>
                        </m:e>
                        <m:sub>
                          <m:r>
                            <a:rPr lang="en-US" altLang="ja-JP" sz="2400" b="1" i="1" smtClean="0">
                              <a:effectLst/>
                              <a:latin typeface="Cambria Math" panose="02040503050406030204" pitchFamily="18" charset="0"/>
                            </a:rPr>
                            <m:t>𝟏𝟏</m:t>
                          </m:r>
                        </m:sub>
                      </m:sSub>
                      <m:r>
                        <a:rPr lang="ja-JP" altLang="en-US" sz="2400" b="1" i="0">
                          <a:effectLst/>
                          <a:latin typeface="Cambria Math" panose="02040503050406030204" pitchFamily="18" charset="0"/>
                        </a:rPr>
                        <m:t> </m:t>
                      </m:r>
                      <m:r>
                        <a:rPr lang="ja-JP" altLang="en-US" sz="2400" b="1" i="1">
                          <a:effectLst/>
                          <a:latin typeface="Cambria Math" panose="02040503050406030204" pitchFamily="18" charset="0"/>
                        </a:rPr>
                        <m:t>𝒎𝒐𝒅</m:t>
                      </m:r>
                      <m:r>
                        <a:rPr lang="ja-JP" altLang="en-US" sz="2400" b="1" i="0">
                          <a:effectLst/>
                          <a:latin typeface="Cambria Math" panose="02040503050406030204" pitchFamily="18" charset="0"/>
                        </a:rPr>
                        <m:t> </m:t>
                      </m:r>
                      <m:r>
                        <a:rPr lang="ja-JP" altLang="en-US" sz="2400" b="1" i="0">
                          <a:effectLst/>
                          <a:latin typeface="Cambria Math" panose="02040503050406030204" pitchFamily="18" charset="0"/>
                        </a:rPr>
                        <m:t>𝟏𝟎</m:t>
                      </m:r>
                    </m:oMath>
                  </m:oMathPara>
                </a14:m>
                <a:endParaRPr lang="ja-JP" altLang="en-US" sz="2400" b="1" dirty="0">
                  <a:effectLst/>
                  <a:latin typeface="Meiryo UI" panose="020B0604030504040204" pitchFamily="50" charset="-128"/>
                  <a:ea typeface="Meiryo UI" panose="020B0604030504040204" pitchFamily="50" charset="-128"/>
                </a:endParaRPr>
              </a:p>
            </p:txBody>
          </p:sp>
        </mc:Choice>
        <mc:Fallback xmlns="">
          <p:sp>
            <p:nvSpPr>
              <p:cNvPr id="2" name="テキスト ボックス 1">
                <a:extLst>
                  <a:ext uri="{FF2B5EF4-FFF2-40B4-BE49-F238E27FC236}">
                    <a16:creationId xmlns:a16="http://schemas.microsoft.com/office/drawing/2014/main" id="{F8738DDE-52F7-93E8-262E-DFEF678DE62F}"/>
                  </a:ext>
                </a:extLst>
              </p:cNvPr>
              <p:cNvSpPr txBox="1">
                <a:spLocks noRot="1" noChangeAspect="1" noMove="1" noResize="1" noEditPoints="1" noAdjustHandles="1" noChangeArrowheads="1" noChangeShapeType="1" noTextEdit="1"/>
              </p:cNvSpPr>
              <p:nvPr/>
            </p:nvSpPr>
            <p:spPr>
              <a:xfrm>
                <a:off x="838200" y="4384209"/>
                <a:ext cx="10515600" cy="531877"/>
              </a:xfrm>
              <a:prstGeom prst="rect">
                <a:avLst/>
              </a:prstGeom>
              <a:blipFill>
                <a:blip r:embed="rId5"/>
                <a:stretch>
                  <a:fillRect/>
                </a:stretch>
              </a:blipFill>
              <a:ln>
                <a:solidFill>
                  <a:schemeClr val="tx1"/>
                </a:solidFill>
              </a:ln>
            </p:spPr>
            <p:txBody>
              <a:bodyPr/>
              <a:lstStyle/>
              <a:p>
                <a:r>
                  <a:rPr lang="ja-JP" altLang="en-US">
                    <a:noFill/>
                  </a:rPr>
                  <a:t> </a:t>
                </a:r>
              </a:p>
            </p:txBody>
          </p:sp>
        </mc:Fallback>
      </mc:AlternateContent>
    </p:spTree>
    <p:extLst>
      <p:ext uri="{BB962C8B-B14F-4D97-AF65-F5344CB8AC3E}">
        <p14:creationId xmlns:p14="http://schemas.microsoft.com/office/powerpoint/2010/main" val="29328412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図 13">
            <a:extLst>
              <a:ext uri="{FF2B5EF4-FFF2-40B4-BE49-F238E27FC236}">
                <a16:creationId xmlns:a16="http://schemas.microsoft.com/office/drawing/2014/main" id="{09F822A6-F129-3CB2-BD5D-E9D2A83817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89599" y="2012735"/>
            <a:ext cx="5016000" cy="3762000"/>
          </a:xfrm>
          <a:prstGeom prst="rect">
            <a:avLst/>
          </a:prstGeom>
        </p:spPr>
      </p:pic>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6</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mc:AlternateContent xmlns:mc="http://schemas.openxmlformats.org/markup-compatibility/2006" xmlns:a14="http://schemas.microsoft.com/office/drawing/2010/main">
        <mc:Choice Requires="a14">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normAutofit/>
              </a:bodyPr>
              <a:lstStyle/>
              <a:p>
                <a:r>
                  <a:rPr kumimoji="1" lang="ja-JP" altLang="en-US" b="1" dirty="0">
                    <a:latin typeface="Meiryo UI" panose="020B0604030504040204" pitchFamily="34" charset="-128"/>
                    <a:ea typeface="Meiryo UI" panose="020B0604030504040204" pitchFamily="34" charset="-128"/>
                  </a:rPr>
                  <a:t>既存研究 </a:t>
                </a:r>
                <a:r>
                  <a:rPr kumimoji="1" lang="en-US" altLang="ja-JP" sz="2400" b="1" dirty="0">
                    <a:latin typeface="Meiryo UI" panose="020B0604030504040204" pitchFamily="34" charset="-128"/>
                    <a:ea typeface="Meiryo UI" panose="020B0604030504040204" pitchFamily="34" charset="-128"/>
                  </a:rPr>
                  <a:t>[Y. Ikeda 2024]</a:t>
                </a:r>
                <a:r>
                  <a:rPr kumimoji="1" lang="en-US" altLang="ja-JP" b="1" dirty="0">
                    <a:latin typeface="Meiryo UI" panose="020B0604030504040204" pitchFamily="34" charset="-128"/>
                    <a:ea typeface="Meiryo UI" panose="020B0604030504040204" pitchFamily="34" charset="-128"/>
                  </a:rPr>
                  <a:t> </a:t>
                </a:r>
                <a:r>
                  <a:rPr kumimoji="1" lang="ja-JP" altLang="en-US" b="1" dirty="0">
                    <a:latin typeface="Meiryo UI" panose="020B0604030504040204" pitchFamily="34" charset="-128"/>
                    <a:ea typeface="Meiryo UI" panose="020B0604030504040204" pitchFamily="34" charset="-128"/>
                  </a:rPr>
                  <a:t>再現：</a:t>
                </a:r>
                <a14:m>
                  <m:oMath xmlns:m="http://schemas.openxmlformats.org/officeDocument/2006/math">
                    <m:d>
                      <m:dPr>
                        <m:ctrlPr>
                          <a:rPr kumimoji="1" lang="en-US" altLang="ja-JP" b="1" i="1" smtClean="0">
                            <a:latin typeface="Cambria Math" panose="02040503050406030204" pitchFamily="18" charset="0"/>
                            <a:ea typeface="Meiryo UI" panose="020B0604030504040204" pitchFamily="34" charset="-128"/>
                          </a:rPr>
                        </m:ctrlPr>
                      </m:dPr>
                      <m:e>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𝟏</m:t>
                            </m:r>
                          </m:sub>
                        </m:sSub>
                        <m:r>
                          <a:rPr kumimoji="1" lang="en-US" altLang="ja-JP" b="1" i="1" smtClean="0">
                            <a:latin typeface="Cambria Math" panose="02040503050406030204" pitchFamily="18" charset="0"/>
                            <a:ea typeface="Meiryo UI" panose="020B0604030504040204" pitchFamily="34" charset="-128"/>
                          </a:rPr>
                          <m:t>,</m:t>
                        </m:r>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𝟐</m:t>
                            </m:r>
                          </m:sub>
                        </m:sSub>
                      </m:e>
                    </m:d>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𝟐</m:t>
                    </m:r>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𝟐</m:t>
                    </m:r>
                    <m:r>
                      <a:rPr kumimoji="1" lang="en-US" altLang="ja-JP" b="1" i="1" smtClean="0">
                        <a:latin typeface="Cambria Math" panose="02040503050406030204" pitchFamily="18" charset="0"/>
                        <a:ea typeface="Meiryo UI" panose="020B0604030504040204" pitchFamily="34" charset="-128"/>
                      </a:rPr>
                      <m:t>)</m:t>
                    </m:r>
                  </m:oMath>
                </a14:m>
                <a:endParaRPr kumimoji="1" lang="ja-JP" altLang="en-US" b="1" dirty="0">
                  <a:latin typeface="Meiryo UI" panose="020B0604030504040204" pitchFamily="34" charset="-128"/>
                  <a:ea typeface="Meiryo UI" panose="020B0604030504040204" pitchFamily="34" charset="-128"/>
                </a:endParaRPr>
              </a:p>
            </p:txBody>
          </p:sp>
        </mc:Choice>
        <mc:Fallback xmlns="">
          <p:sp>
            <p:nvSpPr>
              <p:cNvPr id="10" name="タイトル 1">
                <a:extLst>
                  <a:ext uri="{FF2B5EF4-FFF2-40B4-BE49-F238E27FC236}">
                    <a16:creationId xmlns:a16="http://schemas.microsoft.com/office/drawing/2014/main" id="{95421803-53D1-CD0D-9F36-1767F6C7731C}"/>
                  </a:ext>
                </a:extLst>
              </p:cNvPr>
              <p:cNvSpPr>
                <a:spLocks noGrp="1" noRot="1" noChangeAspect="1" noMove="1" noResize="1" noEditPoints="1" noAdjustHandles="1" noChangeArrowheads="1" noChangeShapeType="1" noTextEdit="1"/>
              </p:cNvSpPr>
              <p:nvPr>
                <p:ph type="title"/>
              </p:nvPr>
            </p:nvSpPr>
            <p:spPr>
              <a:xfrm>
                <a:off x="558799" y="129814"/>
                <a:ext cx="11328401" cy="1325563"/>
              </a:xfrm>
              <a:blipFill>
                <a:blip r:embed="rId4"/>
                <a:stretch>
                  <a:fillRect l="-2207"/>
                </a:stretch>
              </a:blipFill>
            </p:spPr>
            <p:txBody>
              <a:bodyPr/>
              <a:lstStyle/>
              <a:p>
                <a:r>
                  <a:rPr lang="ja-JP" altLang="en-US">
                    <a:noFill/>
                  </a:rPr>
                  <a:t> </a:t>
                </a:r>
              </a:p>
            </p:txBody>
          </p:sp>
        </mc:Fallback>
      </mc:AlternateContent>
      <p:graphicFrame>
        <p:nvGraphicFramePr>
          <p:cNvPr id="9" name="表 8">
            <a:extLst>
              <a:ext uri="{FF2B5EF4-FFF2-40B4-BE49-F238E27FC236}">
                <a16:creationId xmlns:a16="http://schemas.microsoft.com/office/drawing/2014/main" id="{7C3A5DEE-CFE4-C355-81FC-34E6D1013CD6}"/>
              </a:ext>
            </a:extLst>
          </p:cNvPr>
          <p:cNvGraphicFramePr>
            <a:graphicFrameLocks noGrp="1"/>
          </p:cNvGraphicFramePr>
          <p:nvPr>
            <p:extLst>
              <p:ext uri="{D42A27DB-BD31-4B8C-83A1-F6EECF244321}">
                <p14:modId xmlns:p14="http://schemas.microsoft.com/office/powerpoint/2010/main" val="1699285003"/>
              </p:ext>
            </p:extLst>
          </p:nvPr>
        </p:nvGraphicFramePr>
        <p:xfrm>
          <a:off x="558799" y="2744468"/>
          <a:ext cx="6480000" cy="2303999"/>
        </p:xfrm>
        <a:graphic>
          <a:graphicData uri="http://schemas.openxmlformats.org/drawingml/2006/table">
            <a:tbl>
              <a:tblPr firstRow="1" firstCol="1" bandRow="1">
                <a:tableStyleId>{5C22544A-7EE6-4342-B048-85BDC9FD1C3A}</a:tableStyleId>
              </a:tblPr>
              <a:tblGrid>
                <a:gridCol w="1620000">
                  <a:extLst>
                    <a:ext uri="{9D8B030D-6E8A-4147-A177-3AD203B41FA5}">
                      <a16:colId xmlns:a16="http://schemas.microsoft.com/office/drawing/2014/main" val="1337696201"/>
                    </a:ext>
                  </a:extLst>
                </a:gridCol>
                <a:gridCol w="1620000">
                  <a:extLst>
                    <a:ext uri="{9D8B030D-6E8A-4147-A177-3AD203B41FA5}">
                      <a16:colId xmlns:a16="http://schemas.microsoft.com/office/drawing/2014/main" val="2192775266"/>
                    </a:ext>
                  </a:extLst>
                </a:gridCol>
                <a:gridCol w="1620000">
                  <a:extLst>
                    <a:ext uri="{9D8B030D-6E8A-4147-A177-3AD203B41FA5}">
                      <a16:colId xmlns:a16="http://schemas.microsoft.com/office/drawing/2014/main" val="3401111041"/>
                    </a:ext>
                  </a:extLst>
                </a:gridCol>
                <a:gridCol w="1620000">
                  <a:extLst>
                    <a:ext uri="{9D8B030D-6E8A-4147-A177-3AD203B41FA5}">
                      <a16:colId xmlns:a16="http://schemas.microsoft.com/office/drawing/2014/main" val="3469421286"/>
                    </a:ext>
                  </a:extLst>
                </a:gridCol>
              </a:tblGrid>
              <a:tr h="614167">
                <a:tc>
                  <a:txBody>
                    <a:bodyPr/>
                    <a:lstStyle/>
                    <a:p>
                      <a:pPr algn="ctr"/>
                      <a:r>
                        <a:rPr lang="ja-JP" sz="2000" b="1" kern="100" dirty="0">
                          <a:effectLst/>
                        </a:rPr>
                        <a:t>データ数＼画像枚数</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N</a:t>
                      </a:r>
                      <a:r>
                        <a:rPr lang="ja-JP" sz="2000" b="1" kern="100" dirty="0">
                          <a:effectLst/>
                        </a:rPr>
                        <a:t>＝</a:t>
                      </a:r>
                      <a:r>
                        <a:rPr lang="en-US" sz="2000" b="1" kern="100" dirty="0">
                          <a:effectLst/>
                        </a:rPr>
                        <a:t>26</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50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100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508720051"/>
                  </a:ext>
                </a:extLst>
              </a:tr>
              <a:tr h="422458">
                <a:tc>
                  <a:txBody>
                    <a:bodyPr/>
                    <a:lstStyle/>
                    <a:p>
                      <a:pPr algn="ctr"/>
                      <a:r>
                        <a:rPr lang="en-US" sz="2000" b="1" kern="100" dirty="0">
                          <a:effectLst/>
                        </a:rPr>
                        <a:t>1000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0.0980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0.1620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0.1489</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761345781"/>
                  </a:ext>
                </a:extLst>
              </a:tr>
              <a:tr h="422458">
                <a:tc>
                  <a:txBody>
                    <a:bodyPr/>
                    <a:lstStyle/>
                    <a:p>
                      <a:pPr algn="ctr"/>
                      <a:r>
                        <a:rPr lang="en-US" sz="2000" b="1" kern="100">
                          <a:effectLst/>
                        </a:rPr>
                        <a:t>5000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0.1604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0.1102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0.1044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83717859"/>
                  </a:ext>
                </a:extLst>
              </a:tr>
              <a:tr h="422458">
                <a:tc>
                  <a:txBody>
                    <a:bodyPr/>
                    <a:lstStyle/>
                    <a:p>
                      <a:pPr algn="ctr"/>
                      <a:r>
                        <a:rPr lang="en-US" sz="2000" b="1" kern="100">
                          <a:effectLst/>
                        </a:rPr>
                        <a:t>10000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0.5122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0.1028</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0.1180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5985965"/>
                  </a:ext>
                </a:extLst>
              </a:tr>
              <a:tr h="422458">
                <a:tc>
                  <a:txBody>
                    <a:bodyPr/>
                    <a:lstStyle/>
                    <a:p>
                      <a:pPr algn="ctr"/>
                      <a:r>
                        <a:rPr lang="en-US" sz="2000" b="1" kern="100">
                          <a:effectLst/>
                        </a:rPr>
                        <a:t>50000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0.3158</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0.1367</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0.1124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38694602"/>
                  </a:ext>
                </a:extLst>
              </a:tr>
            </a:tbl>
          </a:graphicData>
        </a:graphic>
      </p:graphicFrame>
      <p:sp>
        <p:nvSpPr>
          <p:cNvPr id="12" name="コンテンツ プレースホルダー 2">
            <a:extLst>
              <a:ext uri="{FF2B5EF4-FFF2-40B4-BE49-F238E27FC236}">
                <a16:creationId xmlns:a16="http://schemas.microsoft.com/office/drawing/2014/main" id="{30CC7EA9-7371-6EAC-DF9D-3A49D14BAFE5}"/>
              </a:ext>
            </a:extLst>
          </p:cNvPr>
          <p:cNvSpPr txBox="1">
            <a:spLocks/>
          </p:cNvSpPr>
          <p:nvPr/>
        </p:nvSpPr>
        <p:spPr>
          <a:xfrm>
            <a:off x="838200" y="5254175"/>
            <a:ext cx="10591800" cy="1300776"/>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latin typeface="Meiryo UI" panose="020B0604030504040204" pitchFamily="50" charset="-128"/>
                <a:ea typeface="Meiryo UI" panose="020B0604030504040204" pitchFamily="50" charset="-128"/>
              </a:rPr>
              <a:t>予測精度は、最大で</a:t>
            </a:r>
            <a:r>
              <a:rPr lang="en-US" altLang="ja-JP" sz="2400" dirty="0">
                <a:latin typeface="Meiryo UI" panose="020B0604030504040204" pitchFamily="50" charset="-128"/>
                <a:ea typeface="Meiryo UI" panose="020B0604030504040204" pitchFamily="50" charset="-128"/>
              </a:rPr>
              <a:t>51.22%</a:t>
            </a:r>
          </a:p>
          <a:p>
            <a:r>
              <a:rPr lang="ja-JP" altLang="en-US" sz="2400" dirty="0">
                <a:latin typeface="Meiryo UI" panose="020B0604030504040204" pitchFamily="50" charset="-128"/>
                <a:ea typeface="Meiryo UI" panose="020B0604030504040204" pitchFamily="50" charset="-128"/>
              </a:rPr>
              <a:t>既存研究 </a:t>
            </a:r>
            <a:r>
              <a:rPr lang="en-US" altLang="ja-JP" sz="2000" dirty="0">
                <a:latin typeface="Meiryo UI" panose="020B0604030504040204" pitchFamily="50" charset="-128"/>
                <a:ea typeface="Meiryo UI" panose="020B0604030504040204" pitchFamily="50" charset="-128"/>
              </a:rPr>
              <a:t>[Y. Ikeda 2024]</a:t>
            </a:r>
            <a:r>
              <a:rPr lang="ja-JP" altLang="en-US" sz="2000" dirty="0">
                <a:latin typeface="Meiryo UI" panose="020B0604030504040204" pitchFamily="50" charset="-128"/>
                <a:ea typeface="Meiryo UI" panose="020B0604030504040204" pitchFamily="50" charset="-128"/>
              </a:rPr>
              <a:t> </a:t>
            </a:r>
            <a:r>
              <a:rPr lang="ja-JP" altLang="en-US" sz="2400" dirty="0">
                <a:latin typeface="Meiryo UI" panose="020B0604030504040204" pitchFamily="50" charset="-128"/>
                <a:ea typeface="Meiryo UI" panose="020B0604030504040204" pitchFamily="50" charset="-128"/>
              </a:rPr>
              <a:t>における予測（</a:t>
            </a:r>
            <a:r>
              <a:rPr lang="en-US" altLang="ja-JP" sz="2400" dirty="0">
                <a:latin typeface="Meiryo UI" panose="020B0604030504040204" pitchFamily="50" charset="-128"/>
                <a:ea typeface="Meiryo UI" panose="020B0604030504040204" pitchFamily="50" charset="-128"/>
              </a:rPr>
              <a:t>55.81</a:t>
            </a:r>
            <a:r>
              <a:rPr lang="ja-JP" altLang="en-US" sz="2400" dirty="0">
                <a:latin typeface="Meiryo UI" panose="020B0604030504040204" pitchFamily="50" charset="-128"/>
                <a:ea typeface="Meiryo UI" panose="020B0604030504040204" pitchFamily="50" charset="-128"/>
              </a:rPr>
              <a:t>％）とほぼ同様の結果</a:t>
            </a:r>
            <a:endParaRPr lang="en-US" altLang="ja-JP" sz="2400" dirty="0">
              <a:latin typeface="Meiryo UI" panose="020B0604030504040204" pitchFamily="50" charset="-128"/>
              <a:ea typeface="Meiryo UI" panose="020B0604030504040204" pitchFamily="50" charset="-128"/>
            </a:endParaRPr>
          </a:p>
        </p:txBody>
      </p:sp>
      <p:sp>
        <p:nvSpPr>
          <p:cNvPr id="13" name="コンテンツ プレースホルダー 2">
            <a:extLst>
              <a:ext uri="{FF2B5EF4-FFF2-40B4-BE49-F238E27FC236}">
                <a16:creationId xmlns:a16="http://schemas.microsoft.com/office/drawing/2014/main" id="{D4AADBDC-D4A7-E29F-70F4-42DF976CF84D}"/>
              </a:ext>
            </a:extLst>
          </p:cNvPr>
          <p:cNvSpPr>
            <a:spLocks noGrp="1"/>
          </p:cNvSpPr>
          <p:nvPr>
            <p:ph idx="1"/>
          </p:nvPr>
        </p:nvSpPr>
        <p:spPr>
          <a:xfrm>
            <a:off x="838200" y="1703205"/>
            <a:ext cx="10515600" cy="598739"/>
          </a:xfrm>
        </p:spPr>
        <p:txBody>
          <a:bodyPr anchor="ctr" anchorCtr="0">
            <a:normAutofit/>
          </a:bodyPr>
          <a:lstStyle/>
          <a:p>
            <a:pPr marL="457200" indent="-457200">
              <a:lnSpc>
                <a:spcPct val="125000"/>
              </a:lnSpc>
              <a:buClr>
                <a:srgbClr val="002060"/>
              </a:buClr>
              <a:buFont typeface="Arial" panose="020B0604020202020204" pitchFamily="34" charset="0"/>
              <a:buChar char="•"/>
            </a:pPr>
            <a:r>
              <a:rPr lang="ja-JP" altLang="en-US" b="1" dirty="0">
                <a:latin typeface="Meiryo UI" panose="020B0604030504040204" pitchFamily="34" charset="-128"/>
                <a:ea typeface="Meiryo UI" panose="020B0604030504040204" pitchFamily="34" charset="-128"/>
              </a:rPr>
              <a:t>埋め込み層＋双方向長短期記憶（</a:t>
            </a:r>
            <a:r>
              <a:rPr lang="en-US" altLang="ja-JP" b="1" dirty="0">
                <a:latin typeface="Meiryo UI" panose="020B0604030504040204" pitchFamily="34" charset="-128"/>
                <a:ea typeface="Meiryo UI" panose="020B0604030504040204" pitchFamily="34" charset="-128"/>
              </a:rPr>
              <a:t>Bi-LSTM</a:t>
            </a:r>
            <a:r>
              <a:rPr lang="ja-JP" altLang="en-US" b="1" dirty="0">
                <a:latin typeface="Meiryo UI" panose="020B0604030504040204" pitchFamily="34" charset="-128"/>
                <a:ea typeface="Meiryo UI" panose="020B0604030504040204" pitchFamily="34" charset="-128"/>
              </a:rPr>
              <a:t>）</a:t>
            </a:r>
            <a:endParaRPr lang="en-US" altLang="ja-JP" b="1"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7330828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図 5">
            <a:extLst>
              <a:ext uri="{FF2B5EF4-FFF2-40B4-BE49-F238E27FC236}">
                <a16:creationId xmlns:a16="http://schemas.microsoft.com/office/drawing/2014/main" id="{1A94171E-C179-ECEF-A58E-1A1063C7F884}"/>
              </a:ext>
            </a:extLst>
          </p:cNvPr>
          <p:cNvPicPr>
            <a:picLocks noChangeAspect="1"/>
          </p:cNvPicPr>
          <p:nvPr/>
        </p:nvPicPr>
        <p:blipFill>
          <a:blip r:embed="rId3"/>
          <a:stretch>
            <a:fillRect/>
          </a:stretch>
        </p:blipFill>
        <p:spPr>
          <a:xfrm>
            <a:off x="7089578" y="2006951"/>
            <a:ext cx="5018350" cy="3761903"/>
          </a:xfrm>
          <a:prstGeom prst="rect">
            <a:avLst/>
          </a:prstGeom>
        </p:spPr>
      </p:pic>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7</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mc:AlternateContent xmlns:mc="http://schemas.openxmlformats.org/markup-compatibility/2006" xmlns:a14="http://schemas.microsoft.com/office/drawing/2010/main">
        <mc:Choice Requires="a14">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実験結果：</a:t>
                </a:r>
                <a14:m>
                  <m:oMath xmlns:m="http://schemas.openxmlformats.org/officeDocument/2006/math">
                    <m:d>
                      <m:dPr>
                        <m:ctrlPr>
                          <a:rPr kumimoji="1" lang="en-US" altLang="ja-JP" b="1" i="1" smtClean="0">
                            <a:latin typeface="Cambria Math" panose="02040503050406030204" pitchFamily="18" charset="0"/>
                            <a:ea typeface="Meiryo UI" panose="020B0604030504040204" pitchFamily="34" charset="-128"/>
                          </a:rPr>
                        </m:ctrlPr>
                      </m:dPr>
                      <m:e>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𝟏</m:t>
                            </m:r>
                          </m:sub>
                        </m:sSub>
                        <m:r>
                          <a:rPr kumimoji="1" lang="en-US" altLang="ja-JP" b="1" i="1" smtClean="0">
                            <a:latin typeface="Cambria Math" panose="02040503050406030204" pitchFamily="18" charset="0"/>
                            <a:ea typeface="Meiryo UI" panose="020B0604030504040204" pitchFamily="34" charset="-128"/>
                          </a:rPr>
                          <m:t>,</m:t>
                        </m:r>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𝟐</m:t>
                            </m:r>
                          </m:sub>
                        </m:sSub>
                      </m:e>
                    </m:d>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𝟐</m:t>
                    </m:r>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𝟐</m:t>
                    </m:r>
                    <m:r>
                      <a:rPr kumimoji="1" lang="en-US" altLang="ja-JP" b="1" i="1" smtClean="0">
                        <a:latin typeface="Cambria Math" panose="02040503050406030204" pitchFamily="18" charset="0"/>
                        <a:ea typeface="Meiryo UI" panose="020B0604030504040204" pitchFamily="34" charset="-128"/>
                      </a:rPr>
                      <m:t>)</m:t>
                    </m:r>
                  </m:oMath>
                </a14:m>
                <a:endParaRPr kumimoji="1" lang="ja-JP" altLang="en-US" b="1" dirty="0">
                  <a:latin typeface="Meiryo UI" panose="020B0604030504040204" pitchFamily="34" charset="-128"/>
                  <a:ea typeface="Meiryo UI" panose="020B0604030504040204" pitchFamily="34" charset="-128"/>
                </a:endParaRPr>
              </a:p>
            </p:txBody>
          </p:sp>
        </mc:Choice>
        <mc:Fallback xmlns="">
          <p:sp>
            <p:nvSpPr>
              <p:cNvPr id="10" name="タイトル 1">
                <a:extLst>
                  <a:ext uri="{FF2B5EF4-FFF2-40B4-BE49-F238E27FC236}">
                    <a16:creationId xmlns:a16="http://schemas.microsoft.com/office/drawing/2014/main" id="{95421803-53D1-CD0D-9F36-1767F6C7731C}"/>
                  </a:ext>
                </a:extLst>
              </p:cNvPr>
              <p:cNvSpPr>
                <a:spLocks noGrp="1" noRot="1" noChangeAspect="1" noMove="1" noResize="1" noEditPoints="1" noAdjustHandles="1" noChangeArrowheads="1" noChangeShapeType="1" noTextEdit="1"/>
              </p:cNvSpPr>
              <p:nvPr>
                <p:ph type="title"/>
              </p:nvPr>
            </p:nvSpPr>
            <p:spPr>
              <a:xfrm>
                <a:off x="558799" y="129814"/>
                <a:ext cx="11328401" cy="1325563"/>
              </a:xfrm>
              <a:blipFill>
                <a:blip r:embed="rId4"/>
                <a:stretch>
                  <a:fillRect l="-2207"/>
                </a:stretch>
              </a:blipFill>
            </p:spPr>
            <p:txBody>
              <a:bodyPr/>
              <a:lstStyle/>
              <a:p>
                <a:r>
                  <a:rPr lang="ja-JP" altLang="en-US">
                    <a:noFill/>
                  </a:rPr>
                  <a:t> </a:t>
                </a:r>
              </a:p>
            </p:txBody>
          </p:sp>
        </mc:Fallback>
      </mc:AlternateContent>
      <p:graphicFrame>
        <p:nvGraphicFramePr>
          <p:cNvPr id="7" name="表 6">
            <a:extLst>
              <a:ext uri="{FF2B5EF4-FFF2-40B4-BE49-F238E27FC236}">
                <a16:creationId xmlns:a16="http://schemas.microsoft.com/office/drawing/2014/main" id="{232C286F-57FA-1267-2810-D247DBDF07A7}"/>
              </a:ext>
            </a:extLst>
          </p:cNvPr>
          <p:cNvGraphicFramePr>
            <a:graphicFrameLocks noGrp="1"/>
          </p:cNvGraphicFramePr>
          <p:nvPr>
            <p:extLst>
              <p:ext uri="{D42A27DB-BD31-4B8C-83A1-F6EECF244321}">
                <p14:modId xmlns:p14="http://schemas.microsoft.com/office/powerpoint/2010/main" val="523214720"/>
              </p:ext>
            </p:extLst>
          </p:nvPr>
        </p:nvGraphicFramePr>
        <p:xfrm>
          <a:off x="558799" y="2744468"/>
          <a:ext cx="6480000" cy="2303999"/>
        </p:xfrm>
        <a:graphic>
          <a:graphicData uri="http://schemas.openxmlformats.org/drawingml/2006/table">
            <a:tbl>
              <a:tblPr firstRow="1" firstCol="1" bandRow="1">
                <a:tableStyleId>{5C22544A-7EE6-4342-B048-85BDC9FD1C3A}</a:tableStyleId>
              </a:tblPr>
              <a:tblGrid>
                <a:gridCol w="1620000">
                  <a:extLst>
                    <a:ext uri="{9D8B030D-6E8A-4147-A177-3AD203B41FA5}">
                      <a16:colId xmlns:a16="http://schemas.microsoft.com/office/drawing/2014/main" val="1337696201"/>
                    </a:ext>
                  </a:extLst>
                </a:gridCol>
                <a:gridCol w="1620000">
                  <a:extLst>
                    <a:ext uri="{9D8B030D-6E8A-4147-A177-3AD203B41FA5}">
                      <a16:colId xmlns:a16="http://schemas.microsoft.com/office/drawing/2014/main" val="2192775266"/>
                    </a:ext>
                  </a:extLst>
                </a:gridCol>
                <a:gridCol w="1620000">
                  <a:extLst>
                    <a:ext uri="{9D8B030D-6E8A-4147-A177-3AD203B41FA5}">
                      <a16:colId xmlns:a16="http://schemas.microsoft.com/office/drawing/2014/main" val="3401111041"/>
                    </a:ext>
                  </a:extLst>
                </a:gridCol>
                <a:gridCol w="1620000">
                  <a:extLst>
                    <a:ext uri="{9D8B030D-6E8A-4147-A177-3AD203B41FA5}">
                      <a16:colId xmlns:a16="http://schemas.microsoft.com/office/drawing/2014/main" val="3469421286"/>
                    </a:ext>
                  </a:extLst>
                </a:gridCol>
              </a:tblGrid>
              <a:tr h="614167">
                <a:tc>
                  <a:txBody>
                    <a:bodyPr/>
                    <a:lstStyle/>
                    <a:p>
                      <a:pPr algn="ctr"/>
                      <a:r>
                        <a:rPr lang="ja-JP" sz="2000" b="1" kern="100" dirty="0">
                          <a:effectLst/>
                        </a:rPr>
                        <a:t>データ数＼画像枚数</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N</a:t>
                      </a:r>
                      <a:r>
                        <a:rPr lang="ja-JP" sz="2000" b="1" kern="100" dirty="0">
                          <a:effectLst/>
                        </a:rPr>
                        <a:t>＝</a:t>
                      </a:r>
                      <a:r>
                        <a:rPr lang="en-US" sz="2000" b="1" kern="100" dirty="0">
                          <a:effectLst/>
                        </a:rPr>
                        <a:t>26</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50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100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508720051"/>
                  </a:ext>
                </a:extLst>
              </a:tr>
              <a:tr h="422458">
                <a:tc>
                  <a:txBody>
                    <a:bodyPr/>
                    <a:lstStyle/>
                    <a:p>
                      <a:pPr algn="ctr"/>
                      <a:r>
                        <a:rPr lang="en-US" sz="2000" b="1" kern="100" dirty="0">
                          <a:effectLst/>
                        </a:rPr>
                        <a:t>1000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0.1603</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0.1517</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0.1650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761345781"/>
                  </a:ext>
                </a:extLst>
              </a:tr>
              <a:tr h="422458">
                <a:tc>
                  <a:txBody>
                    <a:bodyPr/>
                    <a:lstStyle/>
                    <a:p>
                      <a:pPr algn="ctr"/>
                      <a:r>
                        <a:rPr lang="en-US" sz="2000" b="1" kern="100">
                          <a:effectLst/>
                        </a:rPr>
                        <a:t>5000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0.1160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0.1182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0.1314</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83717859"/>
                  </a:ext>
                </a:extLst>
              </a:tr>
              <a:tr h="422458">
                <a:tc>
                  <a:txBody>
                    <a:bodyPr/>
                    <a:lstStyle/>
                    <a:p>
                      <a:pPr algn="ctr"/>
                      <a:r>
                        <a:rPr lang="en-US" sz="2000" b="1" kern="100">
                          <a:effectLst/>
                        </a:rPr>
                        <a:t>10000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0.2115</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0.1145</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0.1128</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5985965"/>
                  </a:ext>
                </a:extLst>
              </a:tr>
              <a:tr h="422458">
                <a:tc>
                  <a:txBody>
                    <a:bodyPr/>
                    <a:lstStyle/>
                    <a:p>
                      <a:pPr algn="ctr"/>
                      <a:r>
                        <a:rPr lang="en-US" sz="2000" b="1" kern="100">
                          <a:effectLst/>
                        </a:rPr>
                        <a:t>50000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0.6084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0.1030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0.1038</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38694602"/>
                  </a:ext>
                </a:extLst>
              </a:tr>
            </a:tbl>
          </a:graphicData>
        </a:graphic>
      </p:graphicFrame>
      <p:sp>
        <p:nvSpPr>
          <p:cNvPr id="11" name="コンテンツ プレースホルダー 2">
            <a:extLst>
              <a:ext uri="{FF2B5EF4-FFF2-40B4-BE49-F238E27FC236}">
                <a16:creationId xmlns:a16="http://schemas.microsoft.com/office/drawing/2014/main" id="{722BAA12-BFD7-569A-FC2F-9E0D591B10E6}"/>
              </a:ext>
            </a:extLst>
          </p:cNvPr>
          <p:cNvSpPr txBox="1">
            <a:spLocks/>
          </p:cNvSpPr>
          <p:nvPr/>
        </p:nvSpPr>
        <p:spPr>
          <a:xfrm>
            <a:off x="838200" y="5254175"/>
            <a:ext cx="10205720" cy="1300776"/>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latin typeface="Meiryo UI" panose="020B0604030504040204" pitchFamily="50" charset="-128"/>
                <a:ea typeface="Meiryo UI" panose="020B0604030504040204" pitchFamily="50" charset="-128"/>
              </a:rPr>
              <a:t>予測精度は、最大で</a:t>
            </a:r>
            <a:r>
              <a:rPr lang="en-US" altLang="ja-JP" sz="2400" dirty="0">
                <a:latin typeface="Meiryo UI" panose="020B0604030504040204" pitchFamily="50" charset="-128"/>
                <a:ea typeface="Meiryo UI" panose="020B0604030504040204" pitchFamily="50" charset="-128"/>
              </a:rPr>
              <a:t>60.84%</a:t>
            </a:r>
          </a:p>
          <a:p>
            <a:r>
              <a:rPr lang="ja-JP" altLang="en-US" sz="2400" dirty="0">
                <a:latin typeface="Meiryo UI" panose="020B0604030504040204" pitchFamily="50" charset="-128"/>
                <a:ea typeface="Meiryo UI" panose="020B0604030504040204" pitchFamily="50" charset="-128"/>
              </a:rPr>
              <a:t>既存研究 </a:t>
            </a:r>
            <a:r>
              <a:rPr lang="en-US" altLang="ja-JP" sz="2000" dirty="0">
                <a:latin typeface="Meiryo UI" panose="020B0604030504040204" pitchFamily="50" charset="-128"/>
                <a:ea typeface="Meiryo UI" panose="020B0604030504040204" pitchFamily="50" charset="-128"/>
              </a:rPr>
              <a:t>[Y. Ikeda 2024]</a:t>
            </a:r>
            <a:r>
              <a:rPr lang="ja-JP" altLang="en-US" sz="2000" dirty="0">
                <a:latin typeface="Meiryo UI" panose="020B0604030504040204" pitchFamily="50" charset="-128"/>
                <a:ea typeface="Meiryo UI" panose="020B0604030504040204" pitchFamily="50" charset="-128"/>
              </a:rPr>
              <a:t> </a:t>
            </a:r>
            <a:r>
              <a:rPr lang="ja-JP" altLang="en-US" sz="2400" dirty="0">
                <a:latin typeface="Meiryo UI" panose="020B0604030504040204" pitchFamily="50" charset="-128"/>
                <a:ea typeface="Meiryo UI" panose="020B0604030504040204" pitchFamily="50" charset="-128"/>
              </a:rPr>
              <a:t>における予測（</a:t>
            </a:r>
            <a:r>
              <a:rPr lang="en-US" altLang="ja-JP" sz="2400" dirty="0">
                <a:latin typeface="Meiryo UI" panose="020B0604030504040204" pitchFamily="50" charset="-128"/>
                <a:ea typeface="Meiryo UI" panose="020B0604030504040204" pitchFamily="50" charset="-128"/>
              </a:rPr>
              <a:t>55.81</a:t>
            </a:r>
            <a:r>
              <a:rPr lang="ja-JP" altLang="en-US" sz="2400" dirty="0">
                <a:latin typeface="Meiryo UI" panose="020B0604030504040204" pitchFamily="50" charset="-128"/>
                <a:ea typeface="Meiryo UI" panose="020B0604030504040204" pitchFamily="50" charset="-128"/>
              </a:rPr>
              <a:t>％）に比べて、精度が向上</a:t>
            </a:r>
            <a:endParaRPr lang="en-US" altLang="ja-JP" sz="2400" dirty="0">
              <a:latin typeface="Meiryo UI" panose="020B0604030504040204" pitchFamily="50" charset="-128"/>
              <a:ea typeface="Meiryo UI" panose="020B0604030504040204" pitchFamily="50" charset="-128"/>
            </a:endParaRPr>
          </a:p>
        </p:txBody>
      </p:sp>
      <p:sp>
        <p:nvSpPr>
          <p:cNvPr id="2" name="コンテンツ プレースホルダー 2">
            <a:extLst>
              <a:ext uri="{FF2B5EF4-FFF2-40B4-BE49-F238E27FC236}">
                <a16:creationId xmlns:a16="http://schemas.microsoft.com/office/drawing/2014/main" id="{5B8A7331-3207-5ED9-07A5-C577A6AAC3B6}"/>
              </a:ext>
            </a:extLst>
          </p:cNvPr>
          <p:cNvSpPr>
            <a:spLocks noGrp="1"/>
          </p:cNvSpPr>
          <p:nvPr>
            <p:ph idx="1"/>
          </p:nvPr>
        </p:nvSpPr>
        <p:spPr>
          <a:xfrm>
            <a:off x="838200" y="1706790"/>
            <a:ext cx="10515600" cy="598739"/>
          </a:xfrm>
        </p:spPr>
        <p:txBody>
          <a:bodyPr anchor="ctr" anchorCtr="0">
            <a:normAutofit/>
          </a:bodyPr>
          <a:lstStyle/>
          <a:p>
            <a:pPr marL="457200" indent="-457200">
              <a:lnSpc>
                <a:spcPct val="125000"/>
              </a:lnSpc>
              <a:buClr>
                <a:srgbClr val="002060"/>
              </a:buClr>
              <a:buFont typeface="Arial" panose="020B0604020202020204" pitchFamily="34" charset="0"/>
              <a:buChar char="•"/>
            </a:pPr>
            <a:r>
              <a:rPr lang="ja-JP" altLang="en-US" b="1" dirty="0">
                <a:latin typeface="Meiryo UI" panose="020B0604030504040204" pitchFamily="34" charset="-128"/>
                <a:ea typeface="Meiryo UI" panose="020B0604030504040204" pitchFamily="34" charset="-128"/>
              </a:rPr>
              <a:t>埋め込み層＋畳み込みニューラルネットワーク（</a:t>
            </a:r>
            <a:r>
              <a:rPr lang="en-US" altLang="ja-JP" b="1" dirty="0">
                <a:latin typeface="Meiryo UI" panose="020B0604030504040204" pitchFamily="34" charset="-128"/>
                <a:ea typeface="Meiryo UI" panose="020B0604030504040204" pitchFamily="34" charset="-128"/>
              </a:rPr>
              <a:t>CNN</a:t>
            </a:r>
            <a:r>
              <a:rPr lang="ja-JP" altLang="en-US" b="1" dirty="0">
                <a:latin typeface="Meiryo UI" panose="020B0604030504040204" pitchFamily="34" charset="-128"/>
                <a:ea typeface="Meiryo UI" panose="020B0604030504040204" pitchFamily="34" charset="-128"/>
              </a:rPr>
              <a:t>）</a:t>
            </a:r>
            <a:endParaRPr lang="en-US" altLang="ja-JP" b="1"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32530329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8</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まとめと今後の展望</a:t>
            </a:r>
          </a:p>
        </p:txBody>
      </p:sp>
      <mc:AlternateContent xmlns:mc="http://schemas.openxmlformats.org/markup-compatibility/2006" xmlns:a14="http://schemas.microsoft.com/office/drawing/2010/main">
        <mc:Choice Requires="a14">
          <p:sp>
            <p:nvSpPr>
              <p:cNvPr id="9" name="コンテンツ プレースホルダー 2">
                <a:extLst>
                  <a:ext uri="{FF2B5EF4-FFF2-40B4-BE49-F238E27FC236}">
                    <a16:creationId xmlns:a16="http://schemas.microsoft.com/office/drawing/2014/main" id="{F87381F5-E4A7-25A5-0CDE-ED88C35D3DA6}"/>
                  </a:ext>
                </a:extLst>
              </p:cNvPr>
              <p:cNvSpPr>
                <a:spLocks noGrp="1"/>
              </p:cNvSpPr>
              <p:nvPr>
                <p:ph idx="1"/>
              </p:nvPr>
            </p:nvSpPr>
            <p:spPr>
              <a:xfrm>
                <a:off x="838200" y="1666238"/>
                <a:ext cx="10515600" cy="4496969"/>
              </a:xfrm>
            </p:spPr>
            <p:txBody>
              <a:bodyPr anchor="ctr" anchorCtr="0">
                <a:normAutofit lnSpcReduction="10000"/>
              </a:bodyPr>
              <a:lstStyle/>
              <a:p>
                <a:pPr marL="457200" indent="-457200">
                  <a:lnSpc>
                    <a:spcPct val="125000"/>
                  </a:lnSpc>
                  <a:buClr>
                    <a:srgbClr val="002060"/>
                  </a:buClr>
                  <a:buFont typeface="Arial" panose="020B0604020202020204" pitchFamily="34" charset="0"/>
                  <a:buChar char="•"/>
                </a:pPr>
                <a:r>
                  <a:rPr lang="ja-JP" altLang="en-US" b="1" dirty="0">
                    <a:latin typeface="Meiryo UI" panose="020B0604030504040204" pitchFamily="34" charset="-128"/>
                    <a:ea typeface="Meiryo UI" panose="020B0604030504040204" pitchFamily="34" charset="-128"/>
                  </a:rPr>
                  <a:t>結論</a:t>
                </a:r>
                <a:endParaRPr lang="en-US" altLang="ja-JP" b="1"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en-US" altLang="ja-JP" dirty="0">
                    <a:latin typeface="Meiryo UI" panose="020B0604030504040204" pitchFamily="34" charset="-128"/>
                    <a:ea typeface="Meiryo UI" panose="020B0604030504040204" pitchFamily="34" charset="-128"/>
                  </a:rPr>
                  <a:t>Bi-LSTM </a:t>
                </a:r>
                <a:r>
                  <a:rPr lang="ja-JP" altLang="en-US" dirty="0">
                    <a:latin typeface="Meiryo UI" panose="020B0604030504040204" pitchFamily="34" charset="-128"/>
                    <a:ea typeface="Meiryo UI" panose="020B0604030504040204" pitchFamily="34" charset="-128"/>
                  </a:rPr>
                  <a:t>による予測精度：</a:t>
                </a:r>
                <a:r>
                  <a:rPr lang="ja-JP" altLang="en-US" b="1" dirty="0">
                    <a:latin typeface="Meiryo UI" panose="020B0604030504040204" pitchFamily="34" charset="-128"/>
                    <a:ea typeface="Meiryo UI" panose="020B0604030504040204" pitchFamily="34" charset="-128"/>
                  </a:rPr>
                  <a:t>最大 </a:t>
                </a:r>
                <a:r>
                  <a:rPr lang="en-US" altLang="ja-JP" b="1" dirty="0">
                    <a:latin typeface="Meiryo UI" panose="020B0604030504040204" pitchFamily="34" charset="-128"/>
                    <a:ea typeface="Meiryo UI" panose="020B0604030504040204" pitchFamily="34" charset="-128"/>
                  </a:rPr>
                  <a:t>51.22 </a:t>
                </a:r>
                <a:r>
                  <a:rPr lang="ja-JP" altLang="en-US" b="1" dirty="0">
                    <a:latin typeface="Meiryo UI" panose="020B0604030504040204" pitchFamily="34" charset="-128"/>
                    <a:ea typeface="Meiryo UI" panose="020B0604030504040204" pitchFamily="34" charset="-128"/>
                  </a:rPr>
                  <a:t>％</a:t>
                </a:r>
                <a:endParaRPr lang="en-US" altLang="ja-JP" b="1"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en-US" altLang="ja-JP" dirty="0">
                    <a:latin typeface="Meiryo UI" panose="020B0604030504040204" pitchFamily="34" charset="-128"/>
                    <a:ea typeface="Meiryo UI" panose="020B0604030504040204" pitchFamily="34" charset="-128"/>
                  </a:rPr>
                  <a:t>CNN </a:t>
                </a:r>
                <a:r>
                  <a:rPr lang="ja-JP" altLang="en-US" dirty="0">
                    <a:latin typeface="Meiryo UI" panose="020B0604030504040204" pitchFamily="34" charset="-128"/>
                    <a:ea typeface="Meiryo UI" panose="020B0604030504040204" pitchFamily="34" charset="-128"/>
                  </a:rPr>
                  <a:t>による予測精度：</a:t>
                </a:r>
                <a:r>
                  <a:rPr lang="ja-JP" altLang="en-US" b="1" dirty="0">
                    <a:latin typeface="Meiryo UI" panose="020B0604030504040204" pitchFamily="34" charset="-128"/>
                    <a:ea typeface="Meiryo UI" panose="020B0604030504040204" pitchFamily="34" charset="-128"/>
                  </a:rPr>
                  <a:t>最大 </a:t>
                </a:r>
                <a:r>
                  <a:rPr lang="en-US" altLang="ja-JP" b="1" dirty="0">
                    <a:latin typeface="Meiryo UI" panose="020B0604030504040204" pitchFamily="34" charset="-128"/>
                    <a:ea typeface="Meiryo UI" panose="020B0604030504040204" pitchFamily="34" charset="-128"/>
                  </a:rPr>
                  <a:t>60.84 </a:t>
                </a:r>
                <a:r>
                  <a:rPr lang="ja-JP" altLang="en-US" b="1" dirty="0">
                    <a:latin typeface="Meiryo UI" panose="020B0604030504040204" pitchFamily="34" charset="-128"/>
                    <a:ea typeface="Meiryo UI" panose="020B0604030504040204" pitchFamily="34" charset="-128"/>
                  </a:rPr>
                  <a:t>％</a:t>
                </a:r>
                <a:endParaRPr lang="en-US" altLang="ja-JP" b="1"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関数 </a:t>
                </a:r>
                <a14:m>
                  <m:oMath xmlns:m="http://schemas.openxmlformats.org/officeDocument/2006/math">
                    <m:r>
                      <a:rPr lang="en-US" altLang="ja-JP" b="0" i="1" smtClean="0">
                        <a:latin typeface="Cambria Math" panose="02040503050406030204" pitchFamily="18" charset="0"/>
                        <a:ea typeface="Meiryo UI" panose="020B0604030504040204" pitchFamily="34" charset="-128"/>
                      </a:rPr>
                      <m:t>𝑓</m:t>
                    </m:r>
                  </m:oMath>
                </a14:m>
                <a:r>
                  <a:rPr lang="ja-JP" altLang="en-US" dirty="0">
                    <a:latin typeface="Meiryo UI" panose="020B0604030504040204" pitchFamily="34" charset="-128"/>
                    <a:ea typeface="Meiryo UI" panose="020B0604030504040204" pitchFamily="34" charset="-128"/>
                  </a:rPr>
                  <a:t> の局所的な構造を効果的に表現している可能性</a:t>
                </a:r>
                <a:endParaRPr lang="en-US" altLang="ja-JP"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画像枚数の増加に伴い、予測精度が低下する傾向</a:t>
                </a:r>
                <a:endParaRPr lang="en-US" altLang="ja-JP" dirty="0">
                  <a:latin typeface="Meiryo UI" panose="020B0604030504040204" pitchFamily="34" charset="-128"/>
                  <a:ea typeface="Meiryo UI" panose="020B0604030504040204" pitchFamily="34" charset="-128"/>
                </a:endParaRPr>
              </a:p>
              <a:p>
                <a:pPr>
                  <a:lnSpc>
                    <a:spcPct val="125000"/>
                  </a:lnSpc>
                  <a:buClr>
                    <a:srgbClr val="002060"/>
                  </a:buClr>
                </a:pPr>
                <a:endParaRPr lang="en-US" altLang="ja-JP" sz="800" dirty="0">
                  <a:latin typeface="Meiryo UI" panose="020B0604030504040204" pitchFamily="34" charset="-128"/>
                  <a:ea typeface="Meiryo UI" panose="020B0604030504040204" pitchFamily="34" charset="-128"/>
                </a:endParaRPr>
              </a:p>
              <a:p>
                <a:pPr marL="457200" indent="-457200">
                  <a:lnSpc>
                    <a:spcPct val="125000"/>
                  </a:lnSpc>
                  <a:buClr>
                    <a:srgbClr val="002060"/>
                  </a:buClr>
                  <a:buFont typeface="Arial" panose="020B0604020202020204" pitchFamily="34" charset="0"/>
                  <a:buChar char="•"/>
                </a:pPr>
                <a:r>
                  <a:rPr lang="ja-JP" altLang="en-US" b="1" dirty="0"/>
                  <a:t>今後の展望</a:t>
                </a:r>
                <a:endParaRPr lang="en-US" altLang="ja-JP" b="1" dirty="0"/>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異なるパラメータ </a:t>
                </a:r>
                <a14:m>
                  <m:oMath xmlns:m="http://schemas.openxmlformats.org/officeDocument/2006/math">
                    <m:r>
                      <a:rPr lang="en-US" altLang="ja-JP" b="0" i="1" smtClean="0">
                        <a:latin typeface="Cambria Math" panose="02040503050406030204" pitchFamily="18" charset="0"/>
                        <a:ea typeface="Meiryo UI" panose="020B0604030504040204" pitchFamily="34" charset="-128"/>
                      </a:rPr>
                      <m:t>(</m:t>
                    </m:r>
                    <m:sSub>
                      <m:sSubPr>
                        <m:ctrlPr>
                          <a:rPr lang="en-US" altLang="ja-JP" b="0" i="1" smtClean="0">
                            <a:latin typeface="Cambria Math" panose="02040503050406030204" pitchFamily="18" charset="0"/>
                            <a:ea typeface="Meiryo UI" panose="020B0604030504040204" pitchFamily="34" charset="-128"/>
                          </a:rPr>
                        </m:ctrlPr>
                      </m:sSubPr>
                      <m:e>
                        <m:r>
                          <a:rPr lang="en-US" altLang="ja-JP" b="0" i="1" smtClean="0">
                            <a:latin typeface="Cambria Math" panose="02040503050406030204" pitchFamily="18" charset="0"/>
                            <a:ea typeface="Meiryo UI" panose="020B0604030504040204" pitchFamily="34" charset="-128"/>
                          </a:rPr>
                          <m:t>𝑘</m:t>
                        </m:r>
                      </m:e>
                      <m:sub>
                        <m:r>
                          <a:rPr lang="en-US" altLang="ja-JP" b="0" i="1" smtClean="0">
                            <a:latin typeface="Cambria Math" panose="02040503050406030204" pitchFamily="18" charset="0"/>
                            <a:ea typeface="Meiryo UI" panose="020B0604030504040204" pitchFamily="34" charset="-128"/>
                          </a:rPr>
                          <m:t>1</m:t>
                        </m:r>
                      </m:sub>
                    </m:sSub>
                    <m:r>
                      <a:rPr lang="en-US" altLang="ja-JP" b="0" i="1" smtClean="0">
                        <a:latin typeface="Cambria Math" panose="02040503050406030204" pitchFamily="18" charset="0"/>
                        <a:ea typeface="Meiryo UI" panose="020B0604030504040204" pitchFamily="34" charset="-128"/>
                      </a:rPr>
                      <m:t>,</m:t>
                    </m:r>
                    <m:sSub>
                      <m:sSubPr>
                        <m:ctrlPr>
                          <a:rPr lang="en-US" altLang="ja-JP" b="0" i="1" smtClean="0">
                            <a:latin typeface="Cambria Math" panose="02040503050406030204" pitchFamily="18" charset="0"/>
                            <a:ea typeface="Meiryo UI" panose="020B0604030504040204" pitchFamily="34" charset="-128"/>
                          </a:rPr>
                        </m:ctrlPr>
                      </m:sSubPr>
                      <m:e>
                        <m:r>
                          <a:rPr lang="en-US" altLang="ja-JP" b="0" i="1" smtClean="0">
                            <a:latin typeface="Cambria Math" panose="02040503050406030204" pitchFamily="18" charset="0"/>
                            <a:ea typeface="Meiryo UI" panose="020B0604030504040204" pitchFamily="34" charset="-128"/>
                          </a:rPr>
                          <m:t>𝑘</m:t>
                        </m:r>
                      </m:e>
                      <m:sub>
                        <m:r>
                          <a:rPr lang="en-US" altLang="ja-JP" b="0" i="1" smtClean="0">
                            <a:latin typeface="Cambria Math" panose="02040503050406030204" pitchFamily="18" charset="0"/>
                            <a:ea typeface="Meiryo UI" panose="020B0604030504040204" pitchFamily="34" charset="-128"/>
                          </a:rPr>
                          <m:t>2</m:t>
                        </m:r>
                      </m:sub>
                    </m:sSub>
                    <m:r>
                      <a:rPr lang="en-US" altLang="ja-JP" b="0" i="1" smtClean="0">
                        <a:latin typeface="Cambria Math" panose="02040503050406030204" pitchFamily="18" charset="0"/>
                        <a:ea typeface="Meiryo UI" panose="020B0604030504040204" pitchFamily="34" charset="-128"/>
                      </a:rPr>
                      <m:t>)</m:t>
                    </m:r>
                  </m:oMath>
                </a14:m>
                <a:r>
                  <a:rPr lang="ja-JP" altLang="en-US" dirty="0">
                    <a:latin typeface="Meiryo UI" panose="020B0604030504040204" pitchFamily="34" charset="-128"/>
                    <a:ea typeface="Meiryo UI" panose="020B0604030504040204" pitchFamily="34" charset="-128"/>
                  </a:rPr>
                  <a:t> 設定における安全性の評価 </a:t>
                </a:r>
                <a:r>
                  <a:rPr lang="en-US" altLang="ja-JP" dirty="0">
                    <a:latin typeface="Meiryo UI" panose="020B0604030504040204" pitchFamily="34" charset="-128"/>
                    <a:ea typeface="Meiryo UI" panose="020B0604030504040204" pitchFamily="34" charset="-128"/>
                  </a:rPr>
                  <a:t>/ </a:t>
                </a:r>
                <a:r>
                  <a:rPr lang="ja-JP" altLang="en-US" dirty="0">
                    <a:latin typeface="Meiryo UI" panose="020B0604030504040204" pitchFamily="34" charset="-128"/>
                    <a:ea typeface="Meiryo UI" panose="020B0604030504040204" pitchFamily="34" charset="-128"/>
                  </a:rPr>
                  <a:t>比較</a:t>
                </a:r>
                <a:endParaRPr lang="en-US" altLang="ja-JP" dirty="0">
                  <a:latin typeface="Meiryo UI" panose="020B0604030504040204" pitchFamily="34" charset="-128"/>
                  <a:ea typeface="Meiryo UI" panose="020B0604030504040204" pitchFamily="34" charset="-128"/>
                </a:endParaRPr>
              </a:p>
              <a:p>
                <a:pPr marL="1143000" lvl="1" indent="-457200">
                  <a:lnSpc>
                    <a:spcPct val="125000"/>
                  </a:lnSpc>
                  <a:buClr>
                    <a:srgbClr val="002060"/>
                  </a:buClr>
                </a:pPr>
                <a:r>
                  <a:rPr lang="ja-JP" altLang="en-US" dirty="0">
                    <a:latin typeface="Meiryo UI" panose="020B0604030504040204" pitchFamily="34" charset="-128"/>
                    <a:ea typeface="Meiryo UI" panose="020B0604030504040204" pitchFamily="34" charset="-128"/>
                  </a:rPr>
                  <a:t>他モデルを用いた予測精度の向上</a:t>
                </a:r>
                <a:endParaRPr lang="en-US" altLang="ja-JP" dirty="0">
                  <a:latin typeface="Meiryo UI" panose="020B0604030504040204" pitchFamily="34" charset="-128"/>
                  <a:ea typeface="Meiryo UI" panose="020B0604030504040204" pitchFamily="34" charset="-128"/>
                </a:endParaRPr>
              </a:p>
            </p:txBody>
          </p:sp>
        </mc:Choice>
        <mc:Fallback xmlns="">
          <p:sp>
            <p:nvSpPr>
              <p:cNvPr id="9" name="コンテンツ プレースホルダー 2">
                <a:extLst>
                  <a:ext uri="{FF2B5EF4-FFF2-40B4-BE49-F238E27FC236}">
                    <a16:creationId xmlns:a16="http://schemas.microsoft.com/office/drawing/2014/main" id="{F87381F5-E4A7-25A5-0CDE-ED88C35D3DA6}"/>
                  </a:ext>
                </a:extLst>
              </p:cNvPr>
              <p:cNvSpPr>
                <a:spLocks noGrp="1" noRot="1" noChangeAspect="1" noMove="1" noResize="1" noEditPoints="1" noAdjustHandles="1" noChangeArrowheads="1" noChangeShapeType="1" noTextEdit="1"/>
              </p:cNvSpPr>
              <p:nvPr>
                <p:ph idx="1"/>
              </p:nvPr>
            </p:nvSpPr>
            <p:spPr>
              <a:xfrm>
                <a:off x="838200" y="1666238"/>
                <a:ext cx="10515600" cy="4496969"/>
              </a:xfrm>
              <a:blipFill>
                <a:blip r:embed="rId3"/>
                <a:stretch>
                  <a:fillRect l="-1043" b="-1220"/>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4605095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718CEA01-8B4C-CDCF-28F6-D90664BB88DB}"/>
              </a:ext>
            </a:extLst>
          </p:cNvPr>
          <p:cNvSpPr>
            <a:spLocks noGrp="1"/>
          </p:cNvSpPr>
          <p:nvPr>
            <p:ph idx="1"/>
          </p:nvPr>
        </p:nvSpPr>
        <p:spPr>
          <a:xfrm>
            <a:off x="838200" y="1296322"/>
            <a:ext cx="10515600" cy="4996876"/>
          </a:xfrm>
        </p:spPr>
        <p:txBody>
          <a:bodyPr>
            <a:normAutofit/>
          </a:bodyPr>
          <a:lstStyle/>
          <a:p>
            <a:pPr algn="ctr"/>
            <a:r>
              <a:rPr kumimoji="1" lang="ja-JP" altLang="en-US" sz="8800" b="1" dirty="0"/>
              <a:t>付録</a:t>
            </a:r>
          </a:p>
        </p:txBody>
      </p:sp>
    </p:spTree>
    <p:extLst>
      <p:ext uri="{BB962C8B-B14F-4D97-AF65-F5344CB8AC3E}">
        <p14:creationId xmlns:p14="http://schemas.microsoft.com/office/powerpoint/2010/main" val="18210292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7CBC7E0-2B26-93EF-C9D3-ECC55535D6B3}"/>
              </a:ext>
            </a:extLst>
          </p:cNvPr>
          <p:cNvSpPr>
            <a:spLocks noGrp="1"/>
          </p:cNvSpPr>
          <p:nvPr>
            <p:ph type="title"/>
          </p:nvPr>
        </p:nvSpPr>
        <p:spPr/>
        <p:txBody>
          <a:bodyPr lIns="90000" anchor="ctr" anchorCtr="0"/>
          <a:lstStyle/>
          <a:p>
            <a:r>
              <a:rPr lang="ja-JP" altLang="en-US" b="1" dirty="0"/>
              <a:t>人間計算可能関数（一般形）</a:t>
            </a:r>
            <a:endParaRPr kumimoji="1" lang="ja-JP" altLang="en-US" b="1" dirty="0">
              <a:latin typeface="Meiryo UI" panose="020B0604030504040204" pitchFamily="34" charset="-128"/>
              <a:ea typeface="Meiryo UI" panose="020B0604030504040204" pitchFamily="34" charset="-128"/>
            </a:endParaRPr>
          </a:p>
        </p:txBody>
      </p:sp>
      <p:sp>
        <p:nvSpPr>
          <p:cNvPr id="3" name="コンテンツ プレースホルダー 2">
            <a:extLst>
              <a:ext uri="{FF2B5EF4-FFF2-40B4-BE49-F238E27FC236}">
                <a16:creationId xmlns:a16="http://schemas.microsoft.com/office/drawing/2014/main" id="{549CCC03-81F3-336D-53DE-2428EF2C3506}"/>
              </a:ext>
            </a:extLst>
          </p:cNvPr>
          <p:cNvSpPr>
            <a:spLocks noGrp="1"/>
          </p:cNvSpPr>
          <p:nvPr>
            <p:ph idx="1"/>
          </p:nvPr>
        </p:nvSpPr>
        <p:spPr>
          <a:xfrm>
            <a:off x="838200" y="1399739"/>
            <a:ext cx="10515600" cy="1516182"/>
          </a:xfrm>
        </p:spPr>
        <p:txBody>
          <a:bodyPr anchor="ctr" anchorCtr="0">
            <a:normAutofit/>
          </a:bodyPr>
          <a:lstStyle/>
          <a:p>
            <a:pPr marL="457200" indent="-457200">
              <a:buClr>
                <a:srgbClr val="002060"/>
              </a:buClr>
              <a:buFont typeface="Arial" panose="020B0604020202020204" pitchFamily="34" charset="0"/>
              <a:buChar char="•"/>
            </a:pPr>
            <a:r>
              <a:rPr kumimoji="1" lang="ja-JP" altLang="en-US" sz="2800" dirty="0">
                <a:latin typeface="Meiryo UI" panose="020B0604030504040204" pitchFamily="34" charset="-128"/>
                <a:ea typeface="Meiryo UI" panose="020B0604030504040204" pitchFamily="34" charset="-128"/>
              </a:rPr>
              <a:t>人間計算可能関数：</a:t>
            </a:r>
            <a:endParaRPr kumimoji="1" lang="en-US" altLang="ja-JP" sz="2800" dirty="0">
              <a:latin typeface="Meiryo UI" panose="020B0604030504040204" pitchFamily="34" charset="-128"/>
              <a:ea typeface="Meiryo UI" panose="020B0604030504040204" pitchFamily="34" charset="-128"/>
            </a:endParaRPr>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9" name="テキスト ボックス 8">
                <a:extLst>
                  <a:ext uri="{FF2B5EF4-FFF2-40B4-BE49-F238E27FC236}">
                    <a16:creationId xmlns:a16="http://schemas.microsoft.com/office/drawing/2014/main" id="{1076AFE3-3520-C8C4-A406-C96002EA78BC}"/>
                  </a:ext>
                </a:extLst>
              </p:cNvPr>
              <p:cNvSpPr txBox="1"/>
              <p:nvPr/>
            </p:nvSpPr>
            <p:spPr>
              <a:xfrm>
                <a:off x="1117595" y="2466350"/>
                <a:ext cx="9956801" cy="1000595"/>
              </a:xfrm>
              <a:prstGeom prst="rect">
                <a:avLst/>
              </a:prstGeom>
              <a:noFill/>
              <a:ln>
                <a:solidFill>
                  <a:schemeClr val="tx1"/>
                </a:solidFill>
              </a:ln>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ja-JP" altLang="en-US" sz="2000" b="1" i="1" smtClean="0">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𝒇</m:t>
                          </m:r>
                        </m:e>
                        <m:sub>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𝟏</m:t>
                              </m:r>
                            </m:sub>
                          </m:sSub>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𝟐</m:t>
                              </m:r>
                            </m:sub>
                          </m:sSub>
                        </m:sub>
                      </m:sSub>
                      <m:d>
                        <m:dPr>
                          <m:ctrlPr>
                            <a:rPr lang="ja-JP" altLang="en-US" sz="2000" b="1" i="1">
                              <a:solidFill>
                                <a:srgbClr val="836967"/>
                              </a:solidFill>
                              <a:effectLst/>
                              <a:latin typeface="Cambria Math" panose="02040503050406030204" pitchFamily="18" charset="0"/>
                            </a:rPr>
                          </m:ctrlPr>
                        </m:dPr>
                        <m:e>
                          <m:r>
                            <a:rPr lang="en-US" altLang="ja-JP" sz="2000" b="1" i="1" smtClean="0">
                              <a:solidFill>
                                <a:srgbClr val="836967"/>
                              </a:solidFill>
                              <a:effectLst/>
                              <a:latin typeface="Cambria Math" panose="02040503050406030204" pitchFamily="18" charset="0"/>
                            </a:rPr>
                            <m:t> </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𝒙</m:t>
                              </m:r>
                            </m:e>
                            <m:sub>
                              <m:r>
                                <a:rPr lang="ja-JP" altLang="en-US" sz="2000" b="1" i="0">
                                  <a:effectLst/>
                                  <a:latin typeface="Cambria Math" panose="02040503050406030204" pitchFamily="18" charset="0"/>
                                </a:rPr>
                                <m:t>𝟎</m:t>
                              </m:r>
                            </m:sub>
                          </m:sSub>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𝒙</m:t>
                              </m:r>
                            </m:e>
                            <m:sub>
                              <m:r>
                                <a:rPr lang="ja-JP" altLang="en-US" sz="2000" b="1" i="0">
                                  <a:effectLst/>
                                  <a:latin typeface="Cambria Math" panose="02040503050406030204" pitchFamily="18" charset="0"/>
                                </a:rPr>
                                <m:t>𝟗</m:t>
                              </m:r>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𝟏</m:t>
                                  </m:r>
                                </m:sub>
                              </m:sSub>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𝟐</m:t>
                                  </m:r>
                                </m:sub>
                              </m:sSub>
                            </m:sub>
                          </m:sSub>
                          <m:r>
                            <a:rPr lang="en-US" altLang="ja-JP" sz="2000" b="1" i="1" smtClean="0">
                              <a:effectLst/>
                              <a:latin typeface="Cambria Math" panose="02040503050406030204" pitchFamily="18" charset="0"/>
                            </a:rPr>
                            <m:t> </m:t>
                          </m:r>
                        </m:e>
                      </m:d>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𝒙</m:t>
                          </m:r>
                        </m:e>
                        <m:sub>
                          <m:r>
                            <a:rPr lang="ja-JP" altLang="en-US" sz="2000" b="1" i="1">
                              <a:effectLst/>
                              <a:latin typeface="Cambria Math" panose="02040503050406030204" pitchFamily="18" charset="0"/>
                            </a:rPr>
                            <m:t>𝒋</m:t>
                          </m:r>
                        </m:sub>
                      </m:sSub>
                      <m:r>
                        <a:rPr lang="ja-JP" altLang="en-US" sz="2000" b="1" i="0">
                          <a:effectLst/>
                          <a:latin typeface="Cambria Math" panose="02040503050406030204" pitchFamily="18" charset="0"/>
                        </a:rPr>
                        <m:t>+</m:t>
                      </m:r>
                      <m:nary>
                        <m:naryPr>
                          <m:chr m:val="∑"/>
                          <m:limLoc m:val="undOvr"/>
                          <m:ctrlPr>
                            <a:rPr lang="ja-JP" altLang="en-US" sz="2000" b="1" i="1">
                              <a:effectLst/>
                              <a:latin typeface="Cambria Math" panose="02040503050406030204" pitchFamily="18" charset="0"/>
                            </a:rPr>
                          </m:ctrlPr>
                        </m:naryPr>
                        <m:sub>
                          <m:r>
                            <a:rPr lang="ja-JP" altLang="en-US" sz="2000" b="1" i="1">
                              <a:effectLst/>
                              <a:latin typeface="Cambria Math" panose="02040503050406030204" pitchFamily="18" charset="0"/>
                            </a:rPr>
                            <m:t>𝒊</m:t>
                          </m:r>
                          <m:r>
                            <a:rPr lang="ja-JP" altLang="en-US" sz="2000" b="1" i="0">
                              <a:effectLst/>
                              <a:latin typeface="Cambria Math" panose="02040503050406030204" pitchFamily="18" charset="0"/>
                            </a:rPr>
                            <m:t>=</m:t>
                          </m:r>
                          <m:r>
                            <a:rPr lang="ja-JP" altLang="en-US" sz="2000" b="1" i="0">
                              <a:effectLst/>
                              <a:latin typeface="Cambria Math" panose="02040503050406030204" pitchFamily="18" charset="0"/>
                            </a:rPr>
                            <m:t>𝟏𝟎</m:t>
                          </m:r>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𝟏</m:t>
                              </m:r>
                            </m:sub>
                          </m:sSub>
                        </m:sub>
                        <m:sup>
                          <m:r>
                            <a:rPr lang="ja-JP" altLang="en-US" sz="2000" b="1" i="0">
                              <a:effectLst/>
                              <a:latin typeface="Cambria Math" panose="02040503050406030204" pitchFamily="18" charset="0"/>
                            </a:rPr>
                            <m:t>𝟗</m:t>
                          </m:r>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𝟏</m:t>
                              </m:r>
                            </m:sub>
                          </m:sSub>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𝟐</m:t>
                              </m:r>
                            </m:sub>
                          </m:sSub>
                        </m:sup>
                        <m:e>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𝒙</m:t>
                              </m:r>
                            </m:e>
                            <m:sub>
                              <m:r>
                                <a:rPr lang="ja-JP" altLang="en-US" sz="2000" b="1" i="1">
                                  <a:effectLst/>
                                  <a:latin typeface="Cambria Math" panose="02040503050406030204" pitchFamily="18" charset="0"/>
                                </a:rPr>
                                <m:t>𝒊</m:t>
                              </m:r>
                            </m:sub>
                          </m:sSub>
                        </m:e>
                      </m:nary>
                      <m:r>
                        <a:rPr lang="ja-JP" altLang="en-US" sz="2000" b="1" i="0">
                          <a:effectLst/>
                          <a:latin typeface="Cambria Math" panose="02040503050406030204" pitchFamily="18" charset="0"/>
                        </a:rPr>
                        <m:t> </m:t>
                      </m:r>
                      <m:r>
                        <a:rPr lang="ja-JP" altLang="en-US" sz="2000" b="1" i="1">
                          <a:effectLst/>
                          <a:latin typeface="Cambria Math" panose="02040503050406030204" pitchFamily="18" charset="0"/>
                        </a:rPr>
                        <m:t>𝒎𝒐𝒅</m:t>
                      </m:r>
                      <m:r>
                        <a:rPr lang="ja-JP" altLang="en-US" sz="2000" b="1" i="0">
                          <a:effectLst/>
                          <a:latin typeface="Cambria Math" panose="02040503050406030204" pitchFamily="18" charset="0"/>
                        </a:rPr>
                        <m:t> </m:t>
                      </m:r>
                      <m:r>
                        <a:rPr lang="ja-JP" altLang="en-US" sz="2000" b="1" i="0">
                          <a:effectLst/>
                          <a:latin typeface="Cambria Math" panose="02040503050406030204" pitchFamily="18" charset="0"/>
                        </a:rPr>
                        <m:t>𝟏𝟎</m:t>
                      </m:r>
                      <m:r>
                        <a:rPr lang="ja-JP" altLang="en-US" sz="2000" b="1" i="0">
                          <a:effectLst/>
                          <a:latin typeface="Cambria Math" panose="02040503050406030204" pitchFamily="18" charset="0"/>
                        </a:rPr>
                        <m:t>　</m:t>
                      </m:r>
                      <m:r>
                        <a:rPr lang="ja-JP" altLang="en-US" sz="2000" b="1" i="1">
                          <a:latin typeface="Cambria Math" panose="02040503050406030204" pitchFamily="18" charset="0"/>
                        </a:rPr>
                        <m:t>ただし、</m:t>
                      </m:r>
                      <m:r>
                        <a:rPr lang="ja-JP" altLang="en-US" sz="2000" b="1" i="1">
                          <a:effectLst/>
                          <a:latin typeface="Cambria Math" panose="02040503050406030204" pitchFamily="18" charset="0"/>
                        </a:rPr>
                        <m:t>𝒋</m:t>
                      </m:r>
                      <m:r>
                        <a:rPr lang="ja-JP" altLang="en-US" sz="2000" b="1" i="0">
                          <a:effectLst/>
                          <a:latin typeface="Cambria Math" panose="02040503050406030204" pitchFamily="18" charset="0"/>
                        </a:rPr>
                        <m:t>=</m:t>
                      </m:r>
                      <m:nary>
                        <m:naryPr>
                          <m:chr m:val="∑"/>
                          <m:limLoc m:val="undOvr"/>
                          <m:ctrlPr>
                            <a:rPr lang="ja-JP" altLang="en-US" sz="2000" b="1" i="1">
                              <a:effectLst/>
                              <a:latin typeface="Cambria Math" panose="02040503050406030204" pitchFamily="18" charset="0"/>
                            </a:rPr>
                          </m:ctrlPr>
                        </m:naryPr>
                        <m:sub>
                          <m:r>
                            <a:rPr lang="ja-JP" altLang="en-US" sz="2000" b="1" i="1">
                              <a:effectLst/>
                              <a:latin typeface="Cambria Math" panose="02040503050406030204" pitchFamily="18" charset="0"/>
                            </a:rPr>
                            <m:t>𝒊</m:t>
                          </m:r>
                          <m:r>
                            <a:rPr lang="ja-JP" altLang="en-US" sz="2000" b="1" i="0">
                              <a:effectLst/>
                              <a:latin typeface="Cambria Math" panose="02040503050406030204" pitchFamily="18" charset="0"/>
                            </a:rPr>
                            <m:t>=</m:t>
                          </m:r>
                          <m:r>
                            <a:rPr lang="ja-JP" altLang="en-US" sz="2000" b="1" i="0">
                              <a:effectLst/>
                              <a:latin typeface="Cambria Math" panose="02040503050406030204" pitchFamily="18" charset="0"/>
                            </a:rPr>
                            <m:t>𝟏𝟎</m:t>
                          </m:r>
                        </m:sub>
                        <m:sup>
                          <m:r>
                            <a:rPr lang="ja-JP" altLang="en-US" sz="2000" b="1" i="0">
                              <a:effectLst/>
                              <a:latin typeface="Cambria Math" panose="02040503050406030204" pitchFamily="18" charset="0"/>
                            </a:rPr>
                            <m:t>𝟗</m:t>
                          </m:r>
                          <m:r>
                            <a:rPr lang="ja-JP" altLang="en-US" sz="2000" b="1" i="0">
                              <a:effectLst/>
                              <a:latin typeface="Cambria Math" panose="02040503050406030204" pitchFamily="18" charset="0"/>
                            </a:rPr>
                            <m:t>+</m:t>
                          </m:r>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𝒌</m:t>
                              </m:r>
                            </m:e>
                            <m:sub>
                              <m:r>
                                <a:rPr lang="ja-JP" altLang="en-US" sz="2000" b="1" i="0">
                                  <a:effectLst/>
                                  <a:latin typeface="Cambria Math" panose="02040503050406030204" pitchFamily="18" charset="0"/>
                                </a:rPr>
                                <m:t>𝟏</m:t>
                              </m:r>
                            </m:sub>
                          </m:sSub>
                        </m:sup>
                        <m:e>
                          <m:sSub>
                            <m:sSubPr>
                              <m:ctrlPr>
                                <a:rPr lang="ja-JP" altLang="en-US" sz="2000" b="1" i="1">
                                  <a:solidFill>
                                    <a:srgbClr val="836967"/>
                                  </a:solidFill>
                                  <a:effectLst/>
                                  <a:latin typeface="Cambria Math" panose="02040503050406030204" pitchFamily="18" charset="0"/>
                                </a:rPr>
                              </m:ctrlPr>
                            </m:sSubPr>
                            <m:e>
                              <m:r>
                                <a:rPr lang="ja-JP" altLang="en-US" sz="2000" b="1" i="1">
                                  <a:effectLst/>
                                  <a:latin typeface="Cambria Math" panose="02040503050406030204" pitchFamily="18" charset="0"/>
                                </a:rPr>
                                <m:t>𝒙</m:t>
                              </m:r>
                            </m:e>
                            <m:sub>
                              <m:r>
                                <a:rPr lang="ja-JP" altLang="en-US" sz="2000" b="1" i="1">
                                  <a:effectLst/>
                                  <a:latin typeface="Cambria Math" panose="02040503050406030204" pitchFamily="18" charset="0"/>
                                </a:rPr>
                                <m:t>𝒊</m:t>
                              </m:r>
                            </m:sub>
                          </m:sSub>
                        </m:e>
                      </m:nary>
                      <m:r>
                        <a:rPr lang="ja-JP" altLang="en-US" sz="2000" b="1" i="0">
                          <a:effectLst/>
                          <a:latin typeface="Cambria Math" panose="02040503050406030204" pitchFamily="18" charset="0"/>
                        </a:rPr>
                        <m:t> </m:t>
                      </m:r>
                      <m:r>
                        <a:rPr lang="ja-JP" altLang="en-US" sz="2000" b="1" i="1">
                          <a:effectLst/>
                          <a:latin typeface="Cambria Math" panose="02040503050406030204" pitchFamily="18" charset="0"/>
                        </a:rPr>
                        <m:t>𝒎𝒐𝒅</m:t>
                      </m:r>
                      <m:r>
                        <a:rPr lang="ja-JP" altLang="en-US" sz="2000" b="1" i="0">
                          <a:effectLst/>
                          <a:latin typeface="Cambria Math" panose="02040503050406030204" pitchFamily="18" charset="0"/>
                        </a:rPr>
                        <m:t> </m:t>
                      </m:r>
                      <m:r>
                        <a:rPr lang="ja-JP" altLang="en-US" sz="2000" b="1" i="0">
                          <a:effectLst/>
                          <a:latin typeface="Cambria Math" panose="02040503050406030204" pitchFamily="18" charset="0"/>
                        </a:rPr>
                        <m:t>𝟏𝟎</m:t>
                      </m:r>
                    </m:oMath>
                  </m:oMathPara>
                </a14:m>
                <a:endParaRPr lang="ja-JP" altLang="en-US" sz="2000" b="1" dirty="0">
                  <a:effectLst/>
                  <a:latin typeface="Meiryo UI" panose="020B0604030504040204" pitchFamily="50" charset="-128"/>
                  <a:ea typeface="Meiryo UI" panose="020B0604030504040204" pitchFamily="50" charset="-128"/>
                </a:endParaRPr>
              </a:p>
            </p:txBody>
          </p:sp>
        </mc:Choice>
        <mc:Fallback xmlns="">
          <p:sp>
            <p:nvSpPr>
              <p:cNvPr id="9" name="テキスト ボックス 8">
                <a:extLst>
                  <a:ext uri="{FF2B5EF4-FFF2-40B4-BE49-F238E27FC236}">
                    <a16:creationId xmlns:a16="http://schemas.microsoft.com/office/drawing/2014/main" id="{1076AFE3-3520-C8C4-A406-C96002EA78BC}"/>
                  </a:ext>
                </a:extLst>
              </p:cNvPr>
              <p:cNvSpPr txBox="1">
                <a:spLocks noRot="1" noChangeAspect="1" noMove="1" noResize="1" noEditPoints="1" noAdjustHandles="1" noChangeArrowheads="1" noChangeShapeType="1" noTextEdit="1"/>
              </p:cNvSpPr>
              <p:nvPr/>
            </p:nvSpPr>
            <p:spPr>
              <a:xfrm>
                <a:off x="1117595" y="2466350"/>
                <a:ext cx="9956801" cy="1000595"/>
              </a:xfrm>
              <a:prstGeom prst="rect">
                <a:avLst/>
              </a:prstGeom>
              <a:blipFill>
                <a:blip r:embed="rId3"/>
                <a:stretch>
                  <a:fillRect/>
                </a:stretch>
              </a:blipFill>
              <a:ln>
                <a:solidFill>
                  <a:schemeClr val="tx1"/>
                </a:solidFill>
              </a:ln>
            </p:spPr>
            <p:txBody>
              <a:bodyPr/>
              <a:lstStyle/>
              <a:p>
                <a:r>
                  <a:rPr lang="ja-JP" altLang="en-US">
                    <a:noFill/>
                  </a:rPr>
                  <a:t> </a:t>
                </a:r>
              </a:p>
            </p:txBody>
          </p:sp>
        </mc:Fallback>
      </mc:AlternateContent>
    </p:spTree>
    <p:extLst>
      <p:ext uri="{BB962C8B-B14F-4D97-AF65-F5344CB8AC3E}">
        <p14:creationId xmlns:p14="http://schemas.microsoft.com/office/powerpoint/2010/main" val="1605305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人間計算可能なパスワード</a:t>
            </a:r>
          </a:p>
        </p:txBody>
      </p:sp>
      <p:grpSp>
        <p:nvGrpSpPr>
          <p:cNvPr id="5" name="グループ化 4">
            <a:extLst>
              <a:ext uri="{FF2B5EF4-FFF2-40B4-BE49-F238E27FC236}">
                <a16:creationId xmlns:a16="http://schemas.microsoft.com/office/drawing/2014/main" id="{93A305FF-4EF1-1922-A47C-234D02929286}"/>
              </a:ext>
            </a:extLst>
          </p:cNvPr>
          <p:cNvGrpSpPr/>
          <p:nvPr/>
        </p:nvGrpSpPr>
        <p:grpSpPr>
          <a:xfrm>
            <a:off x="2274774" y="1455377"/>
            <a:ext cx="7896449" cy="5186183"/>
            <a:chOff x="2476661" y="1181340"/>
            <a:chExt cx="7896449" cy="5186183"/>
          </a:xfrm>
        </p:grpSpPr>
        <p:grpSp>
          <p:nvGrpSpPr>
            <p:cNvPr id="6" name="グループ化 5">
              <a:extLst>
                <a:ext uri="{FF2B5EF4-FFF2-40B4-BE49-F238E27FC236}">
                  <a16:creationId xmlns:a16="http://schemas.microsoft.com/office/drawing/2014/main" id="{FBB9B5DE-831A-C6B5-5E6A-837C06932943}"/>
                </a:ext>
              </a:extLst>
            </p:cNvPr>
            <p:cNvGrpSpPr/>
            <p:nvPr/>
          </p:nvGrpSpPr>
          <p:grpSpPr>
            <a:xfrm>
              <a:off x="2476661" y="1292761"/>
              <a:ext cx="4315440" cy="5074762"/>
              <a:chOff x="2509272" y="1235549"/>
              <a:chExt cx="4315440" cy="5074762"/>
            </a:xfrm>
          </p:grpSpPr>
          <p:sp>
            <p:nvSpPr>
              <p:cNvPr id="42" name="正方形/長方形 41">
                <a:extLst>
                  <a:ext uri="{FF2B5EF4-FFF2-40B4-BE49-F238E27FC236}">
                    <a16:creationId xmlns:a16="http://schemas.microsoft.com/office/drawing/2014/main" id="{A7244125-7B74-24FB-2E4C-EDDAC560F1CB}"/>
                  </a:ext>
                </a:extLst>
              </p:cNvPr>
              <p:cNvSpPr/>
              <p:nvPr/>
            </p:nvSpPr>
            <p:spPr>
              <a:xfrm>
                <a:off x="2509272" y="2135476"/>
                <a:ext cx="2359742" cy="41748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1F459B8D-0613-3C21-86B9-2A473CEBA43A}"/>
                  </a:ext>
                </a:extLst>
              </p:cNvPr>
              <p:cNvSpPr txBox="1"/>
              <p:nvPr/>
            </p:nvSpPr>
            <p:spPr>
              <a:xfrm>
                <a:off x="3111908" y="1971778"/>
                <a:ext cx="1154470" cy="379164"/>
              </a:xfrm>
              <a:prstGeom prst="rect">
                <a:avLst/>
              </a:prstGeom>
              <a:solidFill>
                <a:schemeClr val="bg1"/>
              </a:solidFill>
            </p:spPr>
            <p:txBody>
              <a:bodyPr wrap="square" rtlCol="0">
                <a:spAutoFit/>
              </a:bodyPr>
              <a:lstStyle/>
              <a:p>
                <a:pPr algn="ctr"/>
                <a:r>
                  <a:rPr kumimoji="1" lang="ja-JP" altLang="en-US" dirty="0"/>
                  <a:t>ユーザ</a:t>
                </a:r>
              </a:p>
            </p:txBody>
          </p:sp>
          <p:grpSp>
            <p:nvGrpSpPr>
              <p:cNvPr id="44" name="グループ化 43">
                <a:extLst>
                  <a:ext uri="{FF2B5EF4-FFF2-40B4-BE49-F238E27FC236}">
                    <a16:creationId xmlns:a16="http://schemas.microsoft.com/office/drawing/2014/main" id="{CCEB5CFD-4062-F5A2-5ED5-A49268ABD24F}"/>
                  </a:ext>
                </a:extLst>
              </p:cNvPr>
              <p:cNvGrpSpPr/>
              <p:nvPr/>
            </p:nvGrpSpPr>
            <p:grpSpPr>
              <a:xfrm>
                <a:off x="2817268" y="2554116"/>
                <a:ext cx="1791595" cy="3505850"/>
                <a:chOff x="2817268" y="2554116"/>
                <a:chExt cx="1791595" cy="3505850"/>
              </a:xfrm>
            </p:grpSpPr>
            <p:grpSp>
              <p:nvGrpSpPr>
                <p:cNvPr id="50" name="グループ化 49">
                  <a:extLst>
                    <a:ext uri="{FF2B5EF4-FFF2-40B4-BE49-F238E27FC236}">
                      <a16:creationId xmlns:a16="http://schemas.microsoft.com/office/drawing/2014/main" id="{D2F32EFE-CAB7-93AE-AD25-8B89E0CDCFCB}"/>
                    </a:ext>
                  </a:extLst>
                </p:cNvPr>
                <p:cNvGrpSpPr/>
                <p:nvPr/>
              </p:nvGrpSpPr>
              <p:grpSpPr>
                <a:xfrm>
                  <a:off x="2817268" y="3981789"/>
                  <a:ext cx="1394543" cy="646332"/>
                  <a:chOff x="5398725" y="5140564"/>
                  <a:chExt cx="1394543" cy="646332"/>
                </a:xfrm>
              </p:grpSpPr>
              <p:sp>
                <p:nvSpPr>
                  <p:cNvPr id="61" name="テキスト ボックス 60">
                    <a:extLst>
                      <a:ext uri="{FF2B5EF4-FFF2-40B4-BE49-F238E27FC236}">
                        <a16:creationId xmlns:a16="http://schemas.microsoft.com/office/drawing/2014/main" id="{01D78D56-DF05-22CA-446D-6B6AE22FDDD3}"/>
                      </a:ext>
                    </a:extLst>
                  </p:cNvPr>
                  <p:cNvSpPr txBox="1"/>
                  <p:nvPr/>
                </p:nvSpPr>
                <p:spPr>
                  <a:xfrm>
                    <a:off x="5398725" y="5268412"/>
                    <a:ext cx="1394543" cy="408623"/>
                  </a:xfrm>
                  <a:prstGeom prst="roundRect">
                    <a:avLst/>
                  </a:prstGeom>
                  <a:noFill/>
                  <a:ln w="19050">
                    <a:noFill/>
                  </a:ln>
                </p:spPr>
                <p:txBody>
                  <a:bodyPr wrap="square" rtlCol="0">
                    <a:spAutoFit/>
                  </a:bodyPr>
                  <a:lstStyle/>
                  <a:p>
                    <a:pPr algn="ctr"/>
                    <a:r>
                      <a:rPr lang="ja-JP" altLang="en-US" b="1" dirty="0"/>
                      <a:t>数値</a:t>
                    </a:r>
                    <a:endParaRPr kumimoji="1" lang="ja-JP" altLang="en-US" b="1" dirty="0"/>
                  </a:p>
                </p:txBody>
              </p:sp>
              <p:sp>
                <p:nvSpPr>
                  <p:cNvPr id="62" name="正方形/長方形 12">
                    <a:extLst>
                      <a:ext uri="{FF2B5EF4-FFF2-40B4-BE49-F238E27FC236}">
                        <a16:creationId xmlns:a16="http://schemas.microsoft.com/office/drawing/2014/main" id="{BB5DEC38-B1AB-4AAC-FDE4-7C394B9EE455}"/>
                      </a:ext>
                    </a:extLst>
                  </p:cNvPr>
                  <p:cNvSpPr/>
                  <p:nvPr/>
                </p:nvSpPr>
                <p:spPr>
                  <a:xfrm>
                    <a:off x="5398725" y="5140564"/>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1" name="グループ化 50">
                  <a:extLst>
                    <a:ext uri="{FF2B5EF4-FFF2-40B4-BE49-F238E27FC236}">
                      <a16:creationId xmlns:a16="http://schemas.microsoft.com/office/drawing/2014/main" id="{DEB82F77-2ADA-C94F-8A8B-4DCAA524D0C2}"/>
                    </a:ext>
                  </a:extLst>
                </p:cNvPr>
                <p:cNvGrpSpPr/>
                <p:nvPr/>
              </p:nvGrpSpPr>
              <p:grpSpPr>
                <a:xfrm>
                  <a:off x="2817269" y="5413634"/>
                  <a:ext cx="1401096" cy="646332"/>
                  <a:chOff x="8187810" y="5144985"/>
                  <a:chExt cx="1401096" cy="646332"/>
                </a:xfrm>
              </p:grpSpPr>
              <p:sp>
                <p:nvSpPr>
                  <p:cNvPr id="59" name="テキスト ボックス 58">
                    <a:extLst>
                      <a:ext uri="{FF2B5EF4-FFF2-40B4-BE49-F238E27FC236}">
                        <a16:creationId xmlns:a16="http://schemas.microsoft.com/office/drawing/2014/main" id="{95180D32-D3F9-CF0E-A54F-3CB53B6C5213}"/>
                      </a:ext>
                    </a:extLst>
                  </p:cNvPr>
                  <p:cNvSpPr txBox="1"/>
                  <p:nvPr/>
                </p:nvSpPr>
                <p:spPr>
                  <a:xfrm>
                    <a:off x="8187810" y="5259667"/>
                    <a:ext cx="1394542" cy="408623"/>
                  </a:xfrm>
                  <a:prstGeom prst="roundRect">
                    <a:avLst/>
                  </a:prstGeom>
                  <a:noFill/>
                  <a:ln w="19050">
                    <a:noFill/>
                  </a:ln>
                </p:spPr>
                <p:txBody>
                  <a:bodyPr wrap="square" rtlCol="0" anchor="t">
                    <a:spAutoFit/>
                  </a:bodyPr>
                  <a:lstStyle/>
                  <a:p>
                    <a:pPr algn="ctr"/>
                    <a:r>
                      <a:rPr lang="ja-JP" altLang="en-US" b="1" dirty="0"/>
                      <a:t>数値</a:t>
                    </a:r>
                    <a:endParaRPr kumimoji="1" lang="ja-JP" altLang="en-US" b="1" dirty="0"/>
                  </a:p>
                </p:txBody>
              </p:sp>
              <p:sp>
                <p:nvSpPr>
                  <p:cNvPr id="60" name="正方形/長方形 16">
                    <a:extLst>
                      <a:ext uri="{FF2B5EF4-FFF2-40B4-BE49-F238E27FC236}">
                        <a16:creationId xmlns:a16="http://schemas.microsoft.com/office/drawing/2014/main" id="{2F6E9911-9615-5046-CDED-5C7DD77515DE}"/>
                      </a:ext>
                    </a:extLst>
                  </p:cNvPr>
                  <p:cNvSpPr/>
                  <p:nvPr/>
                </p:nvSpPr>
                <p:spPr>
                  <a:xfrm>
                    <a:off x="8194363" y="5144985"/>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52" name="グループ化 51">
                  <a:extLst>
                    <a:ext uri="{FF2B5EF4-FFF2-40B4-BE49-F238E27FC236}">
                      <a16:creationId xmlns:a16="http://schemas.microsoft.com/office/drawing/2014/main" id="{7B1AE70E-EC63-043D-6B01-D9C15E8A2CD1}"/>
                    </a:ext>
                  </a:extLst>
                </p:cNvPr>
                <p:cNvGrpSpPr/>
                <p:nvPr/>
              </p:nvGrpSpPr>
              <p:grpSpPr>
                <a:xfrm>
                  <a:off x="2817269" y="2554116"/>
                  <a:ext cx="1397822" cy="646332"/>
                  <a:chOff x="2596529" y="5140564"/>
                  <a:chExt cx="1397822" cy="646332"/>
                </a:xfrm>
              </p:grpSpPr>
              <p:sp>
                <p:nvSpPr>
                  <p:cNvPr id="57" name="テキスト ボックス 56">
                    <a:extLst>
                      <a:ext uri="{FF2B5EF4-FFF2-40B4-BE49-F238E27FC236}">
                        <a16:creationId xmlns:a16="http://schemas.microsoft.com/office/drawing/2014/main" id="{7746900F-309B-2B0D-D736-AC8EB75911A9}"/>
                      </a:ext>
                    </a:extLst>
                  </p:cNvPr>
                  <p:cNvSpPr txBox="1"/>
                  <p:nvPr/>
                </p:nvSpPr>
                <p:spPr>
                  <a:xfrm>
                    <a:off x="2596529" y="5259419"/>
                    <a:ext cx="1394543" cy="408623"/>
                  </a:xfrm>
                  <a:prstGeom prst="roundRect">
                    <a:avLst/>
                  </a:prstGeom>
                  <a:noFill/>
                  <a:ln w="19050">
                    <a:noFill/>
                  </a:ln>
                </p:spPr>
                <p:txBody>
                  <a:bodyPr wrap="square" rtlCol="0" anchor="t">
                    <a:spAutoFit/>
                  </a:bodyPr>
                  <a:lstStyle/>
                  <a:p>
                    <a:pPr algn="ctr"/>
                    <a:r>
                      <a:rPr lang="ja-JP" altLang="en-US" b="1" dirty="0"/>
                      <a:t>画像</a:t>
                    </a:r>
                    <a:endParaRPr kumimoji="1" lang="ja-JP" altLang="en-US" b="1" dirty="0"/>
                  </a:p>
                </p:txBody>
              </p:sp>
              <p:sp>
                <p:nvSpPr>
                  <p:cNvPr id="58" name="正方形/長方形 16">
                    <a:extLst>
                      <a:ext uri="{FF2B5EF4-FFF2-40B4-BE49-F238E27FC236}">
                        <a16:creationId xmlns:a16="http://schemas.microsoft.com/office/drawing/2014/main" id="{B1D4A9A5-A6B5-475D-D82B-3BB1C4BF19BF}"/>
                      </a:ext>
                    </a:extLst>
                  </p:cNvPr>
                  <p:cNvSpPr/>
                  <p:nvPr/>
                </p:nvSpPr>
                <p:spPr>
                  <a:xfrm>
                    <a:off x="2599808" y="5140564"/>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3" name="矢印: 右 52">
                  <a:extLst>
                    <a:ext uri="{FF2B5EF4-FFF2-40B4-BE49-F238E27FC236}">
                      <a16:creationId xmlns:a16="http://schemas.microsoft.com/office/drawing/2014/main" id="{4C279C0B-064E-E8B6-3B22-2490F14B982D}"/>
                    </a:ext>
                  </a:extLst>
                </p:cNvPr>
                <p:cNvSpPr/>
                <p:nvPr/>
              </p:nvSpPr>
              <p:spPr>
                <a:xfrm rot="5400000">
                  <a:off x="3212844" y="3399068"/>
                  <a:ext cx="603388" cy="379931"/>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54" name="テキスト ボックス 53">
                  <a:extLst>
                    <a:ext uri="{FF2B5EF4-FFF2-40B4-BE49-F238E27FC236}">
                      <a16:creationId xmlns:a16="http://schemas.microsoft.com/office/drawing/2014/main" id="{4D48CFDC-592A-6160-AF0C-829F8A437CBE}"/>
                    </a:ext>
                  </a:extLst>
                </p:cNvPr>
                <p:cNvSpPr txBox="1"/>
                <p:nvPr/>
              </p:nvSpPr>
              <p:spPr>
                <a:xfrm>
                  <a:off x="3720890" y="3404365"/>
                  <a:ext cx="887973" cy="369332"/>
                </a:xfrm>
                <a:prstGeom prst="rect">
                  <a:avLst/>
                </a:prstGeom>
                <a:noFill/>
                <a:ln w="19050">
                  <a:noFill/>
                </a:ln>
              </p:spPr>
              <p:txBody>
                <a:bodyPr wrap="square" rtlCol="0">
                  <a:spAutoFit/>
                </a:bodyPr>
                <a:lstStyle/>
                <a:p>
                  <a:pPr algn="ctr"/>
                  <a:r>
                    <a:rPr kumimoji="1" lang="ja-JP" altLang="en-US" b="1" dirty="0"/>
                    <a:t>関数</a:t>
                  </a:r>
                  <a:r>
                    <a:rPr lang="en-US" altLang="ja-JP" b="1" dirty="0"/>
                    <a:t>σ</a:t>
                  </a:r>
                  <a:endParaRPr kumimoji="1" lang="ja-JP" altLang="en-US" b="1" dirty="0"/>
                </a:p>
              </p:txBody>
            </p:sp>
            <p:sp>
              <p:nvSpPr>
                <p:cNvPr id="55" name="テキスト ボックス 54">
                  <a:extLst>
                    <a:ext uri="{FF2B5EF4-FFF2-40B4-BE49-F238E27FC236}">
                      <a16:creationId xmlns:a16="http://schemas.microsoft.com/office/drawing/2014/main" id="{2FFB0F7A-5369-D7E1-A634-B066C150CB79}"/>
                    </a:ext>
                  </a:extLst>
                </p:cNvPr>
                <p:cNvSpPr txBox="1"/>
                <p:nvPr/>
              </p:nvSpPr>
              <p:spPr>
                <a:xfrm>
                  <a:off x="3689143" y="4836210"/>
                  <a:ext cx="887973" cy="369332"/>
                </a:xfrm>
                <a:prstGeom prst="rect">
                  <a:avLst/>
                </a:prstGeom>
                <a:noFill/>
                <a:ln w="19050">
                  <a:noFill/>
                </a:ln>
              </p:spPr>
              <p:txBody>
                <a:bodyPr wrap="square" rtlCol="0">
                  <a:spAutoFit/>
                </a:bodyPr>
                <a:lstStyle/>
                <a:p>
                  <a:pPr algn="ctr"/>
                  <a:r>
                    <a:rPr kumimoji="1" lang="ja-JP" altLang="en-US" b="1" dirty="0"/>
                    <a:t>関数</a:t>
                  </a:r>
                  <a:r>
                    <a:rPr kumimoji="1" lang="ja-JP" altLang="en-US" sz="1600" b="1" dirty="0"/>
                    <a:t> </a:t>
                  </a:r>
                  <a:r>
                    <a:rPr kumimoji="1" lang="en-US" altLang="ja-JP" b="1" dirty="0"/>
                    <a:t>f</a:t>
                  </a:r>
                  <a:endParaRPr kumimoji="1" lang="ja-JP" altLang="en-US" b="1" dirty="0"/>
                </a:p>
              </p:txBody>
            </p:sp>
            <p:sp>
              <p:nvSpPr>
                <p:cNvPr id="56" name="矢印: 右 55">
                  <a:extLst>
                    <a:ext uri="{FF2B5EF4-FFF2-40B4-BE49-F238E27FC236}">
                      <a16:creationId xmlns:a16="http://schemas.microsoft.com/office/drawing/2014/main" id="{EF9485A6-0187-20A7-04B9-BAE6901926C0}"/>
                    </a:ext>
                  </a:extLst>
                </p:cNvPr>
                <p:cNvSpPr/>
                <p:nvPr/>
              </p:nvSpPr>
              <p:spPr>
                <a:xfrm rot="5400000">
                  <a:off x="3219398" y="4830911"/>
                  <a:ext cx="603388" cy="379931"/>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45" name="グループ化 44">
                <a:extLst>
                  <a:ext uri="{FF2B5EF4-FFF2-40B4-BE49-F238E27FC236}">
                    <a16:creationId xmlns:a16="http://schemas.microsoft.com/office/drawing/2014/main" id="{C0E843AC-3828-29B1-401C-F8A720C47227}"/>
                  </a:ext>
                </a:extLst>
              </p:cNvPr>
              <p:cNvGrpSpPr/>
              <p:nvPr/>
            </p:nvGrpSpPr>
            <p:grpSpPr>
              <a:xfrm>
                <a:off x="4133129" y="1235549"/>
                <a:ext cx="2691583" cy="647299"/>
                <a:chOff x="4224592" y="4102964"/>
                <a:chExt cx="2691583" cy="647299"/>
              </a:xfrm>
            </p:grpSpPr>
            <p:grpSp>
              <p:nvGrpSpPr>
                <p:cNvPr id="46" name="グループ化 45">
                  <a:extLst>
                    <a:ext uri="{FF2B5EF4-FFF2-40B4-BE49-F238E27FC236}">
                      <a16:creationId xmlns:a16="http://schemas.microsoft.com/office/drawing/2014/main" id="{92CEBEC7-8F52-5BE9-CB33-BF182FD8EAA5}"/>
                    </a:ext>
                  </a:extLst>
                </p:cNvPr>
                <p:cNvGrpSpPr/>
                <p:nvPr/>
              </p:nvGrpSpPr>
              <p:grpSpPr>
                <a:xfrm>
                  <a:off x="4325373" y="4103932"/>
                  <a:ext cx="2590802" cy="646331"/>
                  <a:chOff x="2227006" y="4171574"/>
                  <a:chExt cx="2590802" cy="646331"/>
                </a:xfrm>
              </p:grpSpPr>
              <p:sp>
                <p:nvSpPr>
                  <p:cNvPr id="48" name="テキスト ボックス 47">
                    <a:extLst>
                      <a:ext uri="{FF2B5EF4-FFF2-40B4-BE49-F238E27FC236}">
                        <a16:creationId xmlns:a16="http://schemas.microsoft.com/office/drawing/2014/main" id="{F89E428A-B484-68AE-F1F4-3E34F4034D06}"/>
                      </a:ext>
                    </a:extLst>
                  </p:cNvPr>
                  <p:cNvSpPr txBox="1"/>
                  <p:nvPr/>
                </p:nvSpPr>
                <p:spPr>
                  <a:xfrm>
                    <a:off x="2227006" y="4171574"/>
                    <a:ext cx="1129070" cy="646331"/>
                  </a:xfrm>
                  <a:prstGeom prst="rect">
                    <a:avLst/>
                  </a:prstGeom>
                  <a:noFill/>
                </p:spPr>
                <p:txBody>
                  <a:bodyPr wrap="square" rtlCol="0">
                    <a:spAutoFit/>
                  </a:bodyPr>
                  <a:lstStyle/>
                  <a:p>
                    <a:r>
                      <a:rPr kumimoji="1" lang="ja-JP" altLang="en-US" dirty="0"/>
                      <a:t>・</a:t>
                    </a:r>
                    <a:r>
                      <a:rPr kumimoji="1" lang="ja-JP" altLang="en-US" b="1" dirty="0"/>
                      <a:t>関数</a:t>
                    </a:r>
                    <a:r>
                      <a:rPr lang="en-US" altLang="ja-JP" b="1" dirty="0"/>
                      <a:t>σ</a:t>
                    </a:r>
                  </a:p>
                  <a:p>
                    <a:r>
                      <a:rPr kumimoji="1" lang="ja-JP" altLang="en-US" dirty="0"/>
                      <a:t>・</a:t>
                    </a:r>
                    <a:r>
                      <a:rPr kumimoji="1" lang="ja-JP" altLang="en-US" b="1" dirty="0"/>
                      <a:t>関数 </a:t>
                    </a:r>
                    <a:r>
                      <a:rPr kumimoji="1" lang="en-US" altLang="ja-JP" b="1" dirty="0"/>
                      <a:t>f</a:t>
                    </a:r>
                    <a:endParaRPr kumimoji="1" lang="ja-JP" altLang="en-US" b="1" dirty="0"/>
                  </a:p>
                </p:txBody>
              </p:sp>
              <p:sp>
                <p:nvSpPr>
                  <p:cNvPr id="49" name="テキスト ボックス 48">
                    <a:extLst>
                      <a:ext uri="{FF2B5EF4-FFF2-40B4-BE49-F238E27FC236}">
                        <a16:creationId xmlns:a16="http://schemas.microsoft.com/office/drawing/2014/main" id="{791D32CF-4E6F-8EE7-AE10-6AD92D4A1942}"/>
                      </a:ext>
                    </a:extLst>
                  </p:cNvPr>
                  <p:cNvSpPr txBox="1"/>
                  <p:nvPr/>
                </p:nvSpPr>
                <p:spPr>
                  <a:xfrm>
                    <a:off x="3249561" y="4310073"/>
                    <a:ext cx="1568247" cy="369332"/>
                  </a:xfrm>
                  <a:prstGeom prst="rect">
                    <a:avLst/>
                  </a:prstGeom>
                  <a:noFill/>
                </p:spPr>
                <p:txBody>
                  <a:bodyPr wrap="square" rtlCol="0">
                    <a:spAutoFit/>
                  </a:bodyPr>
                  <a:lstStyle/>
                  <a:p>
                    <a:r>
                      <a:rPr kumimoji="1" lang="ja-JP" altLang="en-US" dirty="0"/>
                      <a:t>を既知</a:t>
                    </a:r>
                  </a:p>
                </p:txBody>
              </p:sp>
            </p:grpSp>
            <p:sp>
              <p:nvSpPr>
                <p:cNvPr id="47" name="左中かっこ 46">
                  <a:extLst>
                    <a:ext uri="{FF2B5EF4-FFF2-40B4-BE49-F238E27FC236}">
                      <a16:creationId xmlns:a16="http://schemas.microsoft.com/office/drawing/2014/main" id="{870E8194-33F8-3E40-6D5B-23A52B132557}"/>
                    </a:ext>
                  </a:extLst>
                </p:cNvPr>
                <p:cNvSpPr/>
                <p:nvPr/>
              </p:nvSpPr>
              <p:spPr>
                <a:xfrm>
                  <a:off x="4224592" y="4102964"/>
                  <a:ext cx="201561" cy="610235"/>
                </a:xfrm>
                <a:prstGeom prst="lef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kumimoji="1" lang="ja-JP" altLang="en-US"/>
                </a:p>
              </p:txBody>
            </p:sp>
          </p:grpSp>
        </p:grpSp>
        <p:cxnSp>
          <p:nvCxnSpPr>
            <p:cNvPr id="7" name="直線コネクタ 6">
              <a:extLst>
                <a:ext uri="{FF2B5EF4-FFF2-40B4-BE49-F238E27FC236}">
                  <a16:creationId xmlns:a16="http://schemas.microsoft.com/office/drawing/2014/main" id="{747F6328-3A4C-07D0-06A6-8843C198B430}"/>
                </a:ext>
              </a:extLst>
            </p:cNvPr>
            <p:cNvCxnSpPr>
              <a:cxnSpLocks/>
              <a:stCxn id="41" idx="0"/>
              <a:endCxn id="58" idx="0"/>
            </p:cNvCxnSpPr>
            <p:nvPr/>
          </p:nvCxnSpPr>
          <p:spPr>
            <a:xfrm flipH="1" flipV="1">
              <a:off x="3485209" y="2611328"/>
              <a:ext cx="5055181" cy="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0" name="直線コネクタ 19">
              <a:extLst>
                <a:ext uri="{FF2B5EF4-FFF2-40B4-BE49-F238E27FC236}">
                  <a16:creationId xmlns:a16="http://schemas.microsoft.com/office/drawing/2014/main" id="{CAE38386-A283-B8B9-257B-61DC292A2D05}"/>
                </a:ext>
              </a:extLst>
            </p:cNvPr>
            <p:cNvCxnSpPr>
              <a:cxnSpLocks/>
              <a:stCxn id="41" idx="2"/>
              <a:endCxn id="58" idx="2"/>
            </p:cNvCxnSpPr>
            <p:nvPr/>
          </p:nvCxnSpPr>
          <p:spPr>
            <a:xfrm flipH="1" flipV="1">
              <a:off x="3485209" y="3257660"/>
              <a:ext cx="5055181" cy="1"/>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1" name="直線コネクタ 20">
              <a:extLst>
                <a:ext uri="{FF2B5EF4-FFF2-40B4-BE49-F238E27FC236}">
                  <a16:creationId xmlns:a16="http://schemas.microsoft.com/office/drawing/2014/main" id="{6E03FB33-C5E2-9327-5DFB-DEC0676DF135}"/>
                </a:ext>
              </a:extLst>
            </p:cNvPr>
            <p:cNvCxnSpPr>
              <a:cxnSpLocks/>
            </p:cNvCxnSpPr>
            <p:nvPr/>
          </p:nvCxnSpPr>
          <p:spPr>
            <a:xfrm flipH="1">
              <a:off x="3488483" y="5466674"/>
              <a:ext cx="5050267" cy="417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22" name="直線コネクタ 21">
              <a:extLst>
                <a:ext uri="{FF2B5EF4-FFF2-40B4-BE49-F238E27FC236}">
                  <a16:creationId xmlns:a16="http://schemas.microsoft.com/office/drawing/2014/main" id="{2AE57694-044D-6FA9-6C6F-AEDB6C9F4C07}"/>
                </a:ext>
              </a:extLst>
            </p:cNvPr>
            <p:cNvCxnSpPr>
              <a:cxnSpLocks/>
            </p:cNvCxnSpPr>
            <p:nvPr/>
          </p:nvCxnSpPr>
          <p:spPr>
            <a:xfrm flipH="1">
              <a:off x="3488483" y="6113006"/>
              <a:ext cx="5050267" cy="4172"/>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23" name="矢印: 右 22">
              <a:extLst>
                <a:ext uri="{FF2B5EF4-FFF2-40B4-BE49-F238E27FC236}">
                  <a16:creationId xmlns:a16="http://schemas.microsoft.com/office/drawing/2014/main" id="{E740F1FC-13E7-8E74-59C6-6B21CA3C0ECC}"/>
                </a:ext>
              </a:extLst>
            </p:cNvPr>
            <p:cNvSpPr/>
            <p:nvPr/>
          </p:nvSpPr>
          <p:spPr>
            <a:xfrm flipH="1">
              <a:off x="5380318" y="2730183"/>
              <a:ext cx="1431364" cy="408621"/>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4" name="矢印: 右 23">
              <a:extLst>
                <a:ext uri="{FF2B5EF4-FFF2-40B4-BE49-F238E27FC236}">
                  <a16:creationId xmlns:a16="http://schemas.microsoft.com/office/drawing/2014/main" id="{2006CE3F-9107-1D5B-CC48-76AE706ECF39}"/>
                </a:ext>
              </a:extLst>
            </p:cNvPr>
            <p:cNvSpPr/>
            <p:nvPr/>
          </p:nvSpPr>
          <p:spPr>
            <a:xfrm>
              <a:off x="5380318" y="5585528"/>
              <a:ext cx="1431364" cy="408621"/>
            </a:xfrm>
            <a:prstGeom prst="rightArrow">
              <a:avLst/>
            </a:prstGeom>
            <a:solidFill>
              <a:schemeClr val="tx1">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5" name="グループ化 24">
              <a:extLst>
                <a:ext uri="{FF2B5EF4-FFF2-40B4-BE49-F238E27FC236}">
                  <a16:creationId xmlns:a16="http://schemas.microsoft.com/office/drawing/2014/main" id="{CBEB55AA-5991-9035-8F38-A14002CBE65F}"/>
                </a:ext>
              </a:extLst>
            </p:cNvPr>
            <p:cNvGrpSpPr/>
            <p:nvPr/>
          </p:nvGrpSpPr>
          <p:grpSpPr>
            <a:xfrm>
              <a:off x="7355600" y="1181340"/>
              <a:ext cx="3017510" cy="5186183"/>
              <a:chOff x="7355600" y="1181340"/>
              <a:chExt cx="3017510" cy="5186183"/>
            </a:xfrm>
          </p:grpSpPr>
          <p:sp>
            <p:nvSpPr>
              <p:cNvPr id="26" name="正方形/長方形 25">
                <a:extLst>
                  <a:ext uri="{FF2B5EF4-FFF2-40B4-BE49-F238E27FC236}">
                    <a16:creationId xmlns:a16="http://schemas.microsoft.com/office/drawing/2014/main" id="{A16028EF-0152-FE82-38C9-A577B66759B5}"/>
                  </a:ext>
                </a:extLst>
              </p:cNvPr>
              <p:cNvSpPr/>
              <p:nvPr/>
            </p:nvSpPr>
            <p:spPr>
              <a:xfrm>
                <a:off x="7355600" y="2192688"/>
                <a:ext cx="3017510" cy="4174835"/>
              </a:xfrm>
              <a:prstGeom prst="rect">
                <a:avLst/>
              </a:prstGeom>
              <a:noFill/>
              <a:ln w="285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7" name="グループ化 26">
                <a:extLst>
                  <a:ext uri="{FF2B5EF4-FFF2-40B4-BE49-F238E27FC236}">
                    <a16:creationId xmlns:a16="http://schemas.microsoft.com/office/drawing/2014/main" id="{709571F6-1C7E-DC6A-B1F5-E2F26A5DAE2D}"/>
                  </a:ext>
                </a:extLst>
              </p:cNvPr>
              <p:cNvGrpSpPr/>
              <p:nvPr/>
            </p:nvGrpSpPr>
            <p:grpSpPr>
              <a:xfrm>
                <a:off x="7839839" y="2611329"/>
                <a:ext cx="1397822" cy="646332"/>
                <a:chOff x="2596529" y="5140564"/>
                <a:chExt cx="1397822" cy="646332"/>
              </a:xfrm>
            </p:grpSpPr>
            <p:sp>
              <p:nvSpPr>
                <p:cNvPr id="40" name="テキスト ボックス 39">
                  <a:extLst>
                    <a:ext uri="{FF2B5EF4-FFF2-40B4-BE49-F238E27FC236}">
                      <a16:creationId xmlns:a16="http://schemas.microsoft.com/office/drawing/2014/main" id="{16957C69-F6F9-A271-7ED8-460DF7AF6E02}"/>
                    </a:ext>
                  </a:extLst>
                </p:cNvPr>
                <p:cNvSpPr txBox="1"/>
                <p:nvPr/>
              </p:nvSpPr>
              <p:spPr>
                <a:xfrm>
                  <a:off x="2596529" y="5259419"/>
                  <a:ext cx="1394543" cy="408623"/>
                </a:xfrm>
                <a:prstGeom prst="roundRect">
                  <a:avLst/>
                </a:prstGeom>
                <a:noFill/>
                <a:ln w="19050">
                  <a:noFill/>
                </a:ln>
              </p:spPr>
              <p:txBody>
                <a:bodyPr wrap="square" rtlCol="0" anchor="t">
                  <a:spAutoFit/>
                </a:bodyPr>
                <a:lstStyle/>
                <a:p>
                  <a:pPr algn="ctr"/>
                  <a:r>
                    <a:rPr kumimoji="1" lang="ja-JP" altLang="en-US" b="1" dirty="0"/>
                    <a:t>チャレンジ</a:t>
                  </a:r>
                </a:p>
              </p:txBody>
            </p:sp>
            <p:sp>
              <p:nvSpPr>
                <p:cNvPr id="41" name="正方形/長方形 16">
                  <a:extLst>
                    <a:ext uri="{FF2B5EF4-FFF2-40B4-BE49-F238E27FC236}">
                      <a16:creationId xmlns:a16="http://schemas.microsoft.com/office/drawing/2014/main" id="{A80A4B49-8625-5C38-5B9B-6BDD6076F541}"/>
                    </a:ext>
                  </a:extLst>
                </p:cNvPr>
                <p:cNvSpPr/>
                <p:nvPr/>
              </p:nvSpPr>
              <p:spPr>
                <a:xfrm>
                  <a:off x="2599808" y="5140564"/>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28" name="グループ化 27">
                <a:extLst>
                  <a:ext uri="{FF2B5EF4-FFF2-40B4-BE49-F238E27FC236}">
                    <a16:creationId xmlns:a16="http://schemas.microsoft.com/office/drawing/2014/main" id="{3275170C-469D-A443-63AC-3246186AD7B4}"/>
                  </a:ext>
                </a:extLst>
              </p:cNvPr>
              <p:cNvGrpSpPr/>
              <p:nvPr/>
            </p:nvGrpSpPr>
            <p:grpSpPr>
              <a:xfrm>
                <a:off x="7838199" y="5466674"/>
                <a:ext cx="1397822" cy="646332"/>
                <a:chOff x="2596529" y="5140564"/>
                <a:chExt cx="1397822" cy="646332"/>
              </a:xfrm>
            </p:grpSpPr>
            <p:sp>
              <p:nvSpPr>
                <p:cNvPr id="38" name="テキスト ボックス 37">
                  <a:extLst>
                    <a:ext uri="{FF2B5EF4-FFF2-40B4-BE49-F238E27FC236}">
                      <a16:creationId xmlns:a16="http://schemas.microsoft.com/office/drawing/2014/main" id="{0E7B1F31-16C1-99DA-0F9A-3AF29E8759FB}"/>
                    </a:ext>
                  </a:extLst>
                </p:cNvPr>
                <p:cNvSpPr txBox="1"/>
                <p:nvPr/>
              </p:nvSpPr>
              <p:spPr>
                <a:xfrm>
                  <a:off x="2596529" y="5259419"/>
                  <a:ext cx="1394543" cy="408623"/>
                </a:xfrm>
                <a:prstGeom prst="roundRect">
                  <a:avLst/>
                </a:prstGeom>
                <a:noFill/>
                <a:ln w="19050">
                  <a:noFill/>
                </a:ln>
              </p:spPr>
              <p:txBody>
                <a:bodyPr wrap="square" rtlCol="0" anchor="t">
                  <a:spAutoFit/>
                </a:bodyPr>
                <a:lstStyle/>
                <a:p>
                  <a:pPr algn="ctr"/>
                  <a:r>
                    <a:rPr kumimoji="1" lang="ja-JP" altLang="en-US" b="1" dirty="0"/>
                    <a:t>レスポンス</a:t>
                  </a:r>
                </a:p>
              </p:txBody>
            </p:sp>
            <p:sp>
              <p:nvSpPr>
                <p:cNvPr id="39" name="正方形/長方形 16">
                  <a:extLst>
                    <a:ext uri="{FF2B5EF4-FFF2-40B4-BE49-F238E27FC236}">
                      <a16:creationId xmlns:a16="http://schemas.microsoft.com/office/drawing/2014/main" id="{5270780C-D2CC-FD26-E712-A25F213C4F76}"/>
                    </a:ext>
                  </a:extLst>
                </p:cNvPr>
                <p:cNvSpPr/>
                <p:nvPr/>
              </p:nvSpPr>
              <p:spPr>
                <a:xfrm>
                  <a:off x="2599808" y="5140564"/>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9" name="テキスト ボックス 28">
                <a:extLst>
                  <a:ext uri="{FF2B5EF4-FFF2-40B4-BE49-F238E27FC236}">
                    <a16:creationId xmlns:a16="http://schemas.microsoft.com/office/drawing/2014/main" id="{65C16989-5CC7-B17F-ACE3-5AA2204CC37F}"/>
                  </a:ext>
                </a:extLst>
              </p:cNvPr>
              <p:cNvSpPr txBox="1"/>
              <p:nvPr/>
            </p:nvSpPr>
            <p:spPr>
              <a:xfrm>
                <a:off x="7961515" y="2028991"/>
                <a:ext cx="1154470" cy="379164"/>
              </a:xfrm>
              <a:prstGeom prst="rect">
                <a:avLst/>
              </a:prstGeom>
              <a:solidFill>
                <a:schemeClr val="bg1"/>
              </a:solidFill>
            </p:spPr>
            <p:txBody>
              <a:bodyPr wrap="square" rtlCol="0">
                <a:spAutoFit/>
              </a:bodyPr>
              <a:lstStyle/>
              <a:p>
                <a:pPr algn="ctr"/>
                <a:r>
                  <a:rPr kumimoji="1" lang="ja-JP" altLang="en-US" dirty="0"/>
                  <a:t>サーバ</a:t>
                </a:r>
              </a:p>
            </p:txBody>
          </p:sp>
          <p:pic>
            <p:nvPicPr>
              <p:cNvPr id="30" name="グラフィックス 29" descr="データベース 枠線">
                <a:extLst>
                  <a:ext uri="{FF2B5EF4-FFF2-40B4-BE49-F238E27FC236}">
                    <a16:creationId xmlns:a16="http://schemas.microsoft.com/office/drawing/2014/main" id="{54EFF248-01AA-88F7-DC7B-A366052B693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76963" y="1181340"/>
                <a:ext cx="914400" cy="914400"/>
              </a:xfrm>
              <a:prstGeom prst="rect">
                <a:avLst/>
              </a:prstGeom>
            </p:spPr>
          </p:pic>
          <p:grpSp>
            <p:nvGrpSpPr>
              <p:cNvPr id="31" name="グループ化 30">
                <a:extLst>
                  <a:ext uri="{FF2B5EF4-FFF2-40B4-BE49-F238E27FC236}">
                    <a16:creationId xmlns:a16="http://schemas.microsoft.com/office/drawing/2014/main" id="{094B25E0-73AC-6FFB-1C78-4DF5804B48E2}"/>
                  </a:ext>
                </a:extLst>
              </p:cNvPr>
              <p:cNvGrpSpPr/>
              <p:nvPr/>
            </p:nvGrpSpPr>
            <p:grpSpPr>
              <a:xfrm>
                <a:off x="7838199" y="4575472"/>
                <a:ext cx="1397822" cy="646332"/>
                <a:chOff x="2596529" y="5140564"/>
                <a:chExt cx="1397822" cy="646332"/>
              </a:xfrm>
            </p:grpSpPr>
            <p:sp>
              <p:nvSpPr>
                <p:cNvPr id="36" name="テキスト ボックス 35">
                  <a:extLst>
                    <a:ext uri="{FF2B5EF4-FFF2-40B4-BE49-F238E27FC236}">
                      <a16:creationId xmlns:a16="http://schemas.microsoft.com/office/drawing/2014/main" id="{D255B9E0-7380-6F9D-C27B-554C1917B19D}"/>
                    </a:ext>
                  </a:extLst>
                </p:cNvPr>
                <p:cNvSpPr txBox="1"/>
                <p:nvPr/>
              </p:nvSpPr>
              <p:spPr>
                <a:xfrm>
                  <a:off x="2596529" y="5259419"/>
                  <a:ext cx="1394543" cy="408623"/>
                </a:xfrm>
                <a:prstGeom prst="roundRect">
                  <a:avLst/>
                </a:prstGeom>
                <a:noFill/>
                <a:ln w="19050">
                  <a:noFill/>
                </a:ln>
              </p:spPr>
              <p:txBody>
                <a:bodyPr wrap="square" rtlCol="0" anchor="t">
                  <a:spAutoFit/>
                </a:bodyPr>
                <a:lstStyle/>
                <a:p>
                  <a:pPr algn="ctr"/>
                  <a:r>
                    <a:rPr kumimoji="1" lang="ja-JP" altLang="en-US" b="1" dirty="0"/>
                    <a:t>正解</a:t>
                  </a:r>
                </a:p>
              </p:txBody>
            </p:sp>
            <p:sp>
              <p:nvSpPr>
                <p:cNvPr id="37" name="正方形/長方形 16">
                  <a:extLst>
                    <a:ext uri="{FF2B5EF4-FFF2-40B4-BE49-F238E27FC236}">
                      <a16:creationId xmlns:a16="http://schemas.microsoft.com/office/drawing/2014/main" id="{0189F469-DA64-DD94-244B-1EC9C063E84B}"/>
                    </a:ext>
                  </a:extLst>
                </p:cNvPr>
                <p:cNvSpPr/>
                <p:nvPr/>
              </p:nvSpPr>
              <p:spPr>
                <a:xfrm>
                  <a:off x="2599808" y="5140564"/>
                  <a:ext cx="1394543" cy="646332"/>
                </a:xfrm>
                <a:prstGeom prst="roundRect">
                  <a:avLst/>
                </a:prstGeom>
                <a:noFill/>
                <a:ln w="190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矢印: 右 31">
                <a:extLst>
                  <a:ext uri="{FF2B5EF4-FFF2-40B4-BE49-F238E27FC236}">
                    <a16:creationId xmlns:a16="http://schemas.microsoft.com/office/drawing/2014/main" id="{85A78A30-3E9B-6714-4B8F-F16E086D52E8}"/>
                  </a:ext>
                </a:extLst>
              </p:cNvPr>
              <p:cNvSpPr/>
              <p:nvPr/>
            </p:nvSpPr>
            <p:spPr>
              <a:xfrm rot="5400000">
                <a:off x="7958162" y="3726601"/>
                <a:ext cx="1152000" cy="379931"/>
              </a:xfrm>
              <a:prstGeom prst="rightArrow">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3" name="テキスト ボックス 32">
                <a:extLst>
                  <a:ext uri="{FF2B5EF4-FFF2-40B4-BE49-F238E27FC236}">
                    <a16:creationId xmlns:a16="http://schemas.microsoft.com/office/drawing/2014/main" id="{8EF2900C-484B-D2F1-4909-45C0127CFA20}"/>
                  </a:ext>
                </a:extLst>
              </p:cNvPr>
              <p:cNvSpPr txBox="1"/>
              <p:nvPr/>
            </p:nvSpPr>
            <p:spPr>
              <a:xfrm>
                <a:off x="8746274" y="3732533"/>
                <a:ext cx="1322137" cy="369332"/>
              </a:xfrm>
              <a:prstGeom prst="rect">
                <a:avLst/>
              </a:prstGeom>
              <a:noFill/>
              <a:ln w="19050">
                <a:noFill/>
              </a:ln>
            </p:spPr>
            <p:txBody>
              <a:bodyPr wrap="square" rtlCol="0">
                <a:spAutoFit/>
              </a:bodyPr>
              <a:lstStyle/>
              <a:p>
                <a:pPr algn="ctr"/>
                <a:r>
                  <a:rPr kumimoji="1" lang="ja-JP" altLang="en-US" b="1" dirty="0"/>
                  <a:t>関数</a:t>
                </a:r>
                <a:r>
                  <a:rPr kumimoji="1" lang="ja-JP" altLang="en-US" sz="1600" b="1" dirty="0"/>
                  <a:t> </a:t>
                </a:r>
                <a:r>
                  <a:rPr kumimoji="1" lang="en-US" altLang="ja-JP" b="1" dirty="0"/>
                  <a:t>f </a:t>
                </a:r>
                <a:r>
                  <a:rPr kumimoji="1" lang="ja-JP" altLang="en-US" b="1" dirty="0"/>
                  <a:t>◦</a:t>
                </a:r>
                <a:r>
                  <a:rPr kumimoji="1" lang="en-US" altLang="ja-JP" b="1" dirty="0"/>
                  <a:t>σ</a:t>
                </a:r>
                <a:endParaRPr kumimoji="1" lang="ja-JP" altLang="en-US" b="1" dirty="0"/>
              </a:p>
            </p:txBody>
          </p:sp>
          <p:cxnSp>
            <p:nvCxnSpPr>
              <p:cNvPr id="34" name="コネクタ: カギ線 33">
                <a:extLst>
                  <a:ext uri="{FF2B5EF4-FFF2-40B4-BE49-F238E27FC236}">
                    <a16:creationId xmlns:a16="http://schemas.microsoft.com/office/drawing/2014/main" id="{E33B6EB4-77E0-BE59-5641-D0E661D9139A}"/>
                  </a:ext>
                </a:extLst>
              </p:cNvPr>
              <p:cNvCxnSpPr>
                <a:stCxn id="37" idx="3"/>
                <a:endCxn id="39" idx="3"/>
              </p:cNvCxnSpPr>
              <p:nvPr/>
            </p:nvCxnSpPr>
            <p:spPr>
              <a:xfrm>
                <a:off x="9236021" y="4898638"/>
                <a:ext cx="12700" cy="891202"/>
              </a:xfrm>
              <a:prstGeom prst="bentConnector3">
                <a:avLst>
                  <a:gd name="adj1" fmla="val 1800000"/>
                </a:avLst>
              </a:prstGeom>
              <a:ln w="38100">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5" name="テキスト ボックス 34">
                <a:extLst>
                  <a:ext uri="{FF2B5EF4-FFF2-40B4-BE49-F238E27FC236}">
                    <a16:creationId xmlns:a16="http://schemas.microsoft.com/office/drawing/2014/main" id="{E55FF153-DFE2-2A2D-1DEC-B9862282603A}"/>
                  </a:ext>
                </a:extLst>
              </p:cNvPr>
              <p:cNvSpPr txBox="1"/>
              <p:nvPr/>
            </p:nvSpPr>
            <p:spPr>
              <a:xfrm>
                <a:off x="9536202" y="5161172"/>
                <a:ext cx="646161" cy="366134"/>
              </a:xfrm>
              <a:prstGeom prst="rect">
                <a:avLst/>
              </a:prstGeom>
              <a:noFill/>
              <a:ln w="19050">
                <a:noFill/>
              </a:ln>
            </p:spPr>
            <p:txBody>
              <a:bodyPr wrap="square" rtlCol="0">
                <a:spAutoFit/>
              </a:bodyPr>
              <a:lstStyle/>
              <a:p>
                <a:pPr algn="ctr"/>
                <a:r>
                  <a:rPr kumimoji="1" lang="ja-JP" altLang="en-US" dirty="0"/>
                  <a:t>照合</a:t>
                </a:r>
              </a:p>
            </p:txBody>
          </p:sp>
        </p:grpSp>
      </p:grpSp>
      <p:pic>
        <p:nvPicPr>
          <p:cNvPr id="63" name="コンテンツ プレースホルダー 4" descr="男性のプロフィール 枠線">
            <a:extLst>
              <a:ext uri="{FF2B5EF4-FFF2-40B4-BE49-F238E27FC236}">
                <a16:creationId xmlns:a16="http://schemas.microsoft.com/office/drawing/2014/main" id="{4FFA40D5-D537-8F0E-227B-F210A4A643C0}"/>
              </a:ext>
            </a:extLst>
          </p:cNvPr>
          <p:cNvPicPr>
            <a:picLocks noGrp="1" noChangeAspect="1"/>
          </p:cNvPicPr>
          <p:nvPr>
            <p:ph idx="1"/>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997445" y="1529919"/>
            <a:ext cx="914400" cy="914400"/>
          </a:xfrm>
        </p:spPr>
      </p:pic>
    </p:spTree>
    <p:extLst>
      <p:ext uri="{BB962C8B-B14F-4D97-AF65-F5344CB8AC3E}">
        <p14:creationId xmlns:p14="http://schemas.microsoft.com/office/powerpoint/2010/main" val="17489637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人間計算可能なパスワード</a:t>
            </a:r>
          </a:p>
        </p:txBody>
      </p:sp>
      <p:pic>
        <p:nvPicPr>
          <p:cNvPr id="8" name="図 7">
            <a:extLst>
              <a:ext uri="{FF2B5EF4-FFF2-40B4-BE49-F238E27FC236}">
                <a16:creationId xmlns:a16="http://schemas.microsoft.com/office/drawing/2014/main" id="{B9FCE458-8425-390A-E0A6-2F4590C1CF16}"/>
              </a:ext>
            </a:extLst>
          </p:cNvPr>
          <p:cNvPicPr>
            <a:picLocks/>
          </p:cNvPicPr>
          <p:nvPr/>
        </p:nvPicPr>
        <p:blipFill>
          <a:blip r:embed="rId3"/>
          <a:stretch>
            <a:fillRect/>
          </a:stretch>
        </p:blipFill>
        <p:spPr>
          <a:xfrm>
            <a:off x="635619" y="1736759"/>
            <a:ext cx="10997582" cy="1471687"/>
          </a:xfrm>
          <a:prstGeom prst="rect">
            <a:avLst/>
          </a:prstGeom>
        </p:spPr>
      </p:pic>
      <p:grpSp>
        <p:nvGrpSpPr>
          <p:cNvPr id="9" name="グループ化 8">
            <a:extLst>
              <a:ext uri="{FF2B5EF4-FFF2-40B4-BE49-F238E27FC236}">
                <a16:creationId xmlns:a16="http://schemas.microsoft.com/office/drawing/2014/main" id="{50926397-1E84-814B-5D84-A26EE8296FBB}"/>
              </a:ext>
            </a:extLst>
          </p:cNvPr>
          <p:cNvGrpSpPr/>
          <p:nvPr/>
        </p:nvGrpSpPr>
        <p:grpSpPr>
          <a:xfrm>
            <a:off x="-908888" y="4719918"/>
            <a:ext cx="11063437" cy="666811"/>
            <a:chOff x="467628" y="3578584"/>
            <a:chExt cx="11063437" cy="666811"/>
          </a:xfrm>
        </p:grpSpPr>
        <mc:AlternateContent xmlns:mc="http://schemas.openxmlformats.org/markup-compatibility/2006" xmlns:a14="http://schemas.microsoft.com/office/drawing/2010/main">
          <mc:Choice Requires="a14">
            <p:sp>
              <p:nvSpPr>
                <p:cNvPr id="11" name="コンテンツ プレースホルダー 2">
                  <a:extLst>
                    <a:ext uri="{FF2B5EF4-FFF2-40B4-BE49-F238E27FC236}">
                      <a16:creationId xmlns:a16="http://schemas.microsoft.com/office/drawing/2014/main" id="{ADF3FBBB-4CEB-B0B0-4675-59357E2F0FA9}"/>
                    </a:ext>
                  </a:extLst>
                </p:cNvPr>
                <p:cNvSpPr txBox="1">
                  <a:spLocks/>
                </p:cNvSpPr>
                <p:nvPr/>
              </p:nvSpPr>
              <p:spPr>
                <a:xfrm>
                  <a:off x="467628" y="3578584"/>
                  <a:ext cx="11063437" cy="651594"/>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ja-JP" sz="3600" b="0" i="1" smtClean="0">
                            <a:latin typeface="Cambria Math" panose="02040503050406030204" pitchFamily="18" charset="0"/>
                            <a:cs typeface="Times New Roman" panose="02020603050405020304" pitchFamily="18" charset="0"/>
                          </a:rPr>
                          <m:t>𝑗</m:t>
                        </m:r>
                        <m:r>
                          <a:rPr lang="en-US" altLang="ja-JP" sz="3600" b="0" i="1" smtClean="0">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i="1">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ja-JP" altLang="en-US" sz="360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i="1">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ja-JP" altLang="en-US" sz="360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𝑚𝑜𝑑</m:t>
                        </m:r>
                        <m:r>
                          <a:rPr lang="en-US" altLang="ja-JP" sz="3600" b="0" i="1" smtClean="0">
                            <a:latin typeface="Cambria Math" panose="02040503050406030204" pitchFamily="18" charset="0"/>
                            <a:cs typeface="Times New Roman" panose="02020603050405020304" pitchFamily="18" charset="0"/>
                          </a:rPr>
                          <m:t> 10=3</m:t>
                        </m:r>
                      </m:oMath>
                    </m:oMathPara>
                  </a14:m>
                  <a:endParaRPr lang="en-US" altLang="ja-JP" sz="3600" dirty="0">
                    <a:latin typeface="Times New Roman" panose="02020603050405020304" pitchFamily="18" charset="0"/>
                    <a:cs typeface="Times New Roman" panose="02020603050405020304" pitchFamily="18" charset="0"/>
                  </a:endParaRPr>
                </a:p>
              </p:txBody>
            </p:sp>
          </mc:Choice>
          <mc:Fallback xmlns="">
            <p:sp>
              <p:nvSpPr>
                <p:cNvPr id="11" name="コンテンツ プレースホルダー 2">
                  <a:extLst>
                    <a:ext uri="{FF2B5EF4-FFF2-40B4-BE49-F238E27FC236}">
                      <a16:creationId xmlns:a16="http://schemas.microsoft.com/office/drawing/2014/main" id="{ADF3FBBB-4CEB-B0B0-4675-59357E2F0FA9}"/>
                    </a:ext>
                  </a:extLst>
                </p:cNvPr>
                <p:cNvSpPr txBox="1">
                  <a:spLocks noRot="1" noChangeAspect="1" noMove="1" noResize="1" noEditPoints="1" noAdjustHandles="1" noChangeArrowheads="1" noChangeShapeType="1" noTextEdit="1"/>
                </p:cNvSpPr>
                <p:nvPr/>
              </p:nvSpPr>
              <p:spPr>
                <a:xfrm>
                  <a:off x="467628" y="3578584"/>
                  <a:ext cx="11063437" cy="651594"/>
                </a:xfrm>
                <a:prstGeom prst="rect">
                  <a:avLst/>
                </a:prstGeom>
                <a:blipFill>
                  <a:blip r:embed="rId4"/>
                  <a:stretch>
                    <a:fillRect/>
                  </a:stretch>
                </a:blipFill>
              </p:spPr>
              <p:txBody>
                <a:bodyPr/>
                <a:lstStyle/>
                <a:p>
                  <a:r>
                    <a:rPr lang="ja-JP" altLang="en-US">
                      <a:noFill/>
                    </a:rPr>
                    <a:t> </a:t>
                  </a:r>
                </a:p>
              </p:txBody>
            </p:sp>
          </mc:Fallback>
        </mc:AlternateContent>
        <p:pic>
          <p:nvPicPr>
            <p:cNvPr id="12" name="図 11">
              <a:extLst>
                <a:ext uri="{FF2B5EF4-FFF2-40B4-BE49-F238E27FC236}">
                  <a16:creationId xmlns:a16="http://schemas.microsoft.com/office/drawing/2014/main" id="{3A0433D6-73A4-5118-0158-9F1F3FFE96AF}"/>
                </a:ext>
              </a:extLst>
            </p:cNvPr>
            <p:cNvPicPr>
              <a:picLocks/>
            </p:cNvPicPr>
            <p:nvPr/>
          </p:nvPicPr>
          <p:blipFill>
            <a:blip r:embed="rId5"/>
            <a:stretch>
              <a:fillRect/>
            </a:stretch>
          </p:blipFill>
          <p:spPr>
            <a:xfrm>
              <a:off x="3661758" y="3615395"/>
              <a:ext cx="962457" cy="629972"/>
            </a:xfrm>
            <a:prstGeom prst="rect">
              <a:avLst/>
            </a:prstGeom>
          </p:spPr>
        </p:pic>
        <p:pic>
          <p:nvPicPr>
            <p:cNvPr id="13" name="図 12">
              <a:extLst>
                <a:ext uri="{FF2B5EF4-FFF2-40B4-BE49-F238E27FC236}">
                  <a16:creationId xmlns:a16="http://schemas.microsoft.com/office/drawing/2014/main" id="{6ABC3685-AC52-45D0-A310-629F09E8DC56}"/>
                </a:ext>
              </a:extLst>
            </p:cNvPr>
            <p:cNvPicPr>
              <a:picLocks/>
            </p:cNvPicPr>
            <p:nvPr/>
          </p:nvPicPr>
          <p:blipFill>
            <a:blip r:embed="rId6"/>
            <a:stretch>
              <a:fillRect/>
            </a:stretch>
          </p:blipFill>
          <p:spPr>
            <a:xfrm>
              <a:off x="5969850" y="3615395"/>
              <a:ext cx="961200" cy="630000"/>
            </a:xfrm>
            <a:prstGeom prst="rect">
              <a:avLst/>
            </a:prstGeom>
          </p:spPr>
        </p:pic>
      </p:grpSp>
      <p:grpSp>
        <p:nvGrpSpPr>
          <p:cNvPr id="14" name="グループ化 13">
            <a:extLst>
              <a:ext uri="{FF2B5EF4-FFF2-40B4-BE49-F238E27FC236}">
                <a16:creationId xmlns:a16="http://schemas.microsoft.com/office/drawing/2014/main" id="{3E13B8CD-40A3-BECD-C275-D88B946DCD69}"/>
              </a:ext>
            </a:extLst>
          </p:cNvPr>
          <p:cNvGrpSpPr/>
          <p:nvPr/>
        </p:nvGrpSpPr>
        <p:grpSpPr>
          <a:xfrm>
            <a:off x="751758" y="5562995"/>
            <a:ext cx="10688484" cy="747317"/>
            <a:chOff x="480961" y="4547105"/>
            <a:chExt cx="10688484" cy="747317"/>
          </a:xfrm>
        </p:grpSpPr>
        <mc:AlternateContent xmlns:mc="http://schemas.openxmlformats.org/markup-compatibility/2006" xmlns:a14="http://schemas.microsoft.com/office/drawing/2010/main">
          <mc:Choice Requires="a14">
            <p:sp>
              <p:nvSpPr>
                <p:cNvPr id="15" name="コンテンツ プレースホルダー 2">
                  <a:extLst>
                    <a:ext uri="{FF2B5EF4-FFF2-40B4-BE49-F238E27FC236}">
                      <a16:creationId xmlns:a16="http://schemas.microsoft.com/office/drawing/2014/main" id="{A9E21388-BE9D-EFFF-9AFF-027FB74C7CCE}"/>
                    </a:ext>
                  </a:extLst>
                </p:cNvPr>
                <p:cNvSpPr txBox="1">
                  <a:spLocks/>
                </p:cNvSpPr>
                <p:nvPr/>
              </p:nvSpPr>
              <p:spPr>
                <a:xfrm>
                  <a:off x="480961" y="4547105"/>
                  <a:ext cx="10688484" cy="747317"/>
                </a:xfrm>
                <a:prstGeom prst="rect">
                  <a:avLst/>
                </a:prstGeom>
              </p:spPr>
              <p:txBody>
                <a:bodyPr vert="horz" lIns="91440" tIns="45720" rIns="91440" bIns="45720" rtlCol="0"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ja-JP" sz="3600" b="0" i="1" smtClean="0">
                            <a:latin typeface="Cambria Math" panose="02040503050406030204" pitchFamily="18" charset="0"/>
                            <a:cs typeface="Times New Roman" panose="02020603050405020304" pitchFamily="18" charset="0"/>
                          </a:rPr>
                          <m:t>𝑓</m:t>
                        </m:r>
                        <m:r>
                          <a:rPr lang="ja-JP" altLang="en-US" sz="3600" i="1">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i="1">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ja-JP" altLang="en-US" sz="360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i="1">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ja-JP" altLang="en-US" sz="360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m:t>
                        </m:r>
                        <m:r>
                          <a:rPr lang="ja-JP" altLang="en-US" sz="3600" b="0" i="1" smtClean="0">
                            <a:latin typeface="Cambria Math" panose="02040503050406030204" pitchFamily="18" charset="0"/>
                            <a:cs typeface="Times New Roman" panose="02020603050405020304" pitchFamily="18" charset="0"/>
                          </a:rPr>
                          <m:t>𝜎</m:t>
                        </m:r>
                        <m:r>
                          <a:rPr lang="en-US" altLang="ja-JP" sz="3600" b="0" i="1" smtClean="0">
                            <a:latin typeface="Cambria Math" panose="02040503050406030204" pitchFamily="18" charset="0"/>
                            <a:cs typeface="Times New Roman" panose="02020603050405020304" pitchFamily="18" charset="0"/>
                          </a:rPr>
                          <m:t>(</m:t>
                        </m:r>
                        <m:r>
                          <a:rPr lang="ja-JP" altLang="en-US" sz="3600" i="1">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ja-JP" altLang="en-US" sz="360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 </m:t>
                        </m:r>
                        <m:r>
                          <a:rPr lang="en-US" altLang="ja-JP" sz="3600" b="0" i="1" smtClean="0">
                            <a:latin typeface="Cambria Math" panose="02040503050406030204" pitchFamily="18" charset="0"/>
                            <a:cs typeface="Times New Roman" panose="02020603050405020304" pitchFamily="18" charset="0"/>
                          </a:rPr>
                          <m:t>𝑚𝑜𝑑</m:t>
                        </m:r>
                        <m:r>
                          <a:rPr lang="en-US" altLang="ja-JP" sz="3600" b="0" i="1" smtClean="0">
                            <a:latin typeface="Cambria Math" panose="02040503050406030204" pitchFamily="18" charset="0"/>
                            <a:cs typeface="Times New Roman" panose="02020603050405020304" pitchFamily="18" charset="0"/>
                          </a:rPr>
                          <m:t> 10=6</m:t>
                        </m:r>
                      </m:oMath>
                    </m:oMathPara>
                  </a14:m>
                  <a:endParaRPr lang="en-US" altLang="ja-JP" sz="3600" dirty="0">
                    <a:latin typeface="Times New Roman" panose="02020603050405020304" pitchFamily="18" charset="0"/>
                    <a:cs typeface="Times New Roman" panose="02020603050405020304" pitchFamily="18" charset="0"/>
                  </a:endParaRPr>
                </a:p>
              </p:txBody>
            </p:sp>
          </mc:Choice>
          <mc:Fallback xmlns="">
            <p:sp>
              <p:nvSpPr>
                <p:cNvPr id="15" name="コンテンツ プレースホルダー 2">
                  <a:extLst>
                    <a:ext uri="{FF2B5EF4-FFF2-40B4-BE49-F238E27FC236}">
                      <a16:creationId xmlns:a16="http://schemas.microsoft.com/office/drawing/2014/main" id="{A9E21388-BE9D-EFFF-9AFF-027FB74C7CCE}"/>
                    </a:ext>
                  </a:extLst>
                </p:cNvPr>
                <p:cNvSpPr txBox="1">
                  <a:spLocks noRot="1" noChangeAspect="1" noMove="1" noResize="1" noEditPoints="1" noAdjustHandles="1" noChangeArrowheads="1" noChangeShapeType="1" noTextEdit="1"/>
                </p:cNvSpPr>
                <p:nvPr/>
              </p:nvSpPr>
              <p:spPr>
                <a:xfrm>
                  <a:off x="480961" y="4547105"/>
                  <a:ext cx="10688484" cy="747317"/>
                </a:xfrm>
                <a:prstGeom prst="rect">
                  <a:avLst/>
                </a:prstGeom>
                <a:blipFill>
                  <a:blip r:embed="rId7"/>
                  <a:stretch>
                    <a:fillRect/>
                  </a:stretch>
                </a:blipFill>
              </p:spPr>
              <p:txBody>
                <a:bodyPr/>
                <a:lstStyle/>
                <a:p>
                  <a:r>
                    <a:rPr lang="ja-JP" altLang="en-US">
                      <a:noFill/>
                    </a:rPr>
                    <a:t> </a:t>
                  </a:r>
                </a:p>
              </p:txBody>
            </p:sp>
          </mc:Fallback>
        </mc:AlternateContent>
        <p:pic>
          <p:nvPicPr>
            <p:cNvPr id="16" name="図 15">
              <a:extLst>
                <a:ext uri="{FF2B5EF4-FFF2-40B4-BE49-F238E27FC236}">
                  <a16:creationId xmlns:a16="http://schemas.microsoft.com/office/drawing/2014/main" id="{4FBDA9D7-3829-4B4D-9A27-62D18DED8769}"/>
                </a:ext>
              </a:extLst>
            </p:cNvPr>
            <p:cNvPicPr>
              <a:picLocks/>
            </p:cNvPicPr>
            <p:nvPr/>
          </p:nvPicPr>
          <p:blipFill>
            <a:blip r:embed="rId8"/>
            <a:stretch>
              <a:fillRect/>
            </a:stretch>
          </p:blipFill>
          <p:spPr>
            <a:xfrm>
              <a:off x="5060817" y="4637205"/>
              <a:ext cx="962500" cy="630000"/>
            </a:xfrm>
            <a:prstGeom prst="rect">
              <a:avLst/>
            </a:prstGeom>
          </p:spPr>
        </p:pic>
        <p:pic>
          <p:nvPicPr>
            <p:cNvPr id="17" name="図 16">
              <a:extLst>
                <a:ext uri="{FF2B5EF4-FFF2-40B4-BE49-F238E27FC236}">
                  <a16:creationId xmlns:a16="http://schemas.microsoft.com/office/drawing/2014/main" id="{C40A0EB5-D52E-0211-7C49-D6CEED24DCDD}"/>
                </a:ext>
              </a:extLst>
            </p:cNvPr>
            <p:cNvPicPr>
              <a:picLocks/>
            </p:cNvPicPr>
            <p:nvPr/>
          </p:nvPicPr>
          <p:blipFill>
            <a:blip r:embed="rId9"/>
            <a:stretch>
              <a:fillRect/>
            </a:stretch>
          </p:blipFill>
          <p:spPr>
            <a:xfrm>
              <a:off x="7385807" y="4625427"/>
              <a:ext cx="961200" cy="630000"/>
            </a:xfrm>
            <a:prstGeom prst="rect">
              <a:avLst/>
            </a:prstGeom>
          </p:spPr>
        </p:pic>
        <p:pic>
          <p:nvPicPr>
            <p:cNvPr id="18" name="図 17">
              <a:extLst>
                <a:ext uri="{FF2B5EF4-FFF2-40B4-BE49-F238E27FC236}">
                  <a16:creationId xmlns:a16="http://schemas.microsoft.com/office/drawing/2014/main" id="{2B023426-D277-F0B3-0832-607FDC7C114B}"/>
                </a:ext>
              </a:extLst>
            </p:cNvPr>
            <p:cNvPicPr>
              <a:picLocks/>
            </p:cNvPicPr>
            <p:nvPr/>
          </p:nvPicPr>
          <p:blipFill>
            <a:blip r:embed="rId10"/>
            <a:stretch>
              <a:fillRect/>
            </a:stretch>
          </p:blipFill>
          <p:spPr>
            <a:xfrm>
              <a:off x="2746959" y="4625427"/>
              <a:ext cx="961200" cy="630000"/>
            </a:xfrm>
            <a:prstGeom prst="rect">
              <a:avLst/>
            </a:prstGeom>
          </p:spPr>
        </p:pic>
      </p:grpSp>
      <mc:AlternateContent xmlns:mc="http://schemas.openxmlformats.org/markup-compatibility/2006" xmlns:a14="http://schemas.microsoft.com/office/drawing/2010/main">
        <mc:Choice Requires="a14">
          <p:sp>
            <p:nvSpPr>
              <p:cNvPr id="19" name="コンテンツ プレースホルダー 2">
                <a:extLst>
                  <a:ext uri="{FF2B5EF4-FFF2-40B4-BE49-F238E27FC236}">
                    <a16:creationId xmlns:a16="http://schemas.microsoft.com/office/drawing/2014/main" id="{E352E612-5626-B97D-CC8B-589774D54737}"/>
                  </a:ext>
                </a:extLst>
              </p:cNvPr>
              <p:cNvSpPr>
                <a:spLocks noGrp="1"/>
              </p:cNvSpPr>
              <p:nvPr>
                <p:ph idx="1"/>
              </p:nvPr>
            </p:nvSpPr>
            <p:spPr>
              <a:xfrm>
                <a:off x="635619" y="3399929"/>
                <a:ext cx="8369810" cy="857621"/>
              </a:xfrm>
            </p:spPr>
            <p:txBody>
              <a:bodyPr>
                <a:normAutofit/>
              </a:bodyPr>
              <a:lstStyle/>
              <a:p>
                <a:pPr marL="0" indent="0">
                  <a:buNone/>
                </a:pPr>
                <a:r>
                  <a:rPr kumimoji="1" lang="ja-JP" altLang="en-US" sz="2000" b="0" dirty="0"/>
                  <a:t>ユーザが秘密計算に用いる関数ｆ：</a:t>
                </a:r>
                <a:endParaRPr kumimoji="1" lang="en-US" altLang="ja-JP" sz="800" b="0" dirty="0"/>
              </a:p>
              <a:p>
                <a:pPr marL="0" indent="0">
                  <a:buNone/>
                </a:pPr>
                <a:r>
                  <a:rPr kumimoji="1" lang="ja-JP" altLang="en-US" sz="2000" b="0" dirty="0"/>
                  <a:t>　</a:t>
                </a:r>
                <a14:m>
                  <m:oMath xmlns:m="http://schemas.openxmlformats.org/officeDocument/2006/math">
                    <m:r>
                      <a:rPr kumimoji="1" lang="en-US" altLang="ja-JP" sz="2000" b="0" i="1" smtClean="0">
                        <a:latin typeface="Cambria Math" panose="02040503050406030204" pitchFamily="18" charset="0"/>
                      </a:rPr>
                      <m:t>𝑓</m:t>
                    </m:r>
                    <m:d>
                      <m:dPr>
                        <m:ctrlPr>
                          <a:rPr kumimoji="1" lang="en-US" altLang="ja-JP" sz="2000" b="0" i="1" smtClean="0">
                            <a:latin typeface="Cambria Math" panose="02040503050406030204" pitchFamily="18" charset="0"/>
                          </a:rPr>
                        </m:ctrlPr>
                      </m:dPr>
                      <m:e>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0</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13</m:t>
                            </m:r>
                          </m:sub>
                        </m:sSub>
                      </m:e>
                    </m:d>
                    <m:r>
                      <a:rPr kumimoji="1" lang="en-US" altLang="ja-JP" sz="2000" b="0" i="1" smtClean="0">
                        <a:latin typeface="Cambria Math" panose="02040503050406030204" pitchFamily="18" charset="0"/>
                      </a:rPr>
                      <m:t>=</m:t>
                    </m:r>
                    <m:d>
                      <m:dPr>
                        <m:ctrlPr>
                          <a:rPr kumimoji="1" lang="en-US" altLang="ja-JP" sz="2000" b="0" i="1" smtClean="0">
                            <a:latin typeface="Cambria Math" panose="02040503050406030204" pitchFamily="18" charset="0"/>
                          </a:rPr>
                        </m:ctrlPr>
                      </m:dPr>
                      <m:e>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𝑗</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12</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13</m:t>
                            </m:r>
                          </m:sub>
                        </m:sSub>
                      </m:e>
                    </m:d>
                    <m:r>
                      <a:rPr kumimoji="1" lang="en-US" altLang="ja-JP" sz="2000" b="0" i="1" smtClean="0">
                        <a:latin typeface="Cambria Math" panose="02040503050406030204" pitchFamily="18" charset="0"/>
                      </a:rPr>
                      <m:t> </m:t>
                    </m:r>
                    <m:r>
                      <a:rPr kumimoji="1" lang="en-US" altLang="ja-JP" sz="2000" b="0" i="1" smtClean="0">
                        <a:latin typeface="Cambria Math" panose="02040503050406030204" pitchFamily="18" charset="0"/>
                      </a:rPr>
                      <m:t>𝑚𝑜𝑑</m:t>
                    </m:r>
                    <m:r>
                      <a:rPr kumimoji="1" lang="en-US" altLang="ja-JP" sz="2000" b="0" i="1" smtClean="0">
                        <a:latin typeface="Cambria Math" panose="02040503050406030204" pitchFamily="18" charset="0"/>
                      </a:rPr>
                      <m:t> 10,</m:t>
                    </m:r>
                    <m:r>
                      <a:rPr lang="ja-JP" altLang="en-US" sz="2000" i="1">
                        <a:latin typeface="Cambria Math" panose="02040503050406030204" pitchFamily="18" charset="0"/>
                      </a:rPr>
                      <m:t>　　</m:t>
                    </m:r>
                    <m:r>
                      <a:rPr kumimoji="1" lang="en-US" altLang="ja-JP" sz="2000" b="0" i="1" smtClean="0">
                        <a:latin typeface="Cambria Math" panose="02040503050406030204" pitchFamily="18" charset="0"/>
                      </a:rPr>
                      <m:t>𝑗</m:t>
                    </m:r>
                    <m:r>
                      <a:rPr kumimoji="1" lang="en-US" altLang="ja-JP" sz="2000" b="0" i="1" smtClean="0">
                        <a:latin typeface="Cambria Math" panose="02040503050406030204" pitchFamily="18" charset="0"/>
                      </a:rPr>
                      <m:t>=</m:t>
                    </m:r>
                    <m:d>
                      <m:dPr>
                        <m:ctrlPr>
                          <a:rPr kumimoji="1" lang="en-US" altLang="ja-JP" sz="2000" b="0" i="1" smtClean="0">
                            <a:latin typeface="Cambria Math" panose="02040503050406030204" pitchFamily="18" charset="0"/>
                          </a:rPr>
                        </m:ctrlPr>
                      </m:dPr>
                      <m:e>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10</m:t>
                            </m:r>
                          </m:sub>
                        </m:sSub>
                        <m:r>
                          <a:rPr kumimoji="1" lang="en-US" altLang="ja-JP" sz="2000" b="0" i="1" smtClean="0">
                            <a:latin typeface="Cambria Math" panose="02040503050406030204" pitchFamily="18" charset="0"/>
                          </a:rPr>
                          <m:t>+</m:t>
                        </m:r>
                        <m:sSub>
                          <m:sSubPr>
                            <m:ctrlPr>
                              <a:rPr kumimoji="1" lang="en-US" altLang="ja-JP" sz="2000" b="0" i="1" smtClean="0">
                                <a:latin typeface="Cambria Math" panose="02040503050406030204" pitchFamily="18" charset="0"/>
                              </a:rPr>
                            </m:ctrlPr>
                          </m:sSubPr>
                          <m:e>
                            <m:r>
                              <a:rPr kumimoji="1" lang="en-US" altLang="ja-JP" sz="2000" b="0" i="1" smtClean="0">
                                <a:latin typeface="Cambria Math" panose="02040503050406030204" pitchFamily="18" charset="0"/>
                              </a:rPr>
                              <m:t>𝑥</m:t>
                            </m:r>
                          </m:e>
                          <m:sub>
                            <m:r>
                              <a:rPr kumimoji="1" lang="en-US" altLang="ja-JP" sz="2000" b="0" i="1" smtClean="0">
                                <a:latin typeface="Cambria Math" panose="02040503050406030204" pitchFamily="18" charset="0"/>
                              </a:rPr>
                              <m:t>11</m:t>
                            </m:r>
                          </m:sub>
                        </m:sSub>
                      </m:e>
                    </m:d>
                    <m:r>
                      <a:rPr kumimoji="1" lang="en-US" altLang="ja-JP" sz="2000" b="0" i="1" smtClean="0">
                        <a:latin typeface="Cambria Math" panose="02040503050406030204" pitchFamily="18" charset="0"/>
                      </a:rPr>
                      <m:t> </m:t>
                    </m:r>
                    <m:r>
                      <a:rPr kumimoji="1" lang="en-US" altLang="ja-JP" sz="2000" b="0" i="1" smtClean="0">
                        <a:latin typeface="Cambria Math" panose="02040503050406030204" pitchFamily="18" charset="0"/>
                      </a:rPr>
                      <m:t>𝑚𝑜𝑑</m:t>
                    </m:r>
                    <m:r>
                      <a:rPr kumimoji="1" lang="en-US" altLang="ja-JP" sz="2000" b="0" i="1" smtClean="0">
                        <a:latin typeface="Cambria Math" panose="02040503050406030204" pitchFamily="18" charset="0"/>
                      </a:rPr>
                      <m:t> 10</m:t>
                    </m:r>
                  </m:oMath>
                </a14:m>
                <a:endParaRPr kumimoji="1" lang="en-US" altLang="ja-JP" sz="2000" b="0" dirty="0"/>
              </a:p>
            </p:txBody>
          </p:sp>
        </mc:Choice>
        <mc:Fallback xmlns="">
          <p:sp>
            <p:nvSpPr>
              <p:cNvPr id="19" name="コンテンツ プレースホルダー 2">
                <a:extLst>
                  <a:ext uri="{FF2B5EF4-FFF2-40B4-BE49-F238E27FC236}">
                    <a16:creationId xmlns:a16="http://schemas.microsoft.com/office/drawing/2014/main" id="{E352E612-5626-B97D-CC8B-589774D54737}"/>
                  </a:ext>
                </a:extLst>
              </p:cNvPr>
              <p:cNvSpPr>
                <a:spLocks noGrp="1" noRot="1" noChangeAspect="1" noMove="1" noResize="1" noEditPoints="1" noAdjustHandles="1" noChangeArrowheads="1" noChangeShapeType="1" noTextEdit="1"/>
              </p:cNvSpPr>
              <p:nvPr>
                <p:ph idx="1"/>
              </p:nvPr>
            </p:nvSpPr>
            <p:spPr>
              <a:xfrm>
                <a:off x="635619" y="3399929"/>
                <a:ext cx="8369810" cy="857621"/>
              </a:xfrm>
              <a:blipFill>
                <a:blip r:embed="rId11"/>
                <a:stretch>
                  <a:fillRect l="-728" t="-6429" b="-4286"/>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1864200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 name="テキスト ボックス 22">
            <a:extLst>
              <a:ext uri="{FF2B5EF4-FFF2-40B4-BE49-F238E27FC236}">
                <a16:creationId xmlns:a16="http://schemas.microsoft.com/office/drawing/2014/main" id="{4F611FF9-5E85-F9F4-1119-E83715E57835}"/>
              </a:ext>
            </a:extLst>
          </p:cNvPr>
          <p:cNvSpPr txBox="1"/>
          <p:nvPr/>
        </p:nvSpPr>
        <p:spPr>
          <a:xfrm>
            <a:off x="-991996" y="726543"/>
            <a:ext cx="14175992" cy="6001643"/>
          </a:xfrm>
          <a:prstGeom prst="rect">
            <a:avLst/>
          </a:prstGeom>
          <a:noFill/>
        </p:spPr>
        <p:txBody>
          <a:bodyPr wrap="square">
            <a:spAutoFit/>
          </a:bodyPr>
          <a:lstStyle/>
          <a:p>
            <a:pPr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人間計算可能であることを定義するために、まず人間の計算能力を一種の計算機としてモデル化する。このモデルでは、人間をチューリングマシンに類似した存在とみなしつつ、記憶の特性を考慮して以下のような仮定を導入する。</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a:t>
            </a:r>
            <a:endPar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Ⅰ　人間の計算モデル</a:t>
            </a:r>
          </a:p>
          <a:p>
            <a:pPr marL="333375" indent="-333375"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a:t>
            </a:r>
            <a:r>
              <a:rPr lang="en-US" altLang="ja-JP" sz="1600" kern="100" dirty="0" err="1">
                <a:effectLst/>
                <a:latin typeface="Meiryo UI" panose="020B0604030504040204" pitchFamily="50" charset="-128"/>
                <a:ea typeface="Meiryo UI" panose="020B0604030504040204" pitchFamily="50" charset="-128"/>
                <a:cs typeface="Times New Roman" panose="02020603050405020304" pitchFamily="18" charset="0"/>
              </a:rPr>
              <a:t>i</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人間はチューリングマシンと同様に計算を実行するが、記憶の仕組みが異なる。具体的には、長期記憶と短期記憶の二つの記憶領域を持つ。</a:t>
            </a:r>
          </a:p>
          <a:p>
            <a:pPr marL="333375" indent="-333375"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ii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長期記憶の容量は理論的には無限大とする。ただし、新しい情報を書き込むには一定の時間を要する。一方で、すでに記憶した情報の読み出しは即座に行える。</a:t>
            </a:r>
          </a:p>
          <a:p>
            <a:pPr marL="333375" indent="-333375"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iii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短期記憶は、情報の読み書きが極めて高速で行われるが、容量には大きな制約があり、通常</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2</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3</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個の情報しか保持できない。</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a:t>
            </a:r>
            <a:endPar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Ⅱ　人間計算可能であるための条件</a:t>
            </a:r>
          </a:p>
          <a:p>
            <a:pPr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上記の記憶モデルを前提とし、人間が計算を行うプロセス（</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PRPE</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および</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PROC</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）が人間計算可能であるための具体的な条件を以下のように定義する。</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a:t>
            </a:r>
            <a:r>
              <a:rPr lang="en-US" altLang="ja-JP" sz="1600" kern="100" dirty="0" err="1">
                <a:effectLst/>
                <a:latin typeface="Meiryo UI" panose="020B0604030504040204" pitchFamily="50" charset="-128"/>
                <a:ea typeface="Meiryo UI" panose="020B0604030504040204" pitchFamily="50" charset="-128"/>
                <a:cs typeface="Times New Roman" panose="02020603050405020304" pitchFamily="18" charset="0"/>
              </a:rPr>
              <a:t>i</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スキーマ学習の時間制約（</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COMM</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a:t>
            </a:r>
          </a:p>
          <a:p>
            <a:pPr marL="333375"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計算の手順を学習し、実際に試行するリハーサルを含めた学習時間は</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10</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分以内であること。</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ii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準備段階の時間制約（</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PRPE</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a:t>
            </a:r>
          </a:p>
          <a:p>
            <a:pPr marL="333375"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スキーマの学習（</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COMM</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）と秘密鍵の記憶（</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MEM</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）を合わせた準備にかかる時間は２時間以内で完了すること。</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iii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認証時の計算時間（</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PROC</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a:t>
            </a:r>
          </a:p>
          <a:p>
            <a:pPr marL="333375"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実際に認証を行う際、与えられた入力と秘密鍵を用いて応答を計算する時間は１分以内であること。</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iv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スキーマの制約：</a:t>
            </a:r>
          </a:p>
          <a:p>
            <a:pPr marL="333375"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ユーザが記憶するスキーマの数は最大</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3</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つとし、短期記憶の限界を考慮して可能な限り２つのチャンクを記憶のポインタとして活用することが望ましい。</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v ) </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リハーサルの実施可能性：</a:t>
            </a:r>
          </a:p>
          <a:p>
            <a:pPr marL="333375"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ユーザは、スキーマや秘密鍵を記憶した後、自らリハーサルを行い、正しく記憶されているかを確認できること。</a:t>
            </a:r>
          </a:p>
          <a:p>
            <a:pPr algn="just"/>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 </a:t>
            </a:r>
            <a:endPar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algn="just"/>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これらの条件は、パスワード認証が完全に脳内で完結することを保証するために設定されている。もし計算に外部の記憶媒体（</a:t>
            </a:r>
            <a:r>
              <a:rPr lang="en-US"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PC</a:t>
            </a:r>
            <a:r>
              <a:rPr lang="ja-JP" altLang="ja-JP" sz="1600" kern="100" dirty="0">
                <a:effectLst/>
                <a:latin typeface="Meiryo UI" panose="020B0604030504040204" pitchFamily="50" charset="-128"/>
                <a:ea typeface="Meiryo UI" panose="020B0604030504040204" pitchFamily="50" charset="-128"/>
                <a:cs typeface="Times New Roman" panose="02020603050405020304" pitchFamily="18" charset="0"/>
              </a:rPr>
              <a:t>や紙など）を必要とする場合、認証の秘密情報が外部に漏洩する可能性が生じる。また、計算に要する時間が過度に長いと実用性が失われ、現実的な認証方式としての適用が困難になる。したがって、人間計算可能なパスワードの設計においては、計算負担とセキュリティのバランスを考慮し、これらの制約を満たすことが求められる。</a:t>
            </a:r>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人間計算可能</a:t>
            </a:r>
            <a:r>
              <a:rPr lang="ja-JP" altLang="en-US" b="1" dirty="0"/>
              <a:t>の定義</a:t>
            </a:r>
            <a:endParaRPr kumimoji="1" lang="ja-JP" altLang="en-US" b="1" dirty="0">
              <a:latin typeface="Meiryo UI" panose="020B0604030504040204" pitchFamily="34" charset="-128"/>
              <a:ea typeface="Meiryo UI" panose="020B0604030504040204" pitchFamily="34" charset="-128"/>
            </a:endParaRPr>
          </a:p>
        </p:txBody>
      </p:sp>
    </p:spTree>
    <p:extLst>
      <p:ext uri="{BB962C8B-B14F-4D97-AF65-F5344CB8AC3E}">
        <p14:creationId xmlns:p14="http://schemas.microsoft.com/office/powerpoint/2010/main" val="15255467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実験に使用したデータセット</a:t>
            </a:r>
          </a:p>
        </p:txBody>
      </p:sp>
      <p:sp>
        <p:nvSpPr>
          <p:cNvPr id="7" name="コンテンツ プレースホルダー 2">
            <a:extLst>
              <a:ext uri="{FF2B5EF4-FFF2-40B4-BE49-F238E27FC236}">
                <a16:creationId xmlns:a16="http://schemas.microsoft.com/office/drawing/2014/main" id="{57C1F68C-5D31-543C-605D-3224E3DF2212}"/>
              </a:ext>
            </a:extLst>
          </p:cNvPr>
          <p:cNvSpPr>
            <a:spLocks noGrp="1"/>
          </p:cNvSpPr>
          <p:nvPr>
            <p:ph idx="1"/>
          </p:nvPr>
        </p:nvSpPr>
        <p:spPr>
          <a:xfrm>
            <a:off x="838200" y="1562300"/>
            <a:ext cx="10515600" cy="2511860"/>
          </a:xfrm>
        </p:spPr>
        <p:txBody>
          <a:bodyPr>
            <a:normAutofit/>
          </a:bodyPr>
          <a:lstStyle/>
          <a:p>
            <a:pPr marL="457200" indent="-457200">
              <a:buFont typeface="Arial" panose="020B0604020202020204" pitchFamily="34" charset="0"/>
              <a:buChar char="•"/>
            </a:pP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一桁チャレンジにおいて提示される</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14</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枚の画像番号と、</a:t>
            </a:r>
            <a:endPar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r>
              <a:rPr lang="ja-JP" altLang="en-US" kern="100" dirty="0">
                <a:latin typeface="Meiryo UI" panose="020B0604030504040204" pitchFamily="50" charset="-128"/>
                <a:ea typeface="Meiryo UI" panose="020B0604030504040204" pitchFamily="50" charset="-128"/>
                <a:cs typeface="Times New Roman" panose="02020603050405020304" pitchFamily="18" charset="0"/>
              </a:rPr>
              <a:t>　　</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それに対応するレスポンスを含むデータセットを使用。</a:t>
            </a:r>
            <a:endPar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endParaRPr lang="en-US" altLang="ja-JP" sz="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457200" indent="-457200">
              <a:buFont typeface="Arial" panose="020B0604020202020204" pitchFamily="34" charset="0"/>
              <a:buChar char="•"/>
            </a:pP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具体的には、各データサンプルは、認証時に提示される</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14</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個の画像番号（</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X0</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X13</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）を特徴量とし、それに基づいて計算された</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1</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桁のレスポンス（</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Z</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）を正解ラベルとして構成される。</a:t>
            </a:r>
          </a:p>
        </p:txBody>
      </p:sp>
      <p:pic>
        <p:nvPicPr>
          <p:cNvPr id="22" name="図 21">
            <a:extLst>
              <a:ext uri="{FF2B5EF4-FFF2-40B4-BE49-F238E27FC236}">
                <a16:creationId xmlns:a16="http://schemas.microsoft.com/office/drawing/2014/main" id="{43B0E10C-2389-9B37-3D3D-20F757B57DD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3714" y="4561840"/>
            <a:ext cx="10490086" cy="1832549"/>
          </a:xfrm>
          <a:prstGeom prst="rect">
            <a:avLst/>
          </a:prstGeom>
          <a:noFill/>
          <a:ln>
            <a:noFill/>
          </a:ln>
        </p:spPr>
      </p:pic>
    </p:spTree>
    <p:extLst>
      <p:ext uri="{BB962C8B-B14F-4D97-AF65-F5344CB8AC3E}">
        <p14:creationId xmlns:p14="http://schemas.microsoft.com/office/powerpoint/2010/main" val="22815812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アイデア：</a:t>
            </a:r>
            <a:r>
              <a:rPr lang="en-US" altLang="ja-JP" b="1" dirty="0"/>
              <a:t>CNN</a:t>
            </a:r>
            <a:r>
              <a:rPr lang="ja-JP" altLang="en-US" b="1" dirty="0"/>
              <a:t>による局所特徴量の学習</a:t>
            </a:r>
            <a:endParaRPr kumimoji="1" lang="ja-JP" altLang="en-US" b="1" dirty="0">
              <a:latin typeface="Meiryo UI" panose="020B0604030504040204" pitchFamily="34" charset="-128"/>
              <a:ea typeface="Meiryo UI" panose="020B0604030504040204" pitchFamily="34" charset="-128"/>
            </a:endParaRPr>
          </a:p>
        </p:txBody>
      </p:sp>
      <p:sp>
        <p:nvSpPr>
          <p:cNvPr id="13" name="コンテンツ プレースホルダー 2">
            <a:extLst>
              <a:ext uri="{FF2B5EF4-FFF2-40B4-BE49-F238E27FC236}">
                <a16:creationId xmlns:a16="http://schemas.microsoft.com/office/drawing/2014/main" id="{84EA6AF3-166D-13AA-C51F-B5EDD273FA00}"/>
              </a:ext>
            </a:extLst>
          </p:cNvPr>
          <p:cNvSpPr>
            <a:spLocks noGrp="1"/>
          </p:cNvSpPr>
          <p:nvPr>
            <p:ph idx="1"/>
          </p:nvPr>
        </p:nvSpPr>
        <p:spPr>
          <a:xfrm>
            <a:off x="838200" y="1679403"/>
            <a:ext cx="10515600" cy="1919346"/>
          </a:xfrm>
        </p:spPr>
        <p:txBody>
          <a:bodyPr anchor="ctr" anchorCtr="0">
            <a:normAutofit/>
          </a:bodyPr>
          <a:lstStyle/>
          <a:p>
            <a:pPr marL="457200" indent="-457200">
              <a:lnSpc>
                <a:spcPct val="125000"/>
              </a:lnSpc>
              <a:buClr>
                <a:srgbClr val="002060"/>
              </a:buClr>
              <a:buFont typeface="Arial" panose="020B0604020202020204" pitchFamily="34" charset="0"/>
              <a:buChar char="•"/>
            </a:pPr>
            <a:r>
              <a:rPr lang="ja-JP" altLang="en-US" dirty="0"/>
              <a:t>既存研究：埋め込み層＋双方向長短期記憶（</a:t>
            </a:r>
            <a:r>
              <a:rPr lang="en-US" altLang="ja-JP" dirty="0"/>
              <a:t>Bi-LSTM</a:t>
            </a:r>
            <a:r>
              <a:rPr lang="ja-JP" altLang="en-US" dirty="0"/>
              <a:t>）</a:t>
            </a:r>
            <a:endParaRPr lang="en-US" altLang="ja-JP" dirty="0"/>
          </a:p>
          <a:p>
            <a:pPr marL="1143000" lvl="1" indent="-457200">
              <a:lnSpc>
                <a:spcPct val="125000"/>
              </a:lnSpc>
              <a:buClr>
                <a:srgbClr val="002060"/>
              </a:buClr>
            </a:pPr>
            <a:r>
              <a:rPr lang="ja-JP" altLang="en-US" dirty="0">
                <a:latin typeface="Meiryo UI" panose="020B0604030504040204" pitchFamily="50" charset="-128"/>
                <a:ea typeface="Meiryo UI" panose="020B0604030504040204" pitchFamily="50" charset="-128"/>
              </a:rPr>
              <a:t>埋め込み層が関数の非線形性を上手く近似している可能性</a:t>
            </a:r>
            <a:endParaRPr lang="en-US" altLang="ja-JP" dirty="0">
              <a:latin typeface="Meiryo UI" panose="020B0604030504040204" pitchFamily="50" charset="-128"/>
              <a:ea typeface="Meiryo UI" panose="020B0604030504040204" pitchFamily="50" charset="-128"/>
            </a:endParaRPr>
          </a:p>
          <a:p>
            <a:pPr marL="1143000" lvl="1" indent="-457200">
              <a:lnSpc>
                <a:spcPct val="125000"/>
              </a:lnSpc>
              <a:buClr>
                <a:srgbClr val="002060"/>
              </a:buClr>
            </a:pPr>
            <a:r>
              <a:rPr lang="en-US" altLang="ja-JP" dirty="0">
                <a:latin typeface="Meiryo UI" panose="020B0604030504040204" pitchFamily="50" charset="-128"/>
                <a:ea typeface="Meiryo UI" panose="020B0604030504040204" pitchFamily="50" charset="-128"/>
              </a:rPr>
              <a:t>Bi-LSTM</a:t>
            </a:r>
            <a:r>
              <a:rPr lang="ja-JP" altLang="en-US" dirty="0">
                <a:latin typeface="Meiryo UI" panose="020B0604030504040204" pitchFamily="50" charset="-128"/>
                <a:ea typeface="Meiryo UI" panose="020B0604030504040204" pitchFamily="50" charset="-128"/>
              </a:rPr>
              <a:t>は、データの時系列的な依存関係の学習が得意</a:t>
            </a:r>
            <a:endParaRPr lang="en-US" altLang="ja-JP"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946103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7</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mc:AlternateContent xmlns:mc="http://schemas.openxmlformats.org/markup-compatibility/2006" xmlns:a14="http://schemas.microsoft.com/office/drawing/2010/main">
        <mc:Choice Requires="a14">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実験結果：</a:t>
                </a:r>
                <a14:m>
                  <m:oMath xmlns:m="http://schemas.openxmlformats.org/officeDocument/2006/math">
                    <m:d>
                      <m:dPr>
                        <m:ctrlPr>
                          <a:rPr kumimoji="1" lang="en-US" altLang="ja-JP" b="1" i="1" smtClean="0">
                            <a:latin typeface="Cambria Math" panose="02040503050406030204" pitchFamily="18" charset="0"/>
                            <a:ea typeface="Meiryo UI" panose="020B0604030504040204" pitchFamily="34" charset="-128"/>
                          </a:rPr>
                        </m:ctrlPr>
                      </m:dPr>
                      <m:e>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𝟏</m:t>
                            </m:r>
                          </m:sub>
                        </m:sSub>
                        <m:r>
                          <a:rPr kumimoji="1" lang="en-US" altLang="ja-JP" b="1" i="1" smtClean="0">
                            <a:latin typeface="Cambria Math" panose="02040503050406030204" pitchFamily="18" charset="0"/>
                            <a:ea typeface="Meiryo UI" panose="020B0604030504040204" pitchFamily="34" charset="-128"/>
                          </a:rPr>
                          <m:t>,</m:t>
                        </m:r>
                        <m:sSub>
                          <m:sSubPr>
                            <m:ctrlPr>
                              <a:rPr kumimoji="1" lang="en-US" altLang="ja-JP" b="1" i="1" smtClean="0">
                                <a:latin typeface="Cambria Math" panose="02040503050406030204" pitchFamily="18" charset="0"/>
                                <a:ea typeface="Meiryo UI" panose="020B0604030504040204" pitchFamily="34" charset="-128"/>
                              </a:rPr>
                            </m:ctrlPr>
                          </m:sSubPr>
                          <m:e>
                            <m:r>
                              <a:rPr kumimoji="1" lang="en-US" altLang="ja-JP" b="1" i="1" smtClean="0">
                                <a:latin typeface="Cambria Math" panose="02040503050406030204" pitchFamily="18" charset="0"/>
                                <a:ea typeface="Meiryo UI" panose="020B0604030504040204" pitchFamily="34" charset="-128"/>
                              </a:rPr>
                              <m:t>𝒌</m:t>
                            </m:r>
                          </m:e>
                          <m:sub>
                            <m:r>
                              <a:rPr kumimoji="1" lang="en-US" altLang="ja-JP" b="1" i="1" smtClean="0">
                                <a:latin typeface="Cambria Math" panose="02040503050406030204" pitchFamily="18" charset="0"/>
                                <a:ea typeface="Meiryo UI" panose="020B0604030504040204" pitchFamily="34" charset="-128"/>
                              </a:rPr>
                              <m:t>𝟐</m:t>
                            </m:r>
                          </m:sub>
                        </m:sSub>
                      </m:e>
                    </m:d>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𝟏</m:t>
                    </m:r>
                    <m:r>
                      <a:rPr kumimoji="1" lang="en-US" altLang="ja-JP" b="1" i="1" smtClean="0">
                        <a:latin typeface="Cambria Math" panose="02040503050406030204" pitchFamily="18" charset="0"/>
                        <a:ea typeface="Meiryo UI" panose="020B0604030504040204" pitchFamily="34" charset="-128"/>
                      </a:rPr>
                      <m:t>,</m:t>
                    </m:r>
                    <m:r>
                      <a:rPr kumimoji="1" lang="en-US" altLang="ja-JP" b="1" i="1" smtClean="0">
                        <a:latin typeface="Cambria Math" panose="02040503050406030204" pitchFamily="18" charset="0"/>
                        <a:ea typeface="Meiryo UI" panose="020B0604030504040204" pitchFamily="34" charset="-128"/>
                      </a:rPr>
                      <m:t>𝟑</m:t>
                    </m:r>
                    <m:r>
                      <a:rPr kumimoji="1" lang="en-US" altLang="ja-JP" b="1" i="1" smtClean="0">
                        <a:latin typeface="Cambria Math" panose="02040503050406030204" pitchFamily="18" charset="0"/>
                        <a:ea typeface="Meiryo UI" panose="020B0604030504040204" pitchFamily="34" charset="-128"/>
                      </a:rPr>
                      <m:t>)</m:t>
                    </m:r>
                  </m:oMath>
                </a14:m>
                <a:endParaRPr kumimoji="1" lang="ja-JP" altLang="en-US" b="1" dirty="0">
                  <a:latin typeface="Meiryo UI" panose="020B0604030504040204" pitchFamily="34" charset="-128"/>
                  <a:ea typeface="Meiryo UI" panose="020B0604030504040204" pitchFamily="34" charset="-128"/>
                </a:endParaRPr>
              </a:p>
            </p:txBody>
          </p:sp>
        </mc:Choice>
        <mc:Fallback xmlns="">
          <p:sp>
            <p:nvSpPr>
              <p:cNvPr id="10" name="タイトル 1">
                <a:extLst>
                  <a:ext uri="{FF2B5EF4-FFF2-40B4-BE49-F238E27FC236}">
                    <a16:creationId xmlns:a16="http://schemas.microsoft.com/office/drawing/2014/main" id="{95421803-53D1-CD0D-9F36-1767F6C7731C}"/>
                  </a:ext>
                </a:extLst>
              </p:cNvPr>
              <p:cNvSpPr>
                <a:spLocks noGrp="1" noRot="1" noChangeAspect="1" noMove="1" noResize="1" noEditPoints="1" noAdjustHandles="1" noChangeArrowheads="1" noChangeShapeType="1" noTextEdit="1"/>
              </p:cNvSpPr>
              <p:nvPr>
                <p:ph type="title"/>
              </p:nvPr>
            </p:nvSpPr>
            <p:spPr>
              <a:xfrm>
                <a:off x="558799" y="129814"/>
                <a:ext cx="11328401" cy="1325563"/>
              </a:xfrm>
              <a:blipFill>
                <a:blip r:embed="rId3"/>
                <a:stretch>
                  <a:fillRect l="-2207"/>
                </a:stretch>
              </a:blipFill>
            </p:spPr>
            <p:txBody>
              <a:bodyPr/>
              <a:lstStyle/>
              <a:p>
                <a:r>
                  <a:rPr lang="ja-JP" altLang="en-US">
                    <a:noFill/>
                  </a:rPr>
                  <a:t> </a:t>
                </a:r>
              </a:p>
            </p:txBody>
          </p:sp>
        </mc:Fallback>
      </mc:AlternateContent>
      <p:graphicFrame>
        <p:nvGraphicFramePr>
          <p:cNvPr id="7" name="表 6">
            <a:extLst>
              <a:ext uri="{FF2B5EF4-FFF2-40B4-BE49-F238E27FC236}">
                <a16:creationId xmlns:a16="http://schemas.microsoft.com/office/drawing/2014/main" id="{232C286F-57FA-1267-2810-D247DBDF07A7}"/>
              </a:ext>
            </a:extLst>
          </p:cNvPr>
          <p:cNvGraphicFramePr>
            <a:graphicFrameLocks noGrp="1"/>
          </p:cNvGraphicFramePr>
          <p:nvPr>
            <p:extLst>
              <p:ext uri="{D42A27DB-BD31-4B8C-83A1-F6EECF244321}">
                <p14:modId xmlns:p14="http://schemas.microsoft.com/office/powerpoint/2010/main" val="109248424"/>
              </p:ext>
            </p:extLst>
          </p:nvPr>
        </p:nvGraphicFramePr>
        <p:xfrm>
          <a:off x="558799" y="2744468"/>
          <a:ext cx="6480000" cy="2303999"/>
        </p:xfrm>
        <a:graphic>
          <a:graphicData uri="http://schemas.openxmlformats.org/drawingml/2006/table">
            <a:tbl>
              <a:tblPr firstRow="1" firstCol="1" bandRow="1">
                <a:tableStyleId>{5C22544A-7EE6-4342-B048-85BDC9FD1C3A}</a:tableStyleId>
              </a:tblPr>
              <a:tblGrid>
                <a:gridCol w="1620000">
                  <a:extLst>
                    <a:ext uri="{9D8B030D-6E8A-4147-A177-3AD203B41FA5}">
                      <a16:colId xmlns:a16="http://schemas.microsoft.com/office/drawing/2014/main" val="1337696201"/>
                    </a:ext>
                  </a:extLst>
                </a:gridCol>
                <a:gridCol w="1620000">
                  <a:extLst>
                    <a:ext uri="{9D8B030D-6E8A-4147-A177-3AD203B41FA5}">
                      <a16:colId xmlns:a16="http://schemas.microsoft.com/office/drawing/2014/main" val="2192775266"/>
                    </a:ext>
                  </a:extLst>
                </a:gridCol>
                <a:gridCol w="1620000">
                  <a:extLst>
                    <a:ext uri="{9D8B030D-6E8A-4147-A177-3AD203B41FA5}">
                      <a16:colId xmlns:a16="http://schemas.microsoft.com/office/drawing/2014/main" val="3401111041"/>
                    </a:ext>
                  </a:extLst>
                </a:gridCol>
                <a:gridCol w="1620000">
                  <a:extLst>
                    <a:ext uri="{9D8B030D-6E8A-4147-A177-3AD203B41FA5}">
                      <a16:colId xmlns:a16="http://schemas.microsoft.com/office/drawing/2014/main" val="3469421286"/>
                    </a:ext>
                  </a:extLst>
                </a:gridCol>
              </a:tblGrid>
              <a:tr h="614167">
                <a:tc>
                  <a:txBody>
                    <a:bodyPr/>
                    <a:lstStyle/>
                    <a:p>
                      <a:pPr algn="ctr"/>
                      <a:r>
                        <a:rPr lang="ja-JP" sz="2000" b="1" kern="100" dirty="0">
                          <a:effectLst/>
                        </a:rPr>
                        <a:t>データ数＼画像枚数</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N</a:t>
                      </a:r>
                      <a:r>
                        <a:rPr lang="ja-JP" sz="2000" b="1" kern="100" dirty="0">
                          <a:effectLst/>
                        </a:rPr>
                        <a:t>＝</a:t>
                      </a:r>
                      <a:r>
                        <a:rPr lang="en-US" sz="2000" b="1" kern="100" dirty="0">
                          <a:effectLst/>
                        </a:rPr>
                        <a:t>26</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50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a:effectLst/>
                        </a:rPr>
                        <a:t>N</a:t>
                      </a:r>
                      <a:r>
                        <a:rPr lang="ja-JP" sz="2000" b="1" kern="100">
                          <a:effectLst/>
                        </a:rPr>
                        <a:t>＝</a:t>
                      </a:r>
                      <a:r>
                        <a:rPr lang="en-US" sz="2000" b="1" kern="100">
                          <a:effectLst/>
                        </a:rPr>
                        <a:t>100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508720051"/>
                  </a:ext>
                </a:extLst>
              </a:tr>
              <a:tr h="422458">
                <a:tc>
                  <a:txBody>
                    <a:bodyPr/>
                    <a:lstStyle/>
                    <a:p>
                      <a:pPr algn="ctr"/>
                      <a:r>
                        <a:rPr lang="en-US" sz="2000" b="1" kern="100" dirty="0">
                          <a:effectLst/>
                        </a:rPr>
                        <a:t>1000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0.1521</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0.1583</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0.1557</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761345781"/>
                  </a:ext>
                </a:extLst>
              </a:tr>
              <a:tr h="422458">
                <a:tc>
                  <a:txBody>
                    <a:bodyPr/>
                    <a:lstStyle/>
                    <a:p>
                      <a:pPr algn="ctr"/>
                      <a:r>
                        <a:rPr lang="en-US" sz="2000" b="1" kern="100">
                          <a:effectLst/>
                        </a:rPr>
                        <a:t>5000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0.1184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0.1202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0.1309</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183717859"/>
                  </a:ext>
                </a:extLst>
              </a:tr>
              <a:tr h="422458">
                <a:tc>
                  <a:txBody>
                    <a:bodyPr/>
                    <a:lstStyle/>
                    <a:p>
                      <a:pPr algn="ctr"/>
                      <a:r>
                        <a:rPr lang="en-US" sz="2000" b="1" kern="100">
                          <a:effectLst/>
                        </a:rPr>
                        <a:t>10000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0.1160</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0.1182</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0.1125</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255985965"/>
                  </a:ext>
                </a:extLst>
              </a:tr>
              <a:tr h="422458">
                <a:tc>
                  <a:txBody>
                    <a:bodyPr/>
                    <a:lstStyle/>
                    <a:p>
                      <a:pPr algn="ctr"/>
                      <a:r>
                        <a:rPr lang="en-US" sz="2000" b="1" kern="100">
                          <a:effectLst/>
                        </a:rPr>
                        <a:t>50000</a:t>
                      </a:r>
                      <a:endParaRPr lang="ja-JP" sz="2000" b="1" kern="10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0.1055</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0.1024</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tc>
                  <a:txBody>
                    <a:bodyPr/>
                    <a:lstStyle/>
                    <a:p>
                      <a:pPr algn="ctr"/>
                      <a:r>
                        <a:rPr lang="en-US" sz="2000" b="1" kern="100" dirty="0">
                          <a:effectLst/>
                        </a:rPr>
                        <a:t>0.1085</a:t>
                      </a:r>
                      <a:endParaRPr lang="ja-JP" sz="2000" b="1" kern="100" dirty="0">
                        <a:effectLst/>
                        <a:latin typeface="游明朝" panose="02020400000000000000" pitchFamily="18" charset="-128"/>
                        <a:ea typeface="游明朝" panose="02020400000000000000" pitchFamily="18" charset="-128"/>
                        <a:cs typeface="Times New Roman" panose="02020603050405020304" pitchFamily="18" charset="0"/>
                      </a:endParaRPr>
                    </a:p>
                  </a:txBody>
                  <a:tcPr marL="68580" marR="68580" marT="0" marB="0" anchor="ctr"/>
                </a:tc>
                <a:extLst>
                  <a:ext uri="{0D108BD9-81ED-4DB2-BD59-A6C34878D82A}">
                    <a16:rowId xmlns:a16="http://schemas.microsoft.com/office/drawing/2014/main" val="1638694602"/>
                  </a:ext>
                </a:extLst>
              </a:tr>
            </a:tbl>
          </a:graphicData>
        </a:graphic>
      </p:graphicFrame>
      <p:sp>
        <p:nvSpPr>
          <p:cNvPr id="2" name="コンテンツ プレースホルダー 2">
            <a:extLst>
              <a:ext uri="{FF2B5EF4-FFF2-40B4-BE49-F238E27FC236}">
                <a16:creationId xmlns:a16="http://schemas.microsoft.com/office/drawing/2014/main" id="{5B8A7331-3207-5ED9-07A5-C577A6AAC3B6}"/>
              </a:ext>
            </a:extLst>
          </p:cNvPr>
          <p:cNvSpPr>
            <a:spLocks noGrp="1"/>
          </p:cNvSpPr>
          <p:nvPr>
            <p:ph idx="1"/>
          </p:nvPr>
        </p:nvSpPr>
        <p:spPr>
          <a:xfrm>
            <a:off x="838200" y="1814966"/>
            <a:ext cx="10515600" cy="598739"/>
          </a:xfrm>
        </p:spPr>
        <p:txBody>
          <a:bodyPr anchor="ctr" anchorCtr="0">
            <a:normAutofit/>
          </a:bodyPr>
          <a:lstStyle/>
          <a:p>
            <a:pPr marL="457200" indent="-457200">
              <a:lnSpc>
                <a:spcPct val="125000"/>
              </a:lnSpc>
              <a:buClr>
                <a:srgbClr val="002060"/>
              </a:buClr>
              <a:buFont typeface="Arial" panose="020B0604020202020204" pitchFamily="34" charset="0"/>
              <a:buChar char="•"/>
            </a:pPr>
            <a:r>
              <a:rPr lang="ja-JP" altLang="en-US" b="1" dirty="0">
                <a:latin typeface="Meiryo UI" panose="020B0604030504040204" pitchFamily="34" charset="-128"/>
                <a:ea typeface="Meiryo UI" panose="020B0604030504040204" pitchFamily="34" charset="-128"/>
              </a:rPr>
              <a:t>埋め込み層＋</a:t>
            </a:r>
            <a:r>
              <a:rPr lang="en-US" altLang="ja-JP" b="1" dirty="0">
                <a:latin typeface="Meiryo UI" panose="020B0604030504040204" pitchFamily="34" charset="-128"/>
                <a:ea typeface="Meiryo UI" panose="020B0604030504040204" pitchFamily="34" charset="-128"/>
              </a:rPr>
              <a:t>CNN</a:t>
            </a:r>
          </a:p>
        </p:txBody>
      </p:sp>
      <p:pic>
        <p:nvPicPr>
          <p:cNvPr id="3" name="図 2">
            <a:extLst>
              <a:ext uri="{FF2B5EF4-FFF2-40B4-BE49-F238E27FC236}">
                <a16:creationId xmlns:a16="http://schemas.microsoft.com/office/drawing/2014/main" id="{783E68D4-B286-0664-27DB-82168C531174}"/>
              </a:ext>
            </a:extLst>
          </p:cNvPr>
          <p:cNvPicPr>
            <a:picLocks noChangeAspect="1"/>
          </p:cNvPicPr>
          <p:nvPr/>
        </p:nvPicPr>
        <p:blipFill>
          <a:blip r:embed="rId4"/>
          <a:stretch>
            <a:fillRect/>
          </a:stretch>
        </p:blipFill>
        <p:spPr>
          <a:xfrm>
            <a:off x="7091680" y="2006984"/>
            <a:ext cx="5020492" cy="3763508"/>
          </a:xfrm>
          <a:prstGeom prst="rect">
            <a:avLst/>
          </a:prstGeom>
        </p:spPr>
      </p:pic>
      <p:sp>
        <p:nvSpPr>
          <p:cNvPr id="12" name="コンテンツ プレースホルダー 2">
            <a:extLst>
              <a:ext uri="{FF2B5EF4-FFF2-40B4-BE49-F238E27FC236}">
                <a16:creationId xmlns:a16="http://schemas.microsoft.com/office/drawing/2014/main" id="{0DB00AF3-E81F-FB74-DF90-82F6260EA992}"/>
              </a:ext>
            </a:extLst>
          </p:cNvPr>
          <p:cNvSpPr txBox="1">
            <a:spLocks/>
          </p:cNvSpPr>
          <p:nvPr/>
        </p:nvSpPr>
        <p:spPr>
          <a:xfrm>
            <a:off x="838200" y="5257959"/>
            <a:ext cx="8433619" cy="1300776"/>
          </a:xfrm>
          <a:prstGeom prst="rect">
            <a:avLst/>
          </a:prstGeom>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sz="2400" dirty="0">
                <a:latin typeface="Meiryo UI" panose="020B0604030504040204" pitchFamily="50" charset="-128"/>
                <a:ea typeface="Meiryo UI" panose="020B0604030504040204" pitchFamily="50" charset="-128"/>
              </a:rPr>
              <a:t>予測精度は、最大で</a:t>
            </a:r>
            <a:r>
              <a:rPr lang="en-US" altLang="ja-JP" sz="2400" dirty="0">
                <a:latin typeface="Meiryo UI" panose="020B0604030504040204" pitchFamily="50" charset="-128"/>
                <a:ea typeface="Meiryo UI" panose="020B0604030504040204" pitchFamily="50" charset="-128"/>
              </a:rPr>
              <a:t>15.83%</a:t>
            </a:r>
          </a:p>
          <a:p>
            <a:r>
              <a:rPr lang="ja-JP" altLang="en-US" sz="2400" dirty="0">
                <a:latin typeface="Meiryo UI" panose="020B0604030504040204" pitchFamily="50" charset="-128"/>
                <a:ea typeface="Meiryo UI" panose="020B0604030504040204" pitchFamily="50" charset="-128"/>
              </a:rPr>
              <a:t>ユーザが記憶する画像枚数 </a:t>
            </a:r>
            <a:r>
              <a:rPr lang="en-US" altLang="ja-JP" sz="2400" dirty="0">
                <a:latin typeface="Meiryo UI" panose="020B0604030504040204" pitchFamily="50" charset="-128"/>
                <a:ea typeface="Meiryo UI" panose="020B0604030504040204" pitchFamily="50" charset="-128"/>
              </a:rPr>
              <a:t>N </a:t>
            </a:r>
            <a:r>
              <a:rPr lang="ja-JP" altLang="en-US" sz="2400" dirty="0">
                <a:latin typeface="Meiryo UI" panose="020B0604030504040204" pitchFamily="50" charset="-128"/>
                <a:ea typeface="Meiryo UI" panose="020B0604030504040204" pitchFamily="50" charset="-128"/>
              </a:rPr>
              <a:t>の多寡によらず、低い予測精度</a:t>
            </a:r>
            <a:endParaRPr lang="en-US" altLang="ja-JP" sz="24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8783278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22" name="テキスト ボックス 121">
            <a:extLst>
              <a:ext uri="{FF2B5EF4-FFF2-40B4-BE49-F238E27FC236}">
                <a16:creationId xmlns:a16="http://schemas.microsoft.com/office/drawing/2014/main" id="{99447E7B-7930-CDAA-8C84-491F24624ECA}"/>
              </a:ext>
            </a:extLst>
          </p:cNvPr>
          <p:cNvSpPr txBox="1"/>
          <p:nvPr/>
        </p:nvSpPr>
        <p:spPr>
          <a:xfrm>
            <a:off x="11780913" y="6394389"/>
            <a:ext cx="327015" cy="369332"/>
          </a:xfrm>
          <a:prstGeom prst="rect">
            <a:avLst/>
          </a:prstGeom>
          <a:noFill/>
        </p:spPr>
        <p:txBody>
          <a:bodyPr wrap="square" rtlCol="0">
            <a:spAutoFit/>
          </a:bodyPr>
          <a:lstStyle/>
          <a:p>
            <a:r>
              <a:rPr kumimoji="1" lang="en-US" altLang="ja-JP" b="1" dirty="0">
                <a:solidFill>
                  <a:schemeClr val="bg1"/>
                </a:solidFill>
                <a:latin typeface="Arial" panose="020B0604020202020204" pitchFamily="34" charset="0"/>
                <a:ea typeface="Meiryo UI" panose="020B0604030504040204" pitchFamily="34" charset="-128"/>
                <a:cs typeface="Arial" panose="020B0604020202020204" pitchFamily="34" charset="0"/>
              </a:rPr>
              <a:t>8</a:t>
            </a:r>
            <a:endParaRPr kumimoji="1" lang="ja-JP" altLang="en-US" b="1" dirty="0">
              <a:solidFill>
                <a:schemeClr val="bg1"/>
              </a:solidFill>
              <a:latin typeface="Arial" panose="020B0604020202020204" pitchFamily="34" charset="0"/>
              <a:ea typeface="Meiryo UI" panose="020B0604030504040204" pitchFamily="34" charset="-128"/>
              <a:cs typeface="Arial" panose="020B0604020202020204" pitchFamily="34" charset="0"/>
            </a:endParaRPr>
          </a:p>
        </p:txBody>
      </p: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まとめと今後の展望</a:t>
            </a:r>
          </a:p>
        </p:txBody>
      </p:sp>
      <p:pic>
        <p:nvPicPr>
          <p:cNvPr id="2" name="図 1">
            <a:extLst>
              <a:ext uri="{FF2B5EF4-FFF2-40B4-BE49-F238E27FC236}">
                <a16:creationId xmlns:a16="http://schemas.microsoft.com/office/drawing/2014/main" id="{36526520-58FD-374D-B285-140AB46B0220}"/>
              </a:ext>
            </a:extLst>
          </p:cNvPr>
          <p:cNvPicPr>
            <a:picLocks noChangeAspect="1"/>
          </p:cNvPicPr>
          <p:nvPr/>
        </p:nvPicPr>
        <p:blipFill>
          <a:blip r:embed="rId3"/>
          <a:stretch>
            <a:fillRect/>
          </a:stretch>
        </p:blipFill>
        <p:spPr>
          <a:xfrm>
            <a:off x="1117599" y="2388069"/>
            <a:ext cx="4818953" cy="3612429"/>
          </a:xfrm>
          <a:prstGeom prst="rect">
            <a:avLst/>
          </a:prstGeom>
        </p:spPr>
      </p:pic>
      <p:pic>
        <p:nvPicPr>
          <p:cNvPr id="3" name="図 2">
            <a:extLst>
              <a:ext uri="{FF2B5EF4-FFF2-40B4-BE49-F238E27FC236}">
                <a16:creationId xmlns:a16="http://schemas.microsoft.com/office/drawing/2014/main" id="{87F54252-6CEC-5B18-B7A0-7D8F90AB029C}"/>
              </a:ext>
            </a:extLst>
          </p:cNvPr>
          <p:cNvPicPr>
            <a:picLocks noChangeAspect="1"/>
          </p:cNvPicPr>
          <p:nvPr/>
        </p:nvPicPr>
        <p:blipFill>
          <a:blip r:embed="rId4"/>
          <a:stretch>
            <a:fillRect/>
          </a:stretch>
        </p:blipFill>
        <p:spPr>
          <a:xfrm>
            <a:off x="6255446" y="2388068"/>
            <a:ext cx="4818954" cy="3612430"/>
          </a:xfrm>
          <a:prstGeom prst="rect">
            <a:avLst/>
          </a:prstGeom>
        </p:spPr>
      </p:pic>
      <mc:AlternateContent xmlns:mc="http://schemas.openxmlformats.org/markup-compatibility/2006" xmlns:a14="http://schemas.microsoft.com/office/drawing/2010/main">
        <mc:Choice Requires="a14">
          <p:sp>
            <p:nvSpPr>
              <p:cNvPr id="5" name="コンテンツ プレースホルダー 2">
                <a:extLst>
                  <a:ext uri="{FF2B5EF4-FFF2-40B4-BE49-F238E27FC236}">
                    <a16:creationId xmlns:a16="http://schemas.microsoft.com/office/drawing/2014/main" id="{3B99CA24-FD05-2B01-DFC7-B1FB42A97D3D}"/>
                  </a:ext>
                </a:extLst>
              </p:cNvPr>
              <p:cNvSpPr txBox="1">
                <a:spLocks/>
              </p:cNvSpPr>
              <p:nvPr/>
            </p:nvSpPr>
            <p:spPr>
              <a:xfrm>
                <a:off x="1117599" y="1613846"/>
                <a:ext cx="9956801" cy="774223"/>
              </a:xfrm>
              <a:prstGeom prst="rect">
                <a:avLst/>
              </a:prstGeom>
              <a:ln>
                <a:solidFill>
                  <a:schemeClr val="tx1"/>
                </a:solid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r>
                  <a:rPr lang="ja-JP" altLang="en-US" b="1" dirty="0"/>
                  <a:t>安全性指標　</a:t>
                </a:r>
                <a14:m>
                  <m:oMath xmlns:m="http://schemas.openxmlformats.org/officeDocument/2006/math">
                    <m:r>
                      <a:rPr lang="en-US" altLang="ja-JP" b="1" i="1" smtClean="0">
                        <a:latin typeface="Cambria Math" panose="02040503050406030204" pitchFamily="18" charset="0"/>
                      </a:rPr>
                      <m:t>𝒔</m:t>
                    </m:r>
                    <m:d>
                      <m:dPr>
                        <m:ctrlPr>
                          <a:rPr lang="en-US" altLang="ja-JP" b="1" i="1" smtClean="0">
                            <a:latin typeface="Cambria Math" panose="02040503050406030204" pitchFamily="18" charset="0"/>
                          </a:rPr>
                        </m:ctrlPr>
                      </m:dPr>
                      <m:e>
                        <m:r>
                          <a:rPr lang="en-US" altLang="ja-JP" b="1" i="1" smtClean="0">
                            <a:latin typeface="Cambria Math" panose="02040503050406030204" pitchFamily="18" charset="0"/>
                          </a:rPr>
                          <m:t> </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𝒇</m:t>
                            </m:r>
                          </m:e>
                          <m:sub>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𝒌</m:t>
                                </m:r>
                              </m:e>
                              <m:sub>
                                <m:r>
                                  <a:rPr lang="en-US" altLang="ja-JP" b="1" i="1" smtClean="0">
                                    <a:latin typeface="Cambria Math" panose="02040503050406030204" pitchFamily="18" charset="0"/>
                                  </a:rPr>
                                  <m:t>𝟏</m:t>
                                </m:r>
                              </m:sub>
                            </m:sSub>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𝒌</m:t>
                                </m:r>
                              </m:e>
                              <m:sub>
                                <m:r>
                                  <a:rPr lang="en-US" altLang="ja-JP" b="1" i="1" smtClean="0">
                                    <a:latin typeface="Cambria Math" panose="02040503050406030204" pitchFamily="18" charset="0"/>
                                  </a:rPr>
                                  <m:t>𝟐</m:t>
                                </m:r>
                              </m:sub>
                            </m:sSub>
                          </m:sub>
                        </m:sSub>
                        <m:r>
                          <a:rPr lang="en-US" altLang="ja-JP" b="1" i="1" smtClean="0">
                            <a:latin typeface="Cambria Math" panose="02040503050406030204" pitchFamily="18" charset="0"/>
                          </a:rPr>
                          <m:t> </m:t>
                        </m:r>
                      </m:e>
                    </m:d>
                    <m:r>
                      <a:rPr lang="en-US" altLang="ja-JP" b="1" i="1" smtClean="0">
                        <a:latin typeface="Cambria Math" panose="02040503050406030204" pitchFamily="18" charset="0"/>
                      </a:rPr>
                      <m:t>=</m:t>
                    </m:r>
                    <m:r>
                      <a:rPr lang="en-US" altLang="ja-JP" b="1" i="1" smtClean="0">
                        <a:latin typeface="Cambria Math" panose="02040503050406030204" pitchFamily="18" charset="0"/>
                      </a:rPr>
                      <m:t>𝒎𝒊𝒏</m:t>
                    </m:r>
                    <m:r>
                      <a:rPr lang="en-US" altLang="ja-JP" b="1" i="1" smtClean="0">
                        <a:latin typeface="Cambria Math" panose="02040503050406030204" pitchFamily="18" charset="0"/>
                      </a:rPr>
                      <m:t> { </m:t>
                    </m:r>
                    <m:f>
                      <m:fPr>
                        <m:ctrlPr>
                          <a:rPr lang="en-US" altLang="ja-JP" b="1" i="1" smtClean="0">
                            <a:latin typeface="Cambria Math" panose="02040503050406030204" pitchFamily="18" charset="0"/>
                          </a:rPr>
                        </m:ctrlPr>
                      </m:fPr>
                      <m:num>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𝒌</m:t>
                            </m:r>
                          </m:e>
                          <m:sub>
                            <m:r>
                              <a:rPr lang="en-US" altLang="ja-JP" b="1" i="1" smtClean="0">
                                <a:latin typeface="Cambria Math" panose="02040503050406030204" pitchFamily="18" charset="0"/>
                              </a:rPr>
                              <m:t>𝟐</m:t>
                            </m:r>
                          </m:sub>
                        </m:sSub>
                        <m:r>
                          <a:rPr lang="en-US" altLang="ja-JP" b="1" i="1" smtClean="0">
                            <a:latin typeface="Cambria Math" panose="02040503050406030204" pitchFamily="18" charset="0"/>
                          </a:rPr>
                          <m:t>+</m:t>
                        </m:r>
                        <m:r>
                          <a:rPr lang="en-US" altLang="ja-JP" b="1" i="1" smtClean="0">
                            <a:latin typeface="Cambria Math" panose="02040503050406030204" pitchFamily="18" charset="0"/>
                          </a:rPr>
                          <m:t>𝟏</m:t>
                        </m:r>
                      </m:num>
                      <m:den>
                        <m:r>
                          <a:rPr lang="en-US" altLang="ja-JP" b="1" i="1" smtClean="0">
                            <a:latin typeface="Cambria Math" panose="02040503050406030204" pitchFamily="18" charset="0"/>
                          </a:rPr>
                          <m:t>𝟐</m:t>
                        </m:r>
                      </m:den>
                    </m:f>
                    <m:r>
                      <a:rPr lang="en-US" altLang="ja-JP" b="1" i="1" smtClean="0">
                        <a:latin typeface="Cambria Math" panose="02040503050406030204" pitchFamily="18" charset="0"/>
                      </a:rPr>
                      <m:t>,</m:t>
                    </m:r>
                    <m:sSub>
                      <m:sSubPr>
                        <m:ctrlPr>
                          <a:rPr lang="en-US" altLang="ja-JP" b="1" i="1" smtClean="0">
                            <a:latin typeface="Cambria Math" panose="02040503050406030204" pitchFamily="18" charset="0"/>
                          </a:rPr>
                        </m:ctrlPr>
                      </m:sSubPr>
                      <m:e>
                        <m:r>
                          <a:rPr lang="en-US" altLang="ja-JP" b="1" i="1" smtClean="0">
                            <a:latin typeface="Cambria Math" panose="02040503050406030204" pitchFamily="18" charset="0"/>
                          </a:rPr>
                          <m:t> </m:t>
                        </m:r>
                        <m:r>
                          <a:rPr lang="en-US" altLang="ja-JP" b="1" i="1" smtClean="0">
                            <a:latin typeface="Cambria Math" panose="02040503050406030204" pitchFamily="18" charset="0"/>
                          </a:rPr>
                          <m:t>𝒌</m:t>
                        </m:r>
                      </m:e>
                      <m:sub>
                        <m:r>
                          <a:rPr lang="en-US" altLang="ja-JP" b="1" i="1" smtClean="0">
                            <a:latin typeface="Cambria Math" panose="02040503050406030204" pitchFamily="18" charset="0"/>
                          </a:rPr>
                          <m:t>𝟏</m:t>
                        </m:r>
                      </m:sub>
                    </m:sSub>
                    <m:r>
                      <a:rPr lang="en-US" altLang="ja-JP" b="1" i="1" smtClean="0">
                        <a:latin typeface="Cambria Math" panose="02040503050406030204" pitchFamily="18" charset="0"/>
                      </a:rPr>
                      <m:t>+</m:t>
                    </m:r>
                    <m:r>
                      <a:rPr lang="en-US" altLang="ja-JP" b="1" i="1" smtClean="0">
                        <a:latin typeface="Cambria Math" panose="02040503050406030204" pitchFamily="18" charset="0"/>
                      </a:rPr>
                      <m:t>𝟏</m:t>
                    </m:r>
                    <m:r>
                      <a:rPr lang="en-US" altLang="ja-JP" b="1" i="1" smtClean="0">
                        <a:latin typeface="Cambria Math" panose="02040503050406030204" pitchFamily="18" charset="0"/>
                      </a:rPr>
                      <m:t> }</m:t>
                    </m:r>
                  </m:oMath>
                </a14:m>
                <a:endParaRPr lang="en-US" altLang="ja-JP" b="1" dirty="0"/>
              </a:p>
            </p:txBody>
          </p:sp>
        </mc:Choice>
        <mc:Fallback xmlns="">
          <p:sp>
            <p:nvSpPr>
              <p:cNvPr id="5" name="コンテンツ プレースホルダー 2">
                <a:extLst>
                  <a:ext uri="{FF2B5EF4-FFF2-40B4-BE49-F238E27FC236}">
                    <a16:creationId xmlns:a16="http://schemas.microsoft.com/office/drawing/2014/main" id="{3B99CA24-FD05-2B01-DFC7-B1FB42A97D3D}"/>
                  </a:ext>
                </a:extLst>
              </p:cNvPr>
              <p:cNvSpPr txBox="1">
                <a:spLocks noRot="1" noChangeAspect="1" noMove="1" noResize="1" noEditPoints="1" noAdjustHandles="1" noChangeArrowheads="1" noChangeShapeType="1" noTextEdit="1"/>
              </p:cNvSpPr>
              <p:nvPr/>
            </p:nvSpPr>
            <p:spPr>
              <a:xfrm>
                <a:off x="1117599" y="1613846"/>
                <a:ext cx="9956801" cy="774223"/>
              </a:xfrm>
              <a:prstGeom prst="rect">
                <a:avLst/>
              </a:prstGeom>
              <a:blipFill>
                <a:blip r:embed="rId5"/>
                <a:stretch>
                  <a:fillRect b="-3876"/>
                </a:stretch>
              </a:blipFill>
              <a:ln>
                <a:solidFill>
                  <a:schemeClr val="tx1"/>
                </a:solid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6" name="コンテンツ プレースホルダー 2">
                <a:extLst>
                  <a:ext uri="{FF2B5EF4-FFF2-40B4-BE49-F238E27FC236}">
                    <a16:creationId xmlns:a16="http://schemas.microsoft.com/office/drawing/2014/main" id="{40E677E3-EACB-D67D-DBD7-C1FE68FCE4C1}"/>
                  </a:ext>
                </a:extLst>
              </p:cNvPr>
              <p:cNvSpPr txBox="1">
                <a:spLocks/>
              </p:cNvSpPr>
              <p:nvPr/>
            </p:nvSpPr>
            <p:spPr>
              <a:xfrm>
                <a:off x="2413571" y="5929018"/>
                <a:ext cx="2227007" cy="774223"/>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ja-JP" sz="2400" b="1" i="1" smtClean="0">
                          <a:latin typeface="Cambria Math" panose="02040503050406030204" pitchFamily="18" charset="0"/>
                        </a:rPr>
                        <m:t>𝒔</m:t>
                      </m:r>
                      <m:d>
                        <m:dPr>
                          <m:ctrlPr>
                            <a:rPr lang="en-US" altLang="ja-JP" sz="2400" b="1" i="1" smtClean="0">
                              <a:latin typeface="Cambria Math" panose="02040503050406030204" pitchFamily="18" charset="0"/>
                            </a:rPr>
                          </m:ctrlPr>
                        </m:dPr>
                        <m:e>
                          <m:r>
                            <a:rPr lang="en-US" altLang="ja-JP" sz="2400" b="1" i="1" smtClean="0">
                              <a:latin typeface="Cambria Math" panose="02040503050406030204" pitchFamily="18" charset="0"/>
                            </a:rPr>
                            <m:t> </m:t>
                          </m:r>
                          <m:sSub>
                            <m:sSubPr>
                              <m:ctrlPr>
                                <a:rPr lang="en-US" altLang="ja-JP" sz="2400" b="1" i="1" smtClean="0">
                                  <a:latin typeface="Cambria Math" panose="02040503050406030204" pitchFamily="18" charset="0"/>
                                </a:rPr>
                              </m:ctrlPr>
                            </m:sSubPr>
                            <m:e>
                              <m:r>
                                <a:rPr lang="en-US" altLang="ja-JP" sz="2400" b="1" i="1" smtClean="0">
                                  <a:latin typeface="Cambria Math" panose="02040503050406030204" pitchFamily="18" charset="0"/>
                                </a:rPr>
                                <m:t>𝒇</m:t>
                              </m:r>
                            </m:e>
                            <m:sub>
                              <m:r>
                                <a:rPr lang="en-US" altLang="ja-JP" sz="2400" b="1" i="1" smtClean="0">
                                  <a:latin typeface="Cambria Math" panose="02040503050406030204" pitchFamily="18" charset="0"/>
                                </a:rPr>
                                <m:t>𝟐</m:t>
                              </m:r>
                              <m:r>
                                <a:rPr lang="en-US" altLang="ja-JP" sz="2400" b="1" i="1" smtClean="0">
                                  <a:latin typeface="Cambria Math" panose="02040503050406030204" pitchFamily="18" charset="0"/>
                                </a:rPr>
                                <m:t>,</m:t>
                              </m:r>
                              <m:r>
                                <a:rPr lang="en-US" altLang="ja-JP" sz="2400" b="1" i="1" smtClean="0">
                                  <a:latin typeface="Cambria Math" panose="02040503050406030204" pitchFamily="18" charset="0"/>
                                </a:rPr>
                                <m:t>𝟐</m:t>
                              </m:r>
                            </m:sub>
                          </m:sSub>
                          <m:r>
                            <a:rPr lang="en-US" altLang="ja-JP" sz="2400" b="1" i="1" smtClean="0">
                              <a:latin typeface="Cambria Math" panose="02040503050406030204" pitchFamily="18" charset="0"/>
                            </a:rPr>
                            <m:t> </m:t>
                          </m:r>
                        </m:e>
                      </m:d>
                      <m:r>
                        <a:rPr lang="en-US" altLang="ja-JP" sz="2400" b="1" i="1" smtClean="0">
                          <a:latin typeface="Cambria Math" panose="02040503050406030204" pitchFamily="18" charset="0"/>
                        </a:rPr>
                        <m:t>=</m:t>
                      </m:r>
                      <m:r>
                        <a:rPr lang="en-US" altLang="ja-JP" sz="2400" b="1" i="1" smtClean="0">
                          <a:latin typeface="Cambria Math" panose="02040503050406030204" pitchFamily="18" charset="0"/>
                        </a:rPr>
                        <m:t>𝟏</m:t>
                      </m:r>
                      <m:r>
                        <a:rPr lang="en-US" altLang="ja-JP" sz="2400" b="1" i="1" smtClean="0">
                          <a:latin typeface="Cambria Math" panose="02040503050406030204" pitchFamily="18" charset="0"/>
                        </a:rPr>
                        <m:t>.</m:t>
                      </m:r>
                      <m:r>
                        <a:rPr lang="en-US" altLang="ja-JP" sz="2400" b="1" i="1" smtClean="0">
                          <a:latin typeface="Cambria Math" panose="02040503050406030204" pitchFamily="18" charset="0"/>
                        </a:rPr>
                        <m:t>𝟓</m:t>
                      </m:r>
                    </m:oMath>
                  </m:oMathPara>
                </a14:m>
                <a:endParaRPr lang="en-US" altLang="ja-JP" sz="2400" b="1" dirty="0"/>
              </a:p>
            </p:txBody>
          </p:sp>
        </mc:Choice>
        <mc:Fallback xmlns="">
          <p:sp>
            <p:nvSpPr>
              <p:cNvPr id="6" name="コンテンツ プレースホルダー 2">
                <a:extLst>
                  <a:ext uri="{FF2B5EF4-FFF2-40B4-BE49-F238E27FC236}">
                    <a16:creationId xmlns:a16="http://schemas.microsoft.com/office/drawing/2014/main" id="{40E677E3-EACB-D67D-DBD7-C1FE68FCE4C1}"/>
                  </a:ext>
                </a:extLst>
              </p:cNvPr>
              <p:cNvSpPr txBox="1">
                <a:spLocks noRot="1" noChangeAspect="1" noMove="1" noResize="1" noEditPoints="1" noAdjustHandles="1" noChangeArrowheads="1" noChangeShapeType="1" noTextEdit="1"/>
              </p:cNvSpPr>
              <p:nvPr/>
            </p:nvSpPr>
            <p:spPr>
              <a:xfrm>
                <a:off x="2413571" y="5929018"/>
                <a:ext cx="2227007" cy="774223"/>
              </a:xfrm>
              <a:prstGeom prst="rect">
                <a:avLst/>
              </a:prstGeom>
              <a:blipFill>
                <a:blip r:embed="rId6"/>
                <a:stretch>
                  <a:fillRect/>
                </a:stretch>
              </a:blipFill>
              <a:ln>
                <a:noFill/>
              </a:ln>
            </p:spPr>
            <p:txBody>
              <a:bodyPr/>
              <a:lstStyle/>
              <a:p>
                <a:r>
                  <a:rPr lang="ja-JP" altLang="en-US">
                    <a:noFill/>
                  </a:rPr>
                  <a:t> </a:t>
                </a:r>
              </a:p>
            </p:txBody>
          </p:sp>
        </mc:Fallback>
      </mc:AlternateContent>
      <mc:AlternateContent xmlns:mc="http://schemas.openxmlformats.org/markup-compatibility/2006" xmlns:a14="http://schemas.microsoft.com/office/drawing/2010/main">
        <mc:Choice Requires="a14">
          <p:sp>
            <p:nvSpPr>
              <p:cNvPr id="7" name="コンテンツ プレースホルダー 2">
                <a:extLst>
                  <a:ext uri="{FF2B5EF4-FFF2-40B4-BE49-F238E27FC236}">
                    <a16:creationId xmlns:a16="http://schemas.microsoft.com/office/drawing/2014/main" id="{258FF54B-53B1-7A1D-567B-A8FB54EF1789}"/>
                  </a:ext>
                </a:extLst>
              </p:cNvPr>
              <p:cNvSpPr txBox="1">
                <a:spLocks/>
              </p:cNvSpPr>
              <p:nvPr/>
            </p:nvSpPr>
            <p:spPr>
              <a:xfrm>
                <a:off x="7551418" y="5929017"/>
                <a:ext cx="2227007" cy="774223"/>
              </a:xfrm>
              <a:prstGeom prst="rect">
                <a:avLst/>
              </a:prstGeom>
              <a:ln>
                <a:noFill/>
              </a:ln>
            </p:spPr>
            <p:txBody>
              <a:bodyPr vert="horz" lIns="91440" tIns="45720" rIns="91440" bIns="45720" rtlCol="0" anchor="ct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lgn="ctr">
                  <a:buFont typeface="Arial" panose="020B0604020202020204" pitchFamily="34" charset="0"/>
                  <a:buNone/>
                </a:pPr>
                <a14:m>
                  <m:oMathPara xmlns:m="http://schemas.openxmlformats.org/officeDocument/2006/math">
                    <m:oMathParaPr>
                      <m:jc m:val="centerGroup"/>
                    </m:oMathParaPr>
                    <m:oMath xmlns:m="http://schemas.openxmlformats.org/officeDocument/2006/math">
                      <m:r>
                        <a:rPr lang="en-US" altLang="ja-JP" sz="2400" b="1" i="1" smtClean="0">
                          <a:latin typeface="Cambria Math" panose="02040503050406030204" pitchFamily="18" charset="0"/>
                        </a:rPr>
                        <m:t>𝒔</m:t>
                      </m:r>
                      <m:d>
                        <m:dPr>
                          <m:ctrlPr>
                            <a:rPr lang="en-US" altLang="ja-JP" sz="2400" b="1" i="1" smtClean="0">
                              <a:latin typeface="Cambria Math" panose="02040503050406030204" pitchFamily="18" charset="0"/>
                            </a:rPr>
                          </m:ctrlPr>
                        </m:dPr>
                        <m:e>
                          <m:sSub>
                            <m:sSubPr>
                              <m:ctrlPr>
                                <a:rPr lang="en-US" altLang="ja-JP" sz="2400" b="1" i="1" smtClean="0">
                                  <a:latin typeface="Cambria Math" panose="02040503050406030204" pitchFamily="18" charset="0"/>
                                </a:rPr>
                              </m:ctrlPr>
                            </m:sSubPr>
                            <m:e>
                              <m:r>
                                <a:rPr lang="en-US" altLang="ja-JP" sz="2400" b="1" i="1" smtClean="0">
                                  <a:latin typeface="Cambria Math" panose="02040503050406030204" pitchFamily="18" charset="0"/>
                                </a:rPr>
                                <m:t>𝒇</m:t>
                              </m:r>
                            </m:e>
                            <m:sub>
                              <m:r>
                                <a:rPr lang="en-US" altLang="ja-JP" sz="2400" b="1" i="1" smtClean="0">
                                  <a:latin typeface="Cambria Math" panose="02040503050406030204" pitchFamily="18" charset="0"/>
                                </a:rPr>
                                <m:t>𝟏</m:t>
                              </m:r>
                              <m:r>
                                <a:rPr lang="en-US" altLang="ja-JP" sz="2400" b="1" i="1" smtClean="0">
                                  <a:latin typeface="Cambria Math" panose="02040503050406030204" pitchFamily="18" charset="0"/>
                                </a:rPr>
                                <m:t>,</m:t>
                              </m:r>
                              <m:r>
                                <a:rPr lang="en-US" altLang="ja-JP" sz="2400" b="1" i="1" smtClean="0">
                                  <a:latin typeface="Cambria Math" panose="02040503050406030204" pitchFamily="18" charset="0"/>
                                </a:rPr>
                                <m:t>𝟑</m:t>
                              </m:r>
                            </m:sub>
                          </m:sSub>
                        </m:e>
                      </m:d>
                      <m:r>
                        <a:rPr lang="en-US" altLang="ja-JP" sz="2400" b="1" i="1" smtClean="0">
                          <a:latin typeface="Cambria Math" panose="02040503050406030204" pitchFamily="18" charset="0"/>
                        </a:rPr>
                        <m:t>=</m:t>
                      </m:r>
                      <m:r>
                        <a:rPr lang="en-US" altLang="ja-JP" sz="2400" b="1" i="1" smtClean="0">
                          <a:latin typeface="Cambria Math" panose="02040503050406030204" pitchFamily="18" charset="0"/>
                        </a:rPr>
                        <m:t>𝟐</m:t>
                      </m:r>
                    </m:oMath>
                  </m:oMathPara>
                </a14:m>
                <a:endParaRPr lang="en-US" altLang="ja-JP" sz="2400" b="1" dirty="0"/>
              </a:p>
            </p:txBody>
          </p:sp>
        </mc:Choice>
        <mc:Fallback xmlns="">
          <p:sp>
            <p:nvSpPr>
              <p:cNvPr id="7" name="コンテンツ プレースホルダー 2">
                <a:extLst>
                  <a:ext uri="{FF2B5EF4-FFF2-40B4-BE49-F238E27FC236}">
                    <a16:creationId xmlns:a16="http://schemas.microsoft.com/office/drawing/2014/main" id="{258FF54B-53B1-7A1D-567B-A8FB54EF1789}"/>
                  </a:ext>
                </a:extLst>
              </p:cNvPr>
              <p:cNvSpPr txBox="1">
                <a:spLocks noRot="1" noChangeAspect="1" noMove="1" noResize="1" noEditPoints="1" noAdjustHandles="1" noChangeArrowheads="1" noChangeShapeType="1" noTextEdit="1"/>
              </p:cNvSpPr>
              <p:nvPr/>
            </p:nvSpPr>
            <p:spPr>
              <a:xfrm>
                <a:off x="7551418" y="5929017"/>
                <a:ext cx="2227007" cy="774223"/>
              </a:xfrm>
              <a:prstGeom prst="rect">
                <a:avLst/>
              </a:prstGeom>
              <a:blipFill>
                <a:blip r:embed="rId7"/>
                <a:stretch>
                  <a:fillRect/>
                </a:stretch>
              </a:blipFill>
              <a:ln>
                <a:noFill/>
              </a:ln>
            </p:spPr>
            <p:txBody>
              <a:bodyPr/>
              <a:lstStyle/>
              <a:p>
                <a:r>
                  <a:rPr lang="ja-JP" altLang="en-US">
                    <a:noFill/>
                  </a:rPr>
                  <a:t> </a:t>
                </a:r>
              </a:p>
            </p:txBody>
          </p:sp>
        </mc:Fallback>
      </mc:AlternateContent>
    </p:spTree>
    <p:extLst>
      <p:ext uri="{BB962C8B-B14F-4D97-AF65-F5344CB8AC3E}">
        <p14:creationId xmlns:p14="http://schemas.microsoft.com/office/powerpoint/2010/main" val="8401164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B04D130-6EA9-109A-405E-9F861E56D402}"/>
              </a:ext>
            </a:extLst>
          </p:cNvPr>
          <p:cNvSpPr>
            <a:spLocks noGrp="1"/>
          </p:cNvSpPr>
          <p:nvPr>
            <p:ph idx="1"/>
          </p:nvPr>
        </p:nvSpPr>
        <p:spPr/>
        <p:txBody>
          <a:bodyPr>
            <a:normAutofit/>
          </a:bodyPr>
          <a:lstStyle/>
          <a:p>
            <a:pPr marL="457200" indent="-457200">
              <a:buFont typeface="Arial" panose="020B0604020202020204" pitchFamily="34" charset="0"/>
              <a:buChar char="•"/>
            </a:pPr>
            <a:r>
              <a:rPr lang="ja-JP" altLang="en-US" dirty="0"/>
              <a:t>機械学習モデルに、</a:t>
            </a:r>
            <a:r>
              <a:rPr lang="en-US" altLang="ja-JP" dirty="0"/>
              <a:t>CNN </a:t>
            </a:r>
            <a:r>
              <a:rPr lang="ja-JP" altLang="en-US" dirty="0"/>
              <a:t>を使用した理由は？</a:t>
            </a:r>
            <a:endParaRPr lang="en-US" altLang="ja-JP" dirty="0"/>
          </a:p>
          <a:p>
            <a:pPr marL="457200" indent="-457200">
              <a:buFont typeface="Arial" panose="020B0604020202020204" pitchFamily="34" charset="0"/>
              <a:buChar char="•"/>
            </a:pPr>
            <a:endParaRPr lang="en-US" altLang="ja-JP" dirty="0"/>
          </a:p>
          <a:p>
            <a:pPr marL="457200" indent="-457200">
              <a:buFont typeface="Arial" panose="020B0604020202020204" pitchFamily="34" charset="0"/>
              <a:buChar char="•"/>
            </a:pPr>
            <a:r>
              <a:rPr lang="ja-JP" altLang="en-US" dirty="0"/>
              <a:t>人間計算可能の定義とは？</a:t>
            </a:r>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中間報告会の</a:t>
            </a:r>
            <a:r>
              <a:rPr kumimoji="1" lang="ja-JP" altLang="en-US" b="1" dirty="0">
                <a:latin typeface="Meiryo UI" panose="020B0604030504040204" pitchFamily="34" charset="-128"/>
                <a:ea typeface="Meiryo UI" panose="020B0604030504040204" pitchFamily="34" charset="-128"/>
              </a:rPr>
              <a:t>質疑</a:t>
            </a:r>
          </a:p>
        </p:txBody>
      </p:sp>
    </p:spTree>
    <p:extLst>
      <p:ext uri="{BB962C8B-B14F-4D97-AF65-F5344CB8AC3E}">
        <p14:creationId xmlns:p14="http://schemas.microsoft.com/office/powerpoint/2010/main" val="38232152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8B04D130-6EA9-109A-405E-9F861E56D402}"/>
                  </a:ext>
                </a:extLst>
              </p:cNvPr>
              <p:cNvSpPr>
                <a:spLocks noGrp="1"/>
              </p:cNvSpPr>
              <p:nvPr>
                <p:ph idx="1"/>
              </p:nvPr>
            </p:nvSpPr>
            <p:spPr>
              <a:xfrm>
                <a:off x="838200" y="1455377"/>
                <a:ext cx="10515600" cy="4996876"/>
              </a:xfrm>
            </p:spPr>
            <p:txBody>
              <a:bodyPr>
                <a:normAutofit/>
              </a:bodyPr>
              <a:lstStyle/>
              <a:p>
                <a:pPr marL="457200" indent="-457200">
                  <a:buFont typeface="Arial" panose="020B0604020202020204" pitchFamily="34" charset="0"/>
                  <a:buChar char="•"/>
                </a:pPr>
                <a:r>
                  <a:rPr lang="ja-JP" altLang="en-US" dirty="0"/>
                  <a:t>関数 </a:t>
                </a:r>
                <a14:m>
                  <m:oMath xmlns:m="http://schemas.openxmlformats.org/officeDocument/2006/math">
                    <m:r>
                      <a:rPr lang="en-US" altLang="ja-JP" b="0" i="1" smtClean="0">
                        <a:latin typeface="Cambria Math" panose="02040503050406030204" pitchFamily="18" charset="0"/>
                      </a:rPr>
                      <m:t>𝜎</m:t>
                    </m:r>
                  </m:oMath>
                </a14:m>
                <a:r>
                  <a:rPr lang="ja-JP" altLang="en-US" dirty="0"/>
                  <a:t> も使用して、認証を二段階にする必要性はある？</a:t>
                </a:r>
                <a:endParaRPr lang="en-US" altLang="ja-JP" dirty="0"/>
              </a:p>
              <a:p>
                <a:endParaRPr lang="en-US" altLang="ja-JP" sz="800" dirty="0"/>
              </a:p>
              <a:p>
                <a:pPr marL="457200" indent="-457200">
                  <a:buFont typeface="Arial" panose="020B0604020202020204" pitchFamily="34" charset="0"/>
                  <a:buChar char="•"/>
                </a:pPr>
                <a:r>
                  <a:rPr lang="ja-JP" altLang="en-US" dirty="0"/>
                  <a:t>実験結果の表における「画像枚数」とは？</a:t>
                </a:r>
                <a:endParaRPr lang="en-US" altLang="ja-JP" dirty="0"/>
              </a:p>
              <a:p>
                <a:endParaRPr lang="en-US" altLang="ja-JP" sz="800" dirty="0"/>
              </a:p>
              <a:p>
                <a:pPr marL="457200" indent="-457200">
                  <a:buFont typeface="Arial" panose="020B0604020202020204" pitchFamily="34" charset="0"/>
                  <a:buChar char="•"/>
                </a:pPr>
                <a:r>
                  <a:rPr lang="ja-JP" altLang="en-US" dirty="0"/>
                  <a:t>関数 </a:t>
                </a:r>
                <a14:m>
                  <m:oMath xmlns:m="http://schemas.openxmlformats.org/officeDocument/2006/math">
                    <m:r>
                      <a:rPr lang="en-US" altLang="ja-JP" b="0" i="1" smtClean="0">
                        <a:latin typeface="Cambria Math" panose="02040503050406030204" pitchFamily="18" charset="0"/>
                      </a:rPr>
                      <m:t>𝜎</m:t>
                    </m:r>
                  </m:oMath>
                </a14:m>
                <a:r>
                  <a:rPr lang="ja-JP" altLang="en-US" dirty="0"/>
                  <a:t> および関数 </a:t>
                </a:r>
                <a14:m>
                  <m:oMath xmlns:m="http://schemas.openxmlformats.org/officeDocument/2006/math">
                    <m:r>
                      <a:rPr lang="en-US" altLang="ja-JP" b="0" i="1" smtClean="0">
                        <a:latin typeface="Cambria Math" panose="02040503050406030204" pitchFamily="18" charset="0"/>
                      </a:rPr>
                      <m:t>𝑓</m:t>
                    </m:r>
                  </m:oMath>
                </a14:m>
                <a:r>
                  <a:rPr lang="ja-JP" altLang="en-US" dirty="0"/>
                  <a:t> を記憶するコストは、従来のパスワードの方が</a:t>
                </a:r>
                <a:endParaRPr lang="en-US" altLang="ja-JP" dirty="0"/>
              </a:p>
              <a:p>
                <a:r>
                  <a:rPr lang="ja-JP" altLang="en-US" dirty="0"/>
                  <a:t>　　小さいのでは？</a:t>
                </a:r>
                <a:endParaRPr lang="en-US" altLang="ja-JP" dirty="0"/>
              </a:p>
              <a:p>
                <a:endParaRPr lang="en-US" altLang="ja-JP" sz="800" dirty="0"/>
              </a:p>
              <a:p>
                <a:pPr marL="457200" indent="-457200">
                  <a:buFont typeface="Arial" panose="020B0604020202020204" pitchFamily="34" charset="0"/>
                  <a:buChar char="•"/>
                </a:pPr>
                <a:r>
                  <a:rPr lang="ja-JP" altLang="en-US" dirty="0"/>
                  <a:t>パラメータ設定を </a:t>
                </a:r>
                <a14:m>
                  <m:oMath xmlns:m="http://schemas.openxmlformats.org/officeDocument/2006/math">
                    <m:d>
                      <m:dPr>
                        <m:ctrlPr>
                          <a:rPr lang="en-US" altLang="ja-JP" b="0" i="1" smtClean="0">
                            <a:latin typeface="Cambria Math" panose="02040503050406030204" pitchFamily="18" charset="0"/>
                          </a:rPr>
                        </m:ctrlPr>
                      </m:dPr>
                      <m:e>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𝑘</m:t>
                            </m:r>
                          </m:e>
                          <m:sub>
                            <m:r>
                              <a:rPr lang="en-US" altLang="ja-JP" b="0" i="1" smtClean="0">
                                <a:latin typeface="Cambria Math" panose="02040503050406030204" pitchFamily="18" charset="0"/>
                              </a:rPr>
                              <m:t>1</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𝑘</m:t>
                            </m:r>
                          </m:e>
                          <m:sub>
                            <m:r>
                              <a:rPr lang="en-US" altLang="ja-JP" b="0" i="1" smtClean="0">
                                <a:latin typeface="Cambria Math" panose="02040503050406030204" pitchFamily="18" charset="0"/>
                              </a:rPr>
                              <m:t>2</m:t>
                            </m:r>
                          </m:sub>
                        </m:sSub>
                      </m:e>
                    </m:d>
                    <m:r>
                      <a:rPr lang="en-US" altLang="ja-JP" b="0" i="1" smtClean="0">
                        <a:latin typeface="Cambria Math" panose="02040503050406030204" pitchFamily="18" charset="0"/>
                      </a:rPr>
                      <m:t>=</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2,2</m:t>
                        </m:r>
                      </m:e>
                    </m:d>
                    <m:r>
                      <a:rPr lang="ja-JP" altLang="en-US" i="1" smtClean="0">
                        <a:latin typeface="Cambria Math" panose="02040503050406030204" pitchFamily="18" charset="0"/>
                      </a:rPr>
                      <m:t> </m:t>
                    </m:r>
                    <m:r>
                      <a:rPr lang="en-US" altLang="ja-JP" b="0" i="1" smtClean="0">
                        <a:latin typeface="Cambria Math" panose="02040503050406030204" pitchFamily="18" charset="0"/>
                      </a:rPr>
                      <m:t>/ (1,3)</m:t>
                    </m:r>
                  </m:oMath>
                </a14:m>
                <a:r>
                  <a:rPr lang="ja-JP" altLang="en-US" dirty="0"/>
                  <a:t> にした理由は？</a:t>
                </a:r>
                <a:endParaRPr lang="en-US" altLang="ja-JP" dirty="0"/>
              </a:p>
              <a:p>
                <a:endParaRPr lang="en-US" altLang="ja-JP" sz="800" dirty="0"/>
              </a:p>
              <a:p>
                <a:pPr marL="457200" indent="-457200">
                  <a:buFont typeface="Arial" panose="020B0604020202020204" pitchFamily="34" charset="0"/>
                  <a:buChar char="•"/>
                </a:pPr>
                <a:r>
                  <a:rPr lang="ja-JP" altLang="en-US" dirty="0"/>
                  <a:t>関数 </a:t>
                </a:r>
                <a14:m>
                  <m:oMath xmlns:m="http://schemas.openxmlformats.org/officeDocument/2006/math">
                    <m:r>
                      <a:rPr lang="en-US" altLang="ja-JP" b="0" i="1" smtClean="0">
                        <a:latin typeface="Cambria Math" panose="02040503050406030204" pitchFamily="18" charset="0"/>
                      </a:rPr>
                      <m:t>𝑓</m:t>
                    </m:r>
                  </m:oMath>
                </a14:m>
                <a:r>
                  <a:rPr lang="ja-JP" altLang="en-US" dirty="0"/>
                  <a:t> は誰が設定するの？</a:t>
                </a:r>
                <a:endParaRPr lang="en-US" altLang="ja-JP" dirty="0"/>
              </a:p>
              <a:p>
                <a:endParaRPr lang="en-US" altLang="ja-JP" sz="800" dirty="0"/>
              </a:p>
              <a:p>
                <a:pPr marL="457200" indent="-457200">
                  <a:buFont typeface="Arial" panose="020B0604020202020204" pitchFamily="34" charset="0"/>
                  <a:buChar char="•"/>
                </a:pPr>
                <a:r>
                  <a:rPr lang="ja-JP" altLang="en-US" dirty="0"/>
                  <a:t>関数 </a:t>
                </a:r>
                <a14:m>
                  <m:oMath xmlns:m="http://schemas.openxmlformats.org/officeDocument/2006/math">
                    <m:r>
                      <a:rPr lang="en-US" altLang="ja-JP" b="0" i="1" smtClean="0">
                        <a:latin typeface="Cambria Math" panose="02040503050406030204" pitchFamily="18" charset="0"/>
                      </a:rPr>
                      <m:t>𝑓</m:t>
                    </m:r>
                  </m:oMath>
                </a14:m>
                <a:r>
                  <a:rPr lang="ja-JP" altLang="en-US" dirty="0"/>
                  <a:t> はユーザごとに設定するの？</a:t>
                </a:r>
              </a:p>
            </p:txBody>
          </p:sp>
        </mc:Choice>
        <mc:Fallback xmlns="">
          <p:sp>
            <p:nvSpPr>
              <p:cNvPr id="3" name="コンテンツ プレースホルダー 2">
                <a:extLst>
                  <a:ext uri="{FF2B5EF4-FFF2-40B4-BE49-F238E27FC236}">
                    <a16:creationId xmlns:a16="http://schemas.microsoft.com/office/drawing/2014/main" id="{8B04D130-6EA9-109A-405E-9F861E56D402}"/>
                  </a:ext>
                </a:extLst>
              </p:cNvPr>
              <p:cNvSpPr>
                <a:spLocks noGrp="1" noRot="1" noChangeAspect="1" noMove="1" noResize="1" noEditPoints="1" noAdjustHandles="1" noChangeArrowheads="1" noChangeShapeType="1" noTextEdit="1"/>
              </p:cNvSpPr>
              <p:nvPr>
                <p:ph idx="1"/>
              </p:nvPr>
            </p:nvSpPr>
            <p:spPr>
              <a:xfrm>
                <a:off x="838200" y="1455377"/>
                <a:ext cx="10515600" cy="4996876"/>
              </a:xfrm>
              <a:blipFill>
                <a:blip r:embed="rId3"/>
                <a:stretch>
                  <a:fillRect l="-1043" b="-611"/>
                </a:stretch>
              </a:blipFill>
            </p:spPr>
            <p:txBody>
              <a:bodyPr/>
              <a:lstStyle/>
              <a:p>
                <a:r>
                  <a:rPr lang="ja-JP" altLang="en-US">
                    <a:noFill/>
                  </a:rPr>
                  <a:t> </a:t>
                </a:r>
              </a:p>
            </p:txBody>
          </p:sp>
        </mc:Fallback>
      </mc:AlternateContent>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発表練習会の質疑</a:t>
            </a:r>
          </a:p>
        </p:txBody>
      </p:sp>
    </p:spTree>
    <p:extLst>
      <p:ext uri="{BB962C8B-B14F-4D97-AF65-F5344CB8AC3E}">
        <p14:creationId xmlns:p14="http://schemas.microsoft.com/office/powerpoint/2010/main" val="16358329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B04D130-6EA9-109A-405E-9F861E56D402}"/>
              </a:ext>
            </a:extLst>
          </p:cNvPr>
          <p:cNvSpPr>
            <a:spLocks noGrp="1"/>
          </p:cNvSpPr>
          <p:nvPr>
            <p:ph idx="1"/>
          </p:nvPr>
        </p:nvSpPr>
        <p:spPr>
          <a:xfrm>
            <a:off x="838200" y="1445217"/>
            <a:ext cx="10515600" cy="4996876"/>
          </a:xfrm>
        </p:spPr>
        <p:txBody>
          <a:bodyPr>
            <a:normAutofit/>
          </a:bodyPr>
          <a:lstStyle/>
          <a:p>
            <a:pPr marL="457200" indent="-457200">
              <a:buFont typeface="Arial" panose="020B0604020202020204" pitchFamily="34" charset="0"/>
              <a:buChar char="•"/>
            </a:pPr>
            <a:r>
              <a:rPr lang="ja-JP" altLang="en-US" dirty="0"/>
              <a:t>人間計算可能なパスワードの具体的な認証手順は？</a:t>
            </a:r>
            <a:endParaRPr lang="en-US" altLang="ja-JP" dirty="0"/>
          </a:p>
          <a:p>
            <a:endParaRPr lang="en-US" altLang="ja-JP" sz="800" dirty="0"/>
          </a:p>
          <a:p>
            <a:pPr marL="457200" indent="-457200">
              <a:buFont typeface="Arial" panose="020B0604020202020204" pitchFamily="34" charset="0"/>
              <a:buChar char="•"/>
            </a:pPr>
            <a:r>
              <a:rPr lang="ja-JP" altLang="en-US" dirty="0"/>
              <a:t>実験に使用したデータセットは？</a:t>
            </a:r>
            <a:endParaRPr lang="en-US" altLang="ja-JP" dirty="0"/>
          </a:p>
          <a:p>
            <a:endParaRPr lang="en-US" altLang="ja-JP" sz="800" dirty="0"/>
          </a:p>
          <a:p>
            <a:pPr marL="457200" indent="-457200">
              <a:buFont typeface="Arial" panose="020B0604020202020204" pitchFamily="34" charset="0"/>
              <a:buChar char="•"/>
            </a:pPr>
            <a:r>
              <a:rPr lang="ja-JP" altLang="en-US" dirty="0"/>
              <a:t>実験に使用したニューラルネットワークの具体的な構成は？</a:t>
            </a:r>
            <a:endParaRPr lang="en-US" altLang="ja-JP" dirty="0"/>
          </a:p>
          <a:p>
            <a:endParaRPr lang="en-US" altLang="ja-JP" sz="800" dirty="0"/>
          </a:p>
          <a:p>
            <a:pPr marL="457200" indent="-457200">
              <a:buFont typeface="Arial" panose="020B0604020202020204" pitchFamily="34" charset="0"/>
              <a:buChar char="•"/>
            </a:pPr>
            <a:r>
              <a:rPr lang="en-US" altLang="ja-JP" dirty="0"/>
              <a:t>Bi-LSTM </a:t>
            </a:r>
            <a:r>
              <a:rPr lang="ja-JP" altLang="en-US" dirty="0"/>
              <a:t>とは？</a:t>
            </a:r>
            <a:endParaRPr lang="en-US" altLang="ja-JP" dirty="0"/>
          </a:p>
          <a:p>
            <a:endParaRPr lang="en-US" altLang="ja-JP" sz="800" dirty="0"/>
          </a:p>
          <a:p>
            <a:pPr marL="457200" indent="-457200">
              <a:buFont typeface="Arial" panose="020B0604020202020204" pitchFamily="34" charset="0"/>
              <a:buChar char="•"/>
            </a:pPr>
            <a:r>
              <a:rPr lang="en-US" altLang="ja-JP" dirty="0"/>
              <a:t>Bi-LSTM</a:t>
            </a:r>
            <a:r>
              <a:rPr lang="ja-JP" altLang="en-US" dirty="0"/>
              <a:t> の特長は？</a:t>
            </a:r>
            <a:endParaRPr lang="en-US" altLang="ja-JP" dirty="0"/>
          </a:p>
          <a:p>
            <a:endParaRPr lang="en-US" altLang="ja-JP" sz="800" dirty="0"/>
          </a:p>
          <a:p>
            <a:pPr marL="457200" indent="-457200">
              <a:buFont typeface="Arial" panose="020B0604020202020204" pitchFamily="34" charset="0"/>
              <a:buChar char="•"/>
            </a:pPr>
            <a:r>
              <a:rPr lang="en-US" altLang="ja-JP" dirty="0"/>
              <a:t>Bi-LSTM</a:t>
            </a:r>
            <a:r>
              <a:rPr lang="ja-JP" altLang="en-US" dirty="0"/>
              <a:t> による予測精度が、</a:t>
            </a:r>
            <a:r>
              <a:rPr lang="en-US" altLang="ja-JP" dirty="0"/>
              <a:t>CNN</a:t>
            </a:r>
            <a:r>
              <a:rPr lang="ja-JP" altLang="en-US" dirty="0"/>
              <a:t> による予測精度よりも</a:t>
            </a:r>
            <a:endParaRPr lang="en-US" altLang="ja-JP" dirty="0"/>
          </a:p>
          <a:p>
            <a:r>
              <a:rPr lang="ja-JP" altLang="en-US" dirty="0"/>
              <a:t>　　低かった原因として考えられるのは？</a:t>
            </a:r>
            <a:endParaRPr lang="en-US" altLang="ja-JP" dirty="0"/>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想定される</a:t>
            </a:r>
            <a:r>
              <a:rPr kumimoji="1" lang="ja-JP" altLang="en-US" b="1" dirty="0">
                <a:latin typeface="Meiryo UI" panose="020B0604030504040204" pitchFamily="34" charset="-128"/>
                <a:ea typeface="Meiryo UI" panose="020B0604030504040204" pitchFamily="34" charset="-128"/>
              </a:rPr>
              <a:t>質疑</a:t>
            </a:r>
          </a:p>
        </p:txBody>
      </p:sp>
    </p:spTree>
    <p:extLst>
      <p:ext uri="{BB962C8B-B14F-4D97-AF65-F5344CB8AC3E}">
        <p14:creationId xmlns:p14="http://schemas.microsoft.com/office/powerpoint/2010/main" val="30185267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B04D130-6EA9-109A-405E-9F861E56D402}"/>
              </a:ext>
            </a:extLst>
          </p:cNvPr>
          <p:cNvSpPr>
            <a:spLocks noGrp="1"/>
          </p:cNvSpPr>
          <p:nvPr>
            <p:ph idx="1"/>
          </p:nvPr>
        </p:nvSpPr>
        <p:spPr>
          <a:xfrm>
            <a:off x="838200" y="1445217"/>
            <a:ext cx="10515600" cy="4996876"/>
          </a:xfrm>
        </p:spPr>
        <p:txBody>
          <a:bodyPr>
            <a:normAutofit/>
          </a:bodyPr>
          <a:lstStyle/>
          <a:p>
            <a:pPr marL="457200" indent="-457200">
              <a:buFont typeface="Arial" panose="020B0604020202020204" pitchFamily="34" charset="0"/>
              <a:buChar char="•"/>
            </a:pPr>
            <a:r>
              <a:rPr lang="ja-JP" altLang="en-US" dirty="0"/>
              <a:t>人間計算可能関数の一般形とは？</a:t>
            </a:r>
            <a:endParaRPr lang="en-US" altLang="ja-JP" dirty="0"/>
          </a:p>
          <a:p>
            <a:endParaRPr lang="en-US" altLang="ja-JP" sz="800" dirty="0"/>
          </a:p>
          <a:p>
            <a:pPr marL="457200" indent="-457200">
              <a:buFont typeface="Arial" panose="020B0604020202020204" pitchFamily="34" charset="0"/>
              <a:buChar char="•"/>
            </a:pPr>
            <a:r>
              <a:rPr lang="ja-JP" altLang="en-US" dirty="0"/>
              <a:t>なぜ、予測精度のグラフがギザギザした形状になっている？</a:t>
            </a:r>
            <a:endParaRPr lang="en-US" altLang="ja-JP" dirty="0"/>
          </a:p>
          <a:p>
            <a:endParaRPr lang="en-US" altLang="ja-JP" sz="800" dirty="0"/>
          </a:p>
          <a:p>
            <a:pPr marL="457200" indent="-457200">
              <a:buFont typeface="Arial" panose="020B0604020202020204" pitchFamily="34" charset="0"/>
              <a:buChar char="•"/>
            </a:pPr>
            <a:r>
              <a:rPr lang="ja-JP" altLang="en-US" dirty="0"/>
              <a:t>他の既存研究における予測精度は？</a:t>
            </a:r>
            <a:endParaRPr lang="en-US" altLang="ja-JP" dirty="0"/>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lang="ja-JP" altLang="en-US" b="1" dirty="0"/>
              <a:t>想定される</a:t>
            </a:r>
            <a:r>
              <a:rPr kumimoji="1" lang="ja-JP" altLang="en-US" b="1" dirty="0">
                <a:latin typeface="Meiryo UI" panose="020B0604030504040204" pitchFamily="34" charset="-128"/>
                <a:ea typeface="Meiryo UI" panose="020B0604030504040204" pitchFamily="34" charset="-128"/>
              </a:rPr>
              <a:t>質疑</a:t>
            </a:r>
          </a:p>
        </p:txBody>
      </p:sp>
    </p:spTree>
    <p:extLst>
      <p:ext uri="{BB962C8B-B14F-4D97-AF65-F5344CB8AC3E}">
        <p14:creationId xmlns:p14="http://schemas.microsoft.com/office/powerpoint/2010/main" val="42843959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8B04D130-6EA9-109A-405E-9F861E56D402}"/>
              </a:ext>
            </a:extLst>
          </p:cNvPr>
          <p:cNvSpPr>
            <a:spLocks noGrp="1"/>
          </p:cNvSpPr>
          <p:nvPr>
            <p:ph idx="1"/>
          </p:nvPr>
        </p:nvSpPr>
        <p:spPr>
          <a:xfrm>
            <a:off x="838200" y="1445217"/>
            <a:ext cx="10515600" cy="4996876"/>
          </a:xfrm>
        </p:spPr>
        <p:txBody>
          <a:bodyPr>
            <a:normAutofit/>
          </a:bodyPr>
          <a:lstStyle/>
          <a:p>
            <a:pPr marL="457200" indent="-457200">
              <a:buFont typeface="Arial" panose="020B0604020202020204" pitchFamily="34" charset="0"/>
              <a:buChar char="•"/>
            </a:pPr>
            <a:r>
              <a:rPr lang="ja-JP" altLang="en-US" dirty="0"/>
              <a:t>ユーザが記憶するものは、</a:t>
            </a:r>
            <a:endParaRPr lang="en-US" altLang="ja-JP" dirty="0"/>
          </a:p>
        </p:txBody>
      </p:sp>
      <p:cxnSp>
        <p:nvCxnSpPr>
          <p:cNvPr id="4" name="直線コネクタ 3">
            <a:extLst>
              <a:ext uri="{FF2B5EF4-FFF2-40B4-BE49-F238E27FC236}">
                <a16:creationId xmlns:a16="http://schemas.microsoft.com/office/drawing/2014/main" id="{0D15D62D-BF9A-A2CC-64AA-9C57175A6D5D}"/>
              </a:ext>
            </a:extLst>
          </p:cNvPr>
          <p:cNvCxnSpPr>
            <a:cxnSpLocks/>
          </p:cNvCxnSpPr>
          <p:nvPr/>
        </p:nvCxnSpPr>
        <p:spPr>
          <a:xfrm>
            <a:off x="558800" y="1232911"/>
            <a:ext cx="11074401" cy="0"/>
          </a:xfrm>
          <a:prstGeom prst="line">
            <a:avLst/>
          </a:prstGeom>
          <a:ln w="57150"/>
        </p:spPr>
        <p:style>
          <a:lnRef idx="2">
            <a:schemeClr val="accent1"/>
          </a:lnRef>
          <a:fillRef idx="0">
            <a:schemeClr val="accent1"/>
          </a:fillRef>
          <a:effectRef idx="1">
            <a:schemeClr val="accent1"/>
          </a:effectRef>
          <a:fontRef idx="minor">
            <a:schemeClr val="tx1"/>
          </a:fontRef>
        </p:style>
      </p:cxnSp>
      <p:sp>
        <p:nvSpPr>
          <p:cNvPr id="10" name="タイトル 1">
            <a:extLst>
              <a:ext uri="{FF2B5EF4-FFF2-40B4-BE49-F238E27FC236}">
                <a16:creationId xmlns:a16="http://schemas.microsoft.com/office/drawing/2014/main" id="{95421803-53D1-CD0D-9F36-1767F6C7731C}"/>
              </a:ext>
            </a:extLst>
          </p:cNvPr>
          <p:cNvSpPr>
            <a:spLocks noGrp="1"/>
          </p:cNvSpPr>
          <p:nvPr>
            <p:ph type="title"/>
          </p:nvPr>
        </p:nvSpPr>
        <p:spPr>
          <a:xfrm>
            <a:off x="558799" y="129814"/>
            <a:ext cx="11328401" cy="1325563"/>
          </a:xfrm>
        </p:spPr>
        <p:txBody>
          <a:bodyPr/>
          <a:lstStyle/>
          <a:p>
            <a:r>
              <a:rPr kumimoji="1" lang="ja-JP" altLang="en-US" b="1" dirty="0">
                <a:latin typeface="Meiryo UI" panose="020B0604030504040204" pitchFamily="34" charset="-128"/>
                <a:ea typeface="Meiryo UI" panose="020B0604030504040204" pitchFamily="34" charset="-128"/>
              </a:rPr>
              <a:t>過去の質疑</a:t>
            </a:r>
          </a:p>
        </p:txBody>
      </p:sp>
    </p:spTree>
    <p:extLst>
      <p:ext uri="{BB962C8B-B14F-4D97-AF65-F5344CB8AC3E}">
        <p14:creationId xmlns:p14="http://schemas.microsoft.com/office/powerpoint/2010/main" val="1413869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6" name="Google Shape;326;p40"/>
          <p:cNvSpPr txBox="1">
            <a:spLocks noGrp="1"/>
          </p:cNvSpPr>
          <p:nvPr>
            <p:ph type="body" idx="1"/>
          </p:nvPr>
        </p:nvSpPr>
        <p:spPr>
          <a:xfrm>
            <a:off x="970200" y="1615440"/>
            <a:ext cx="10251600" cy="4257039"/>
          </a:xfrm>
          <a:prstGeom prst="rect">
            <a:avLst/>
          </a:prstGeom>
        </p:spPr>
        <p:txBody>
          <a:bodyPr spcFirstLastPara="1" vert="horz" wrap="square" lIns="121900" tIns="121900" rIns="121900" bIns="121900" rtlCol="0" anchor="t" anchorCtr="0">
            <a:normAutofit/>
          </a:bodyPr>
          <a:lstStyle/>
          <a:p>
            <a:pPr indent="-448722">
              <a:buSzPts val="1700"/>
            </a:pPr>
            <a:r>
              <a:rPr lang="en-US" altLang="ja" sz="2267" b="1" dirty="0"/>
              <a:t>Step1</a:t>
            </a:r>
            <a:r>
              <a:rPr lang="ja-JP" altLang="en-US" sz="2267" b="1" dirty="0"/>
              <a:t>：</a:t>
            </a:r>
            <a:r>
              <a:rPr lang="ja" altLang="en-US" sz="2267" b="1" dirty="0"/>
              <a:t>事前準備</a:t>
            </a:r>
            <a:endParaRPr lang="en-US" altLang="ja" sz="2267" b="1" dirty="0"/>
          </a:p>
          <a:p>
            <a:pPr indent="-448722">
              <a:buSzPts val="1700"/>
            </a:pPr>
            <a:endParaRPr sz="800" b="1" dirty="0"/>
          </a:p>
          <a:p>
            <a:pPr lvl="1" indent="-448722">
              <a:buSzPts val="1700"/>
            </a:pPr>
            <a:r>
              <a:rPr lang="ja" altLang="en-US" sz="2267" dirty="0"/>
              <a:t>画像</a:t>
            </a:r>
            <a:r>
              <a:rPr lang="en-US" altLang="ja" sz="2267" dirty="0"/>
              <a:t>n</a:t>
            </a:r>
            <a:r>
              <a:rPr lang="ja" altLang="en-US" sz="2267" dirty="0"/>
              <a:t>枚と数値のセットを一定枚数記憶する</a:t>
            </a:r>
            <a:r>
              <a:rPr lang="en-US" altLang="ja" sz="2267" dirty="0"/>
              <a:t>(</a:t>
            </a:r>
            <a:r>
              <a:rPr lang="ja" altLang="en-US" sz="2267" dirty="0"/>
              <a:t>関数</a:t>
            </a:r>
            <a:r>
              <a:rPr lang="en-US" altLang="ja" sz="2267" dirty="0"/>
              <a:t>σ)</a:t>
            </a:r>
            <a:endParaRPr sz="2267" dirty="0"/>
          </a:p>
          <a:p>
            <a:pPr marL="1219170" indent="0">
              <a:spcBef>
                <a:spcPts val="1600"/>
              </a:spcBef>
              <a:buNone/>
            </a:pPr>
            <a:r>
              <a:rPr lang="ja" altLang="en-US" sz="2267" dirty="0"/>
              <a:t>⇔ 画像</a:t>
            </a:r>
            <a:r>
              <a:rPr lang="en-US" altLang="ja" sz="2267" dirty="0"/>
              <a:t>(</a:t>
            </a:r>
            <a:r>
              <a:rPr lang="ja" altLang="en-US" sz="2267" dirty="0"/>
              <a:t>画像番号</a:t>
            </a:r>
            <a:r>
              <a:rPr lang="en-US" altLang="ja" sz="2267" dirty="0"/>
              <a:t>) -&gt; </a:t>
            </a:r>
            <a:r>
              <a:rPr lang="ja" altLang="en-US" sz="2267" dirty="0"/>
              <a:t>数値の組み合わせを記憶する</a:t>
            </a:r>
            <a:endParaRPr lang="en-US" altLang="ja" sz="2267" dirty="0"/>
          </a:p>
          <a:p>
            <a:pPr marL="1219170" indent="0">
              <a:spcBef>
                <a:spcPts val="1600"/>
              </a:spcBef>
              <a:buNone/>
            </a:pPr>
            <a:endParaRPr sz="2267" dirty="0"/>
          </a:p>
          <a:p>
            <a:pPr indent="-448722">
              <a:spcBef>
                <a:spcPts val="1600"/>
              </a:spcBef>
              <a:buSzPts val="1700"/>
            </a:pPr>
            <a:r>
              <a:rPr lang="en-US" altLang="ja" sz="2267" b="1" dirty="0"/>
              <a:t>Step2</a:t>
            </a:r>
            <a:r>
              <a:rPr lang="ja-JP" altLang="en-US" sz="2267" b="1" dirty="0"/>
              <a:t>：</a:t>
            </a:r>
            <a:r>
              <a:rPr lang="ja" altLang="en-US" sz="2267" b="1" dirty="0"/>
              <a:t>認証</a:t>
            </a:r>
            <a:endParaRPr lang="en-US" altLang="ja" sz="2267" b="1" dirty="0"/>
          </a:p>
          <a:p>
            <a:pPr indent="-448722">
              <a:spcBef>
                <a:spcPts val="1600"/>
              </a:spcBef>
              <a:buSzPts val="1700"/>
            </a:pPr>
            <a:endParaRPr sz="900" b="1" dirty="0"/>
          </a:p>
          <a:p>
            <a:pPr lvl="1" indent="-448722">
              <a:buSzPts val="1700"/>
            </a:pPr>
            <a:r>
              <a:rPr lang="ja" altLang="en-US" sz="2267" dirty="0"/>
              <a:t>問題として画像が掲示される</a:t>
            </a:r>
            <a:endParaRPr sz="2267" dirty="0"/>
          </a:p>
          <a:p>
            <a:pPr lvl="1" indent="-448722">
              <a:buSzPts val="1700"/>
            </a:pPr>
            <a:r>
              <a:rPr lang="ja" altLang="en-US" sz="2267" dirty="0"/>
              <a:t>掲示された画像の数値に従い、関数</a:t>
            </a:r>
            <a:r>
              <a:rPr lang="en-US" altLang="ja" sz="2267" dirty="0"/>
              <a:t>f</a:t>
            </a:r>
            <a:r>
              <a:rPr lang="ja" altLang="en-US" sz="2267" dirty="0"/>
              <a:t>を計算する</a:t>
            </a:r>
            <a:endParaRPr lang="en-US" altLang="ja" sz="2267" dirty="0"/>
          </a:p>
          <a:p>
            <a:pPr lvl="1" indent="-448722">
              <a:buSzPts val="1700"/>
            </a:pPr>
            <a:endParaRPr sz="2267" dirty="0"/>
          </a:p>
          <a:p>
            <a:pPr indent="-448722">
              <a:buSzPts val="1700"/>
            </a:pPr>
            <a:r>
              <a:rPr lang="ja" altLang="en-US" sz="2267" dirty="0"/>
              <a:t>一回分の認証データが漏洩しても、次の認証に使う問題は違うので安全</a:t>
            </a:r>
            <a:endParaRPr sz="2267" dirty="0"/>
          </a:p>
        </p:txBody>
      </p:sp>
      <p:sp>
        <p:nvSpPr>
          <p:cNvPr id="327" name="Google Shape;327;p40"/>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23</a:t>
            </a:fld>
            <a:endParaRPr/>
          </a:p>
        </p:txBody>
      </p:sp>
      <p:sp>
        <p:nvSpPr>
          <p:cNvPr id="329" name="Google Shape;329;p40"/>
          <p:cNvSpPr txBox="1"/>
          <p:nvPr/>
        </p:nvSpPr>
        <p:spPr>
          <a:xfrm>
            <a:off x="970200" y="5965534"/>
            <a:ext cx="9557200" cy="1362448"/>
          </a:xfrm>
          <a:prstGeom prst="rect">
            <a:avLst/>
          </a:prstGeom>
          <a:noFill/>
          <a:ln>
            <a:noFill/>
          </a:ln>
        </p:spPr>
        <p:txBody>
          <a:bodyPr spcFirstLastPara="1" wrap="square" lIns="121900" tIns="121900" rIns="121900" bIns="121900" anchor="t" anchorCtr="0">
            <a:spAutoFit/>
          </a:bodyPr>
          <a:lstStyle/>
          <a:p>
            <a:pPr marL="609585" marR="33866" indent="-397923">
              <a:lnSpc>
                <a:spcPct val="120000"/>
              </a:lnSpc>
              <a:spcBef>
                <a:spcPts val="800"/>
              </a:spcBef>
              <a:buClr>
                <a:srgbClr val="505B62"/>
              </a:buClr>
              <a:buSzPts val="1100"/>
              <a:buChar char="■"/>
            </a:pPr>
            <a:r>
              <a:rPr lang="en-US" altLang="ja" sz="1467">
                <a:solidFill>
                  <a:srgbClr val="505B62"/>
                </a:solidFill>
              </a:rPr>
              <a:t>Jeremiah Blocki, Manuel Blum, </a:t>
            </a:r>
            <a:r>
              <a:rPr lang="en-US" altLang="ja" sz="1467">
                <a:solidFill>
                  <a:srgbClr val="7D848A"/>
                </a:solidFill>
                <a:uFill>
                  <a:noFill/>
                </a:uFill>
                <a:hlinkClick r:id="rId3">
                  <a:extLst>
                    <a:ext uri="{A12FA001-AC4F-418D-AE19-62706E023703}">
                      <ahyp:hlinkClr xmlns:ahyp="http://schemas.microsoft.com/office/drawing/2018/hyperlinkcolor" val="tx"/>
                    </a:ext>
                  </a:extLst>
                </a:hlinkClick>
              </a:rPr>
              <a:t>Anupam Datta</a:t>
            </a:r>
            <a:r>
              <a:rPr lang="en-US" altLang="ja" sz="1467">
                <a:solidFill>
                  <a:srgbClr val="505B62"/>
                </a:solidFill>
              </a:rPr>
              <a:t>, </a:t>
            </a:r>
            <a:r>
              <a:rPr lang="en-US" altLang="ja" sz="1467">
                <a:solidFill>
                  <a:srgbClr val="7D848A"/>
                </a:solidFill>
                <a:uFill>
                  <a:noFill/>
                </a:uFill>
                <a:hlinkClick r:id="rId4">
                  <a:extLst>
                    <a:ext uri="{A12FA001-AC4F-418D-AE19-62706E023703}">
                      <ahyp:hlinkClr xmlns:ahyp="http://schemas.microsoft.com/office/drawing/2018/hyperlinkcolor" val="tx"/>
                    </a:ext>
                  </a:extLst>
                </a:hlinkClick>
              </a:rPr>
              <a:t>Santosh S. Vempala</a:t>
            </a:r>
            <a:r>
              <a:rPr lang="en-US" altLang="ja" sz="1467">
                <a:solidFill>
                  <a:srgbClr val="505B62"/>
                </a:solidFill>
              </a:rPr>
              <a:t>:</a:t>
            </a:r>
            <a:endParaRPr sz="1467">
              <a:solidFill>
                <a:srgbClr val="505B62"/>
              </a:solidFill>
            </a:endParaRPr>
          </a:p>
          <a:p>
            <a:pPr marL="609585" marR="33866" indent="-397923">
              <a:lnSpc>
                <a:spcPct val="120000"/>
              </a:lnSpc>
              <a:buClr>
                <a:srgbClr val="505B62"/>
              </a:buClr>
              <a:buSzPts val="1100"/>
              <a:buChar char="■"/>
            </a:pPr>
            <a:r>
              <a:rPr lang="en-US" altLang="ja" sz="1467" b="1">
                <a:solidFill>
                  <a:srgbClr val="666666"/>
                </a:solidFill>
              </a:rPr>
              <a:t>Towards Human Computable Passwords.</a:t>
            </a:r>
            <a:r>
              <a:rPr lang="ja" altLang="en-US" sz="1467">
                <a:solidFill>
                  <a:srgbClr val="505B62"/>
                </a:solidFill>
              </a:rPr>
              <a:t> </a:t>
            </a:r>
            <a:r>
              <a:rPr lang="en-US" altLang="ja" sz="1467">
                <a:solidFill>
                  <a:srgbClr val="7D848A"/>
                </a:solidFill>
                <a:uFill>
                  <a:noFill/>
                </a:uFill>
                <a:hlinkClick r:id="rId5">
                  <a:extLst>
                    <a:ext uri="{A12FA001-AC4F-418D-AE19-62706E023703}">
                      <ahyp:hlinkClr xmlns:ahyp="http://schemas.microsoft.com/office/drawing/2018/hyperlinkcolor" val="tx"/>
                    </a:ext>
                  </a:extLst>
                </a:hlinkClick>
              </a:rPr>
              <a:t>ITCS 2017</a:t>
            </a:r>
            <a:r>
              <a:rPr lang="en-US" altLang="ja" sz="1467">
                <a:solidFill>
                  <a:srgbClr val="505B62"/>
                </a:solidFill>
              </a:rPr>
              <a:t>: 10:1-10:47</a:t>
            </a:r>
            <a:endParaRPr sz="1467">
              <a:solidFill>
                <a:srgbClr val="505B62"/>
              </a:solidFill>
            </a:endParaRPr>
          </a:p>
          <a:p>
            <a:pPr>
              <a:spcBef>
                <a:spcPts val="1600"/>
              </a:spcBef>
            </a:pPr>
            <a:endParaRPr sz="1733">
              <a:solidFill>
                <a:schemeClr val="accent1"/>
              </a:solidFill>
              <a:latin typeface="Lato"/>
              <a:ea typeface="Lato"/>
              <a:cs typeface="Lato"/>
              <a:sym typeface="Lato"/>
            </a:endParaRPr>
          </a:p>
        </p:txBody>
      </p:sp>
      <p:sp>
        <p:nvSpPr>
          <p:cNvPr id="4" name="Google Shape;166;p18">
            <a:extLst>
              <a:ext uri="{FF2B5EF4-FFF2-40B4-BE49-F238E27FC236}">
                <a16:creationId xmlns:a16="http://schemas.microsoft.com/office/drawing/2014/main" id="{89E29677-7FC5-5929-8282-A3A41FD06145}"/>
              </a:ext>
            </a:extLst>
          </p:cNvPr>
          <p:cNvSpPr txBox="1"/>
          <p:nvPr/>
        </p:nvSpPr>
        <p:spPr>
          <a:xfrm>
            <a:off x="972600" y="70434"/>
            <a:ext cx="78666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人間計算可能なパスワード</a:t>
            </a:r>
            <a:endParaRPr sz="4400" dirty="0">
              <a:solidFill>
                <a:schemeClr val="accent1"/>
              </a:solidFill>
              <a:latin typeface="Lato"/>
              <a:ea typeface="Lato"/>
              <a:cs typeface="Lato"/>
              <a:sym typeface="Lat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7"/>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24</a:t>
            </a:fld>
            <a:endParaRPr/>
          </a:p>
        </p:txBody>
      </p:sp>
      <p:cxnSp>
        <p:nvCxnSpPr>
          <p:cNvPr id="134" name="Google Shape;134;p17"/>
          <p:cNvCxnSpPr>
            <a:cxnSpLocks/>
          </p:cNvCxnSpPr>
          <p:nvPr/>
        </p:nvCxnSpPr>
        <p:spPr>
          <a:xfrm>
            <a:off x="0" y="3124308"/>
            <a:ext cx="12192000" cy="48691"/>
          </a:xfrm>
          <a:prstGeom prst="straightConnector1">
            <a:avLst/>
          </a:prstGeom>
          <a:noFill/>
          <a:ln w="9525" cap="flat" cmpd="sng">
            <a:solidFill>
              <a:schemeClr val="dk2"/>
            </a:solidFill>
            <a:prstDash val="solid"/>
            <a:round/>
            <a:headEnd type="none" w="med" len="med"/>
            <a:tailEnd type="none" w="med" len="med"/>
          </a:ln>
        </p:spPr>
      </p:cxnSp>
      <p:sp>
        <p:nvSpPr>
          <p:cNvPr id="135" name="Google Shape;135;p17"/>
          <p:cNvSpPr txBox="1"/>
          <p:nvPr/>
        </p:nvSpPr>
        <p:spPr>
          <a:xfrm>
            <a:off x="610128" y="1508525"/>
            <a:ext cx="3208155" cy="984845"/>
          </a:xfrm>
          <a:prstGeom prst="rect">
            <a:avLst/>
          </a:prstGeom>
          <a:noFill/>
          <a:ln>
            <a:noFill/>
          </a:ln>
        </p:spPr>
        <p:txBody>
          <a:bodyPr spcFirstLastPara="1" wrap="square" lIns="121900" tIns="121900" rIns="121900" bIns="121900" anchor="t" anchorCtr="0">
            <a:spAutoFit/>
          </a:bodyPr>
          <a:lstStyle/>
          <a:p>
            <a:pPr algn="ctr"/>
            <a:r>
              <a:rPr lang="ja" altLang="en-US" sz="2400" dirty="0">
                <a:solidFill>
                  <a:schemeClr val="accent1"/>
                </a:solidFill>
                <a:latin typeface="Lato"/>
                <a:ea typeface="Lato"/>
                <a:cs typeface="Lato"/>
                <a:sym typeface="Lato"/>
              </a:rPr>
              <a:t>ユーザー</a:t>
            </a:r>
            <a:r>
              <a:rPr lang="ja-JP" altLang="en-US" sz="2400" dirty="0">
                <a:solidFill>
                  <a:schemeClr val="accent1"/>
                </a:solidFill>
                <a:latin typeface="Lato"/>
                <a:ea typeface="Lato"/>
                <a:cs typeface="Lato"/>
                <a:sym typeface="Lato"/>
              </a:rPr>
              <a:t>：</a:t>
            </a:r>
            <a:endParaRPr sz="2400" dirty="0">
              <a:solidFill>
                <a:schemeClr val="accent1"/>
              </a:solidFill>
              <a:latin typeface="Lato"/>
              <a:ea typeface="Lato"/>
              <a:cs typeface="Lato"/>
              <a:sym typeface="Lato"/>
            </a:endParaRPr>
          </a:p>
          <a:p>
            <a:pPr algn="ctr"/>
            <a:r>
              <a:rPr lang="ja" altLang="en-US" sz="2400" dirty="0">
                <a:solidFill>
                  <a:schemeClr val="accent1"/>
                </a:solidFill>
                <a:latin typeface="Lato"/>
                <a:ea typeface="Lato"/>
                <a:cs typeface="Lato"/>
                <a:sym typeface="Lato"/>
              </a:rPr>
              <a:t>関数</a:t>
            </a:r>
            <a:r>
              <a:rPr lang="en-US" altLang="ja" sz="2400" dirty="0">
                <a:solidFill>
                  <a:schemeClr val="accent1"/>
                </a:solidFill>
                <a:latin typeface="Lato"/>
                <a:ea typeface="Lato"/>
                <a:cs typeface="Lato"/>
                <a:sym typeface="Lato"/>
              </a:rPr>
              <a:t>σ</a:t>
            </a:r>
            <a:r>
              <a:rPr lang="ja-JP" altLang="en-US" sz="2400" dirty="0">
                <a:solidFill>
                  <a:schemeClr val="accent1"/>
                </a:solidFill>
                <a:latin typeface="Lato"/>
                <a:ea typeface="Lato"/>
                <a:cs typeface="Lato"/>
                <a:sym typeface="Lato"/>
              </a:rPr>
              <a:t>／</a:t>
            </a:r>
            <a:r>
              <a:rPr lang="ja" altLang="en-US" sz="2400" dirty="0">
                <a:solidFill>
                  <a:schemeClr val="accent1"/>
                </a:solidFill>
                <a:latin typeface="Lato"/>
                <a:ea typeface="Lato"/>
                <a:cs typeface="Lato"/>
                <a:sym typeface="Lato"/>
              </a:rPr>
              <a:t>関数</a:t>
            </a:r>
            <a:r>
              <a:rPr lang="en-US" altLang="ja" sz="2400" dirty="0">
                <a:solidFill>
                  <a:schemeClr val="accent1"/>
                </a:solidFill>
                <a:latin typeface="Lato"/>
                <a:ea typeface="Lato"/>
                <a:cs typeface="Lato"/>
                <a:sym typeface="Lato"/>
              </a:rPr>
              <a:t>f</a:t>
            </a:r>
            <a:r>
              <a:rPr lang="ja" altLang="en-US" sz="2400" dirty="0">
                <a:solidFill>
                  <a:schemeClr val="accent1"/>
                </a:solidFill>
                <a:latin typeface="Lato"/>
                <a:ea typeface="Lato"/>
                <a:cs typeface="Lato"/>
                <a:sym typeface="Lato"/>
              </a:rPr>
              <a:t>を</a:t>
            </a:r>
            <a:r>
              <a:rPr lang="ja-JP" altLang="en-US" sz="2400" dirty="0">
                <a:solidFill>
                  <a:schemeClr val="accent1"/>
                </a:solidFill>
                <a:latin typeface="Lato"/>
                <a:ea typeface="Lato"/>
                <a:cs typeface="Lato"/>
                <a:sym typeface="Lato"/>
              </a:rPr>
              <a:t>既知</a:t>
            </a:r>
            <a:endParaRPr sz="2400" dirty="0">
              <a:solidFill>
                <a:schemeClr val="accent1"/>
              </a:solidFill>
              <a:latin typeface="Lato"/>
              <a:ea typeface="Lato"/>
              <a:cs typeface="Lato"/>
              <a:sym typeface="Lato"/>
            </a:endParaRPr>
          </a:p>
        </p:txBody>
      </p:sp>
      <p:sp>
        <p:nvSpPr>
          <p:cNvPr id="136" name="Google Shape;136;p17"/>
          <p:cNvSpPr/>
          <p:nvPr/>
        </p:nvSpPr>
        <p:spPr>
          <a:xfrm>
            <a:off x="4082130" y="1606447"/>
            <a:ext cx="2056516" cy="85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ja" altLang="en-US" sz="2400" dirty="0">
                <a:latin typeface="Lato"/>
                <a:ea typeface="Lato"/>
                <a:cs typeface="Lato"/>
                <a:sym typeface="Lato"/>
              </a:rPr>
              <a:t>チャレンジ</a:t>
            </a:r>
            <a:endParaRPr sz="2400" dirty="0">
              <a:latin typeface="Lato"/>
              <a:ea typeface="Lato"/>
              <a:cs typeface="Lato"/>
              <a:sym typeface="Lato"/>
            </a:endParaRPr>
          </a:p>
          <a:p>
            <a:pPr algn="ctr"/>
            <a:r>
              <a:rPr lang="ja" altLang="en-US" sz="2400" dirty="0">
                <a:latin typeface="Lato"/>
                <a:ea typeface="Lato"/>
                <a:cs typeface="Lato"/>
                <a:sym typeface="Lato"/>
              </a:rPr>
              <a:t>画像</a:t>
            </a:r>
            <a:r>
              <a:rPr lang="en-US" altLang="ja" sz="2400" dirty="0">
                <a:latin typeface="Lato"/>
                <a:ea typeface="Lato"/>
                <a:cs typeface="Lato"/>
                <a:sym typeface="Lato"/>
              </a:rPr>
              <a:t>14</a:t>
            </a:r>
            <a:r>
              <a:rPr lang="ja" altLang="en-US" sz="2400" dirty="0">
                <a:latin typeface="Lato"/>
                <a:ea typeface="Lato"/>
                <a:cs typeface="Lato"/>
                <a:sym typeface="Lato"/>
              </a:rPr>
              <a:t>枚</a:t>
            </a:r>
            <a:endParaRPr sz="2400" dirty="0">
              <a:latin typeface="Lato"/>
              <a:ea typeface="Lato"/>
              <a:cs typeface="Lato"/>
              <a:sym typeface="Lato"/>
            </a:endParaRPr>
          </a:p>
        </p:txBody>
      </p:sp>
      <p:sp>
        <p:nvSpPr>
          <p:cNvPr id="137" name="Google Shape;137;p17"/>
          <p:cNvSpPr/>
          <p:nvPr/>
        </p:nvSpPr>
        <p:spPr>
          <a:xfrm>
            <a:off x="6235479" y="1820847"/>
            <a:ext cx="1139200" cy="422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138" name="Google Shape;138;p17"/>
          <p:cNvSpPr/>
          <p:nvPr/>
        </p:nvSpPr>
        <p:spPr>
          <a:xfrm>
            <a:off x="7374546" y="1606447"/>
            <a:ext cx="1742400" cy="85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ja" altLang="en-US" sz="2400">
                <a:latin typeface="Lato"/>
                <a:ea typeface="Lato"/>
                <a:cs typeface="Lato"/>
                <a:sym typeface="Lato"/>
              </a:rPr>
              <a:t>数値</a:t>
            </a:r>
            <a:endParaRPr sz="2400">
              <a:latin typeface="Lato"/>
              <a:ea typeface="Lato"/>
              <a:cs typeface="Lato"/>
              <a:sym typeface="Lato"/>
            </a:endParaRPr>
          </a:p>
          <a:p>
            <a:pPr algn="ctr"/>
            <a:r>
              <a:rPr lang="en-US" altLang="ja" sz="2400">
                <a:latin typeface="Lato"/>
                <a:ea typeface="Lato"/>
                <a:cs typeface="Lato"/>
                <a:sym typeface="Lato"/>
              </a:rPr>
              <a:t>14</a:t>
            </a:r>
            <a:r>
              <a:rPr lang="ja" altLang="en-US" sz="2400">
                <a:latin typeface="Lato"/>
                <a:ea typeface="Lato"/>
                <a:cs typeface="Lato"/>
                <a:sym typeface="Lato"/>
              </a:rPr>
              <a:t>個</a:t>
            </a:r>
            <a:endParaRPr sz="2400">
              <a:latin typeface="Lato"/>
              <a:ea typeface="Lato"/>
              <a:cs typeface="Lato"/>
              <a:sym typeface="Lato"/>
            </a:endParaRPr>
          </a:p>
        </p:txBody>
      </p:sp>
      <p:sp>
        <p:nvSpPr>
          <p:cNvPr id="139" name="Google Shape;139;p17"/>
          <p:cNvSpPr txBox="1"/>
          <p:nvPr/>
        </p:nvSpPr>
        <p:spPr>
          <a:xfrm>
            <a:off x="6280074" y="1393548"/>
            <a:ext cx="1032800" cy="512857"/>
          </a:xfrm>
          <a:prstGeom prst="rect">
            <a:avLst/>
          </a:prstGeom>
          <a:noFill/>
          <a:ln>
            <a:noFill/>
          </a:ln>
        </p:spPr>
        <p:txBody>
          <a:bodyPr spcFirstLastPara="1" wrap="square" lIns="121900" tIns="121900" rIns="121900" bIns="121900" anchor="t" anchorCtr="0">
            <a:spAutoFit/>
          </a:bodyPr>
          <a:lstStyle/>
          <a:p>
            <a:r>
              <a:rPr lang="ja" altLang="en-US" sz="1733">
                <a:solidFill>
                  <a:schemeClr val="accent1"/>
                </a:solidFill>
                <a:latin typeface="Lato"/>
                <a:ea typeface="Lato"/>
                <a:cs typeface="Lato"/>
                <a:sym typeface="Lato"/>
              </a:rPr>
              <a:t>関数</a:t>
            </a:r>
            <a:r>
              <a:rPr lang="en-US" altLang="ja" sz="1733">
                <a:solidFill>
                  <a:schemeClr val="accent1"/>
                </a:solidFill>
                <a:latin typeface="Lato"/>
                <a:ea typeface="Lato"/>
                <a:cs typeface="Lato"/>
                <a:sym typeface="Lato"/>
              </a:rPr>
              <a:t>σ</a:t>
            </a:r>
            <a:endParaRPr sz="1733">
              <a:solidFill>
                <a:schemeClr val="accent1"/>
              </a:solidFill>
              <a:latin typeface="Lato"/>
              <a:ea typeface="Lato"/>
              <a:cs typeface="Lato"/>
              <a:sym typeface="Lato"/>
            </a:endParaRPr>
          </a:p>
        </p:txBody>
      </p:sp>
      <p:sp>
        <p:nvSpPr>
          <p:cNvPr id="140" name="Google Shape;140;p17"/>
          <p:cNvSpPr/>
          <p:nvPr/>
        </p:nvSpPr>
        <p:spPr>
          <a:xfrm>
            <a:off x="9116946" y="1820847"/>
            <a:ext cx="1139200" cy="422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141" name="Google Shape;141;p17"/>
          <p:cNvSpPr txBox="1"/>
          <p:nvPr/>
        </p:nvSpPr>
        <p:spPr>
          <a:xfrm>
            <a:off x="9262741" y="1393548"/>
            <a:ext cx="1032800" cy="512857"/>
          </a:xfrm>
          <a:prstGeom prst="rect">
            <a:avLst/>
          </a:prstGeom>
          <a:noFill/>
          <a:ln>
            <a:noFill/>
          </a:ln>
        </p:spPr>
        <p:txBody>
          <a:bodyPr spcFirstLastPara="1" wrap="square" lIns="121900" tIns="121900" rIns="121900" bIns="121900" anchor="t" anchorCtr="0">
            <a:spAutoFit/>
          </a:bodyPr>
          <a:lstStyle/>
          <a:p>
            <a:r>
              <a:rPr lang="ja" altLang="en-US" sz="1733">
                <a:solidFill>
                  <a:schemeClr val="accent1"/>
                </a:solidFill>
                <a:latin typeface="Lato"/>
                <a:ea typeface="Lato"/>
                <a:cs typeface="Lato"/>
                <a:sym typeface="Lato"/>
              </a:rPr>
              <a:t>関数</a:t>
            </a:r>
            <a:r>
              <a:rPr lang="en-US" altLang="ja" sz="1733">
                <a:solidFill>
                  <a:schemeClr val="accent1"/>
                </a:solidFill>
                <a:latin typeface="Lato"/>
                <a:ea typeface="Lato"/>
                <a:cs typeface="Lato"/>
                <a:sym typeface="Lato"/>
              </a:rPr>
              <a:t>f</a:t>
            </a:r>
            <a:endParaRPr sz="1733">
              <a:solidFill>
                <a:schemeClr val="accent1"/>
              </a:solidFill>
              <a:latin typeface="Lato"/>
              <a:ea typeface="Lato"/>
              <a:cs typeface="Lato"/>
              <a:sym typeface="Lato"/>
            </a:endParaRPr>
          </a:p>
        </p:txBody>
      </p:sp>
      <p:sp>
        <p:nvSpPr>
          <p:cNvPr id="142" name="Google Shape;142;p17"/>
          <p:cNvSpPr/>
          <p:nvPr/>
        </p:nvSpPr>
        <p:spPr>
          <a:xfrm>
            <a:off x="10256146" y="1606447"/>
            <a:ext cx="1742400" cy="85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ja" altLang="en-US" sz="2400">
                <a:latin typeface="Lato"/>
                <a:ea typeface="Lato"/>
                <a:cs typeface="Lato"/>
                <a:sym typeface="Lato"/>
              </a:rPr>
              <a:t>応答</a:t>
            </a:r>
            <a:endParaRPr sz="2400">
              <a:latin typeface="Lato"/>
              <a:ea typeface="Lato"/>
              <a:cs typeface="Lato"/>
              <a:sym typeface="Lato"/>
            </a:endParaRPr>
          </a:p>
        </p:txBody>
      </p:sp>
      <p:sp>
        <p:nvSpPr>
          <p:cNvPr id="144" name="Google Shape;144;p17"/>
          <p:cNvSpPr txBox="1"/>
          <p:nvPr/>
        </p:nvSpPr>
        <p:spPr>
          <a:xfrm>
            <a:off x="8678632" y="3429000"/>
            <a:ext cx="1082725" cy="615513"/>
          </a:xfrm>
          <a:prstGeom prst="rect">
            <a:avLst/>
          </a:prstGeom>
          <a:noFill/>
          <a:ln>
            <a:noFill/>
          </a:ln>
        </p:spPr>
        <p:txBody>
          <a:bodyPr spcFirstLastPara="1" wrap="square" lIns="121900" tIns="121900" rIns="121900" bIns="121900" anchor="t" anchorCtr="0">
            <a:spAutoFit/>
          </a:bodyPr>
          <a:lstStyle/>
          <a:p>
            <a:pPr algn="ctr"/>
            <a:r>
              <a:rPr lang="ja" altLang="en-US" sz="2400" dirty="0">
                <a:solidFill>
                  <a:schemeClr val="accent1"/>
                </a:solidFill>
                <a:latin typeface="Lato"/>
                <a:ea typeface="Lato"/>
                <a:cs typeface="Lato"/>
                <a:sym typeface="Lato"/>
              </a:rPr>
              <a:t>目的</a:t>
            </a:r>
            <a:endParaRPr sz="2400" dirty="0">
              <a:solidFill>
                <a:schemeClr val="accent1"/>
              </a:solidFill>
              <a:latin typeface="Lato"/>
              <a:ea typeface="Lato"/>
              <a:cs typeface="Lato"/>
              <a:sym typeface="Lato"/>
            </a:endParaRPr>
          </a:p>
        </p:txBody>
      </p:sp>
      <p:sp>
        <p:nvSpPr>
          <p:cNvPr id="151" name="Google Shape;151;p17"/>
          <p:cNvSpPr/>
          <p:nvPr/>
        </p:nvSpPr>
        <p:spPr>
          <a:xfrm>
            <a:off x="825887" y="4711173"/>
            <a:ext cx="5442097" cy="15440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sp>
        <p:nvSpPr>
          <p:cNvPr id="152" name="Google Shape;152;p17"/>
          <p:cNvSpPr/>
          <p:nvPr/>
        </p:nvSpPr>
        <p:spPr>
          <a:xfrm>
            <a:off x="1249100" y="5057573"/>
            <a:ext cx="1930213" cy="85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ja" altLang="en-US" sz="2400" dirty="0">
                <a:latin typeface="Lato"/>
                <a:ea typeface="Lato"/>
                <a:cs typeface="Lato"/>
                <a:sym typeface="Lato"/>
              </a:rPr>
              <a:t>チャレンジ</a:t>
            </a:r>
            <a:endParaRPr sz="2400" dirty="0">
              <a:latin typeface="Lato"/>
              <a:ea typeface="Lato"/>
              <a:cs typeface="Lato"/>
              <a:sym typeface="Lato"/>
            </a:endParaRPr>
          </a:p>
          <a:p>
            <a:pPr algn="ctr"/>
            <a:r>
              <a:rPr lang="ja" altLang="en-US" sz="2400" dirty="0">
                <a:latin typeface="Lato"/>
                <a:ea typeface="Lato"/>
                <a:cs typeface="Lato"/>
                <a:sym typeface="Lato"/>
              </a:rPr>
              <a:t>画像</a:t>
            </a:r>
            <a:r>
              <a:rPr lang="en-US" altLang="ja" sz="2400" dirty="0">
                <a:latin typeface="Lato"/>
                <a:ea typeface="Lato"/>
                <a:cs typeface="Lato"/>
                <a:sym typeface="Lato"/>
              </a:rPr>
              <a:t>14</a:t>
            </a:r>
            <a:r>
              <a:rPr lang="ja" altLang="en-US" sz="2400" dirty="0">
                <a:latin typeface="Lato"/>
                <a:ea typeface="Lato"/>
                <a:cs typeface="Lato"/>
                <a:sym typeface="Lato"/>
              </a:rPr>
              <a:t>枚</a:t>
            </a:r>
            <a:endParaRPr sz="2400" dirty="0">
              <a:latin typeface="Lato"/>
              <a:ea typeface="Lato"/>
              <a:cs typeface="Lato"/>
              <a:sym typeface="Lato"/>
            </a:endParaRPr>
          </a:p>
        </p:txBody>
      </p:sp>
      <p:sp>
        <p:nvSpPr>
          <p:cNvPr id="153" name="Google Shape;153;p17"/>
          <p:cNvSpPr/>
          <p:nvPr/>
        </p:nvSpPr>
        <p:spPr>
          <a:xfrm>
            <a:off x="4189362" y="5057573"/>
            <a:ext cx="1742400" cy="8512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r>
              <a:rPr lang="ja" altLang="en-US" sz="2400">
                <a:latin typeface="Lato"/>
                <a:ea typeface="Lato"/>
                <a:cs typeface="Lato"/>
                <a:sym typeface="Lato"/>
              </a:rPr>
              <a:t>応答</a:t>
            </a:r>
            <a:endParaRPr sz="2400">
              <a:latin typeface="Lato"/>
              <a:ea typeface="Lato"/>
              <a:cs typeface="Lato"/>
              <a:sym typeface="Lato"/>
            </a:endParaRPr>
          </a:p>
        </p:txBody>
      </p:sp>
      <p:sp>
        <p:nvSpPr>
          <p:cNvPr id="155" name="Google Shape;155;p17"/>
          <p:cNvSpPr txBox="1"/>
          <p:nvPr/>
        </p:nvSpPr>
        <p:spPr>
          <a:xfrm>
            <a:off x="2933685" y="3428999"/>
            <a:ext cx="1501303" cy="615513"/>
          </a:xfrm>
          <a:prstGeom prst="rect">
            <a:avLst/>
          </a:prstGeom>
          <a:noFill/>
          <a:ln>
            <a:noFill/>
          </a:ln>
        </p:spPr>
        <p:txBody>
          <a:bodyPr spcFirstLastPara="1" wrap="square" lIns="121900" tIns="121900" rIns="121900" bIns="121900" anchor="t" anchorCtr="0">
            <a:spAutoFit/>
          </a:bodyPr>
          <a:lstStyle/>
          <a:p>
            <a:pPr algn="ctr"/>
            <a:r>
              <a:rPr lang="ja" altLang="en-US" sz="2400" dirty="0">
                <a:solidFill>
                  <a:schemeClr val="accent1"/>
                </a:solidFill>
                <a:latin typeface="Lato"/>
                <a:ea typeface="Lato"/>
                <a:cs typeface="Lato"/>
                <a:sym typeface="Lato"/>
              </a:rPr>
              <a:t>本研究</a:t>
            </a:r>
            <a:endParaRPr sz="2400" dirty="0">
              <a:solidFill>
                <a:schemeClr val="accent1"/>
              </a:solidFill>
              <a:latin typeface="Lato"/>
              <a:ea typeface="Lato"/>
              <a:cs typeface="Lato"/>
              <a:sym typeface="Lato"/>
            </a:endParaRPr>
          </a:p>
        </p:txBody>
      </p:sp>
      <p:sp>
        <p:nvSpPr>
          <p:cNvPr id="156" name="Google Shape;156;p17"/>
          <p:cNvSpPr txBox="1"/>
          <p:nvPr/>
        </p:nvSpPr>
        <p:spPr>
          <a:xfrm>
            <a:off x="6908619" y="4990750"/>
            <a:ext cx="4622752" cy="984845"/>
          </a:xfrm>
          <a:prstGeom prst="rect">
            <a:avLst/>
          </a:prstGeom>
          <a:noFill/>
          <a:ln>
            <a:noFill/>
          </a:ln>
        </p:spPr>
        <p:txBody>
          <a:bodyPr spcFirstLastPara="1" wrap="square" lIns="121900" tIns="121900" rIns="121900" bIns="121900" anchor="t" anchorCtr="0">
            <a:spAutoFit/>
          </a:bodyPr>
          <a:lstStyle/>
          <a:p>
            <a:r>
              <a:rPr lang="ja" altLang="en-US" sz="2400" dirty="0">
                <a:solidFill>
                  <a:schemeClr val="accent1"/>
                </a:solidFill>
                <a:latin typeface="Lato"/>
                <a:ea typeface="Lato"/>
                <a:cs typeface="Lato"/>
                <a:sym typeface="Lato"/>
              </a:rPr>
              <a:t>チャレンジに対する応答の予測</a:t>
            </a:r>
            <a:endParaRPr sz="2400" dirty="0">
              <a:solidFill>
                <a:schemeClr val="accent1"/>
              </a:solidFill>
              <a:latin typeface="Lato"/>
              <a:ea typeface="Lato"/>
              <a:cs typeface="Lato"/>
              <a:sym typeface="Lato"/>
            </a:endParaRPr>
          </a:p>
          <a:p>
            <a:r>
              <a:rPr lang="en-US" altLang="ja" sz="2400" dirty="0">
                <a:solidFill>
                  <a:schemeClr val="accent1"/>
                </a:solidFill>
                <a:latin typeface="Lato"/>
                <a:ea typeface="Lato"/>
                <a:cs typeface="Lato"/>
                <a:sym typeface="Lato"/>
              </a:rPr>
              <a:t>f </a:t>
            </a:r>
            <a:r>
              <a:rPr lang="ja-JP" altLang="en-US" sz="2400" dirty="0">
                <a:solidFill>
                  <a:schemeClr val="accent1"/>
                </a:solidFill>
                <a:latin typeface="Lato"/>
                <a:ea typeface="Lato"/>
                <a:cs typeface="Lato"/>
                <a:sym typeface="Lato"/>
              </a:rPr>
              <a:t>◦ </a:t>
            </a:r>
            <a:r>
              <a:rPr lang="en-US" altLang="ja" sz="2400" dirty="0">
                <a:solidFill>
                  <a:schemeClr val="accent1"/>
                </a:solidFill>
                <a:latin typeface="Lato"/>
                <a:ea typeface="Lato"/>
                <a:cs typeface="Lato"/>
                <a:sym typeface="Lato"/>
              </a:rPr>
              <a:t>σ </a:t>
            </a:r>
            <a:r>
              <a:rPr lang="ja" altLang="en-US" sz="2400" dirty="0">
                <a:solidFill>
                  <a:schemeClr val="accent1"/>
                </a:solidFill>
                <a:latin typeface="Lato"/>
                <a:ea typeface="Lato"/>
                <a:cs typeface="Lato"/>
                <a:sym typeface="Lato"/>
              </a:rPr>
              <a:t>の出力の予測・近似</a:t>
            </a:r>
            <a:endParaRPr sz="2400" dirty="0">
              <a:solidFill>
                <a:schemeClr val="accent1"/>
              </a:solidFill>
              <a:latin typeface="Lato"/>
              <a:ea typeface="Lato"/>
              <a:cs typeface="Lato"/>
              <a:sym typeface="Lato"/>
            </a:endParaRPr>
          </a:p>
        </p:txBody>
      </p:sp>
      <p:sp>
        <p:nvSpPr>
          <p:cNvPr id="2" name="Google Shape;166;p18">
            <a:extLst>
              <a:ext uri="{FF2B5EF4-FFF2-40B4-BE49-F238E27FC236}">
                <a16:creationId xmlns:a16="http://schemas.microsoft.com/office/drawing/2014/main" id="{B34DE2AF-BA08-7428-FB23-A253BBA8C323}"/>
              </a:ext>
            </a:extLst>
          </p:cNvPr>
          <p:cNvSpPr txBox="1"/>
          <p:nvPr/>
        </p:nvSpPr>
        <p:spPr>
          <a:xfrm>
            <a:off x="972600" y="70434"/>
            <a:ext cx="78666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実験手法</a:t>
            </a:r>
            <a:endParaRPr sz="4400" dirty="0">
              <a:solidFill>
                <a:schemeClr val="accent1"/>
              </a:solidFill>
              <a:latin typeface="Lato"/>
              <a:ea typeface="Lato"/>
              <a:cs typeface="Lato"/>
              <a:sym typeface="Lato"/>
            </a:endParaRPr>
          </a:p>
        </p:txBody>
      </p:sp>
      <p:sp>
        <p:nvSpPr>
          <p:cNvPr id="3" name="Google Shape;137;p17">
            <a:extLst>
              <a:ext uri="{FF2B5EF4-FFF2-40B4-BE49-F238E27FC236}">
                <a16:creationId xmlns:a16="http://schemas.microsoft.com/office/drawing/2014/main" id="{8EB1A16C-86F6-4066-BC2B-16627D4AE8F3}"/>
              </a:ext>
            </a:extLst>
          </p:cNvPr>
          <p:cNvSpPr/>
          <p:nvPr/>
        </p:nvSpPr>
        <p:spPr>
          <a:xfrm>
            <a:off x="3286545" y="5271973"/>
            <a:ext cx="795585" cy="4224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121900" tIns="121900" rIns="121900" bIns="121900" anchor="ctr" anchorCtr="0">
            <a:noAutofit/>
          </a:bodyPr>
          <a:lstStyle/>
          <a:p>
            <a:pPr algn="ctr"/>
            <a:endParaRPr sz="2400">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9" name="Google Shape;349;p43"/>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25</a:t>
            </a:fld>
            <a:endParaRPr/>
          </a:p>
        </p:txBody>
      </p:sp>
      <p:sp>
        <p:nvSpPr>
          <p:cNvPr id="350" name="Google Shape;350;p43"/>
          <p:cNvSpPr txBox="1">
            <a:spLocks noGrp="1"/>
          </p:cNvSpPr>
          <p:nvPr>
            <p:ph type="body" idx="1"/>
          </p:nvPr>
        </p:nvSpPr>
        <p:spPr>
          <a:xfrm>
            <a:off x="972600" y="1579602"/>
            <a:ext cx="10251600" cy="4753533"/>
          </a:xfrm>
          <a:prstGeom prst="rect">
            <a:avLst/>
          </a:prstGeom>
        </p:spPr>
        <p:txBody>
          <a:bodyPr spcFirstLastPara="1" vert="horz" wrap="square" lIns="121900" tIns="121900" rIns="121900" bIns="121900" rtlCol="0" anchor="t" anchorCtr="0">
            <a:noAutofit/>
          </a:bodyPr>
          <a:lstStyle/>
          <a:p>
            <a:pPr marL="194729" indent="0" algn="just">
              <a:buNone/>
            </a:pPr>
            <a:r>
              <a:rPr lang="en-US" altLang="ja-JP" sz="2800" b="1" kern="100" dirty="0">
                <a:effectLst/>
                <a:latin typeface="Meiryo UI" panose="020B0604030504040204" pitchFamily="50" charset="-128"/>
                <a:ea typeface="Meiryo UI" panose="020B0604030504040204" pitchFamily="50" charset="-128"/>
                <a:cs typeface="Times New Roman" panose="02020603050405020304" pitchFamily="18" charset="0"/>
              </a:rPr>
              <a:t>Ⅰ</a:t>
            </a:r>
            <a:r>
              <a:rPr lang="ja-JP" altLang="en-US" sz="2800" b="1" kern="100" dirty="0">
                <a:effectLst/>
                <a:latin typeface="Meiryo UI" panose="020B0604030504040204" pitchFamily="50" charset="-128"/>
                <a:ea typeface="Meiryo UI" panose="020B0604030504040204" pitchFamily="50" charset="-128"/>
                <a:cs typeface="Times New Roman" panose="02020603050405020304" pitchFamily="18" charset="0"/>
              </a:rPr>
              <a:t>　</a:t>
            </a:r>
            <a:r>
              <a:rPr lang="ja-JP" altLang="ja-JP" sz="2800" b="1" kern="100" dirty="0">
                <a:effectLst/>
                <a:latin typeface="Meiryo UI" panose="020B0604030504040204" pitchFamily="50" charset="-128"/>
                <a:ea typeface="Meiryo UI" panose="020B0604030504040204" pitchFamily="50" charset="-128"/>
                <a:cs typeface="Times New Roman" panose="02020603050405020304" pitchFamily="18" charset="0"/>
              </a:rPr>
              <a:t>人間の計算モデル</a:t>
            </a:r>
            <a:r>
              <a:rPr lang="ja-JP" altLang="en-US" sz="2800" b="1" kern="100" dirty="0">
                <a:effectLst/>
                <a:latin typeface="Meiryo UI" panose="020B0604030504040204" pitchFamily="50" charset="-128"/>
                <a:ea typeface="Meiryo UI" panose="020B0604030504040204" pitchFamily="50" charset="-128"/>
                <a:cs typeface="Times New Roman" panose="02020603050405020304" pitchFamily="18" charset="0"/>
              </a:rPr>
              <a:t>：</a:t>
            </a:r>
            <a:endParaRPr lang="en-US" altLang="ja-JP" sz="2800" b="1" kern="100" dirty="0">
              <a:effectLst/>
              <a:latin typeface="Meiryo UI" panose="020B0604030504040204" pitchFamily="50" charset="-128"/>
              <a:ea typeface="Meiryo UI" panose="020B0604030504040204" pitchFamily="50" charset="-128"/>
              <a:cs typeface="Times New Roman" panose="02020603050405020304" pitchFamily="18" charset="0"/>
            </a:endParaRPr>
          </a:p>
          <a:p>
            <a:pPr algn="just"/>
            <a:endPar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a:t>
            </a:r>
            <a:r>
              <a:rPr lang="en-US" altLang="ja-JP" sz="2800" kern="100" dirty="0" err="1">
                <a:effectLst/>
                <a:latin typeface="Meiryo UI" panose="020B0604030504040204" pitchFamily="50" charset="-128"/>
                <a:ea typeface="Meiryo UI" panose="020B0604030504040204" pitchFamily="50" charset="-128"/>
                <a:cs typeface="Times New Roman" panose="02020603050405020304" pitchFamily="18" charset="0"/>
              </a:rPr>
              <a:t>i</a:t>
            </a:r>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 </a:t>
            </a:r>
            <a:r>
              <a:rPr lang="ja-JP" altLang="en-US" sz="2800" kern="100" dirty="0">
                <a:effectLst/>
                <a:latin typeface="Meiryo UI" panose="020B0604030504040204" pitchFamily="50" charset="-128"/>
                <a:ea typeface="Meiryo UI" panose="020B0604030504040204" pitchFamily="50" charset="-128"/>
                <a:cs typeface="Times New Roman" panose="02020603050405020304" pitchFamily="18" charset="0"/>
              </a:rPr>
              <a:t>２つの記憶（</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長期記憶</a:t>
            </a:r>
            <a:r>
              <a:rPr lang="ja-JP" altLang="en-US" sz="2800" kern="100" dirty="0">
                <a:effectLst/>
                <a:latin typeface="Meiryo UI" panose="020B0604030504040204" pitchFamily="50" charset="-128"/>
                <a:ea typeface="Meiryo UI" panose="020B0604030504040204" pitchFamily="50" charset="-128"/>
                <a:cs typeface="Times New Roman" panose="02020603050405020304" pitchFamily="18" charset="0"/>
              </a:rPr>
              <a:t>＋</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短期記憶</a:t>
            </a:r>
            <a:r>
              <a:rPr lang="ja-JP" altLang="en-US" sz="2800" kern="100" dirty="0">
                <a:effectLst/>
                <a:latin typeface="Meiryo UI" panose="020B0604030504040204" pitchFamily="50" charset="-128"/>
                <a:ea typeface="Meiryo UI" panose="020B0604030504040204" pitchFamily="50" charset="-128"/>
                <a:cs typeface="Times New Roman" panose="02020603050405020304" pitchFamily="18" charset="0"/>
              </a:rPr>
              <a:t>）を持つチューリングマシン</a:t>
            </a:r>
            <a:endPar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endPar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(ii) </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長期記憶</a:t>
            </a:r>
            <a:r>
              <a:rPr lang="ja-JP" altLang="en-US" sz="2800" kern="100" dirty="0">
                <a:effectLst/>
                <a:latin typeface="Meiryo UI" panose="020B0604030504040204" pitchFamily="50" charset="-128"/>
                <a:ea typeface="Meiryo UI" panose="020B0604030504040204" pitchFamily="50" charset="-128"/>
                <a:cs typeface="Times New Roman" panose="02020603050405020304" pitchFamily="18" charset="0"/>
              </a:rPr>
              <a:t>：</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容量は無限大。</a:t>
            </a:r>
            <a:endPar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endParaRPr lang="en-US" altLang="ja-JP" sz="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942960" lvl="1" indent="-333375" algn="just"/>
            <a:r>
              <a:rPr lang="ja-JP" altLang="ja-JP" kern="100" dirty="0">
                <a:effectLst/>
                <a:latin typeface="Meiryo UI" panose="020B0604030504040204" pitchFamily="50" charset="-128"/>
                <a:ea typeface="Meiryo UI" panose="020B0604030504040204" pitchFamily="50" charset="-128"/>
                <a:cs typeface="Times New Roman" panose="02020603050405020304" pitchFamily="18" charset="0"/>
              </a:rPr>
              <a:t>ただし、新しい情報を書き込むには一定の時間を要する。</a:t>
            </a:r>
            <a:endParaRPr lang="en-US" altLang="ja-JP"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942960" lvl="1" indent="-333375" algn="just"/>
            <a:r>
              <a:rPr lang="ja-JP" altLang="ja-JP" kern="100" dirty="0">
                <a:effectLst/>
                <a:latin typeface="Meiryo UI" panose="020B0604030504040204" pitchFamily="50" charset="-128"/>
                <a:ea typeface="Meiryo UI" panose="020B0604030504040204" pitchFamily="50" charset="-128"/>
                <a:cs typeface="Times New Roman" panose="02020603050405020304" pitchFamily="18" charset="0"/>
              </a:rPr>
              <a:t>一方で、すでに記憶した情報の読み出しは即座に行える。</a:t>
            </a:r>
            <a:endParaRPr lang="en-US" altLang="ja-JP"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endPar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r>
              <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(iii) </a:t>
            </a:r>
            <a:r>
              <a:rPr lang="ja-JP" altLang="ja-JP" sz="2800" kern="100" dirty="0">
                <a:effectLst/>
                <a:latin typeface="Meiryo UI" panose="020B0604030504040204" pitchFamily="50" charset="-128"/>
                <a:ea typeface="Meiryo UI" panose="020B0604030504040204" pitchFamily="50" charset="-128"/>
                <a:cs typeface="Times New Roman" panose="02020603050405020304" pitchFamily="18" charset="0"/>
              </a:rPr>
              <a:t>短期記憶</a:t>
            </a:r>
            <a:r>
              <a:rPr lang="ja-JP" altLang="en-US" sz="2800" kern="100" dirty="0">
                <a:effectLst/>
                <a:latin typeface="Meiryo UI" panose="020B0604030504040204" pitchFamily="50" charset="-128"/>
                <a:ea typeface="Meiryo UI" panose="020B0604030504040204" pitchFamily="50" charset="-128"/>
                <a:cs typeface="Times New Roman" panose="02020603050405020304" pitchFamily="18" charset="0"/>
              </a:rPr>
              <a:t>：容量に制約。通常２～３個の情報を保持。</a:t>
            </a:r>
            <a:endParaRPr lang="en-US" altLang="ja-JP" sz="2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333375" indent="-333375" algn="just"/>
            <a:endParaRPr lang="en-US" altLang="ja-JP" sz="800" kern="100" dirty="0">
              <a:effectLst/>
              <a:latin typeface="Meiryo UI" panose="020B0604030504040204" pitchFamily="50" charset="-128"/>
              <a:ea typeface="Meiryo UI" panose="020B0604030504040204" pitchFamily="50" charset="-128"/>
              <a:cs typeface="Times New Roman" panose="02020603050405020304" pitchFamily="18" charset="0"/>
            </a:endParaRPr>
          </a:p>
          <a:p>
            <a:pPr marL="942960" lvl="1" indent="-333375" algn="just"/>
            <a:r>
              <a:rPr lang="ja-JP" altLang="ja-JP" kern="100" dirty="0">
                <a:effectLst/>
                <a:latin typeface="Meiryo UI" panose="020B0604030504040204" pitchFamily="50" charset="-128"/>
                <a:ea typeface="Meiryo UI" panose="020B0604030504040204" pitchFamily="50" charset="-128"/>
                <a:cs typeface="Times New Roman" panose="02020603050405020304" pitchFamily="18" charset="0"/>
              </a:rPr>
              <a:t>読み書きが極めて高速</a:t>
            </a:r>
            <a:r>
              <a:rPr lang="ja-JP" altLang="en-US" kern="100" dirty="0">
                <a:effectLst/>
                <a:latin typeface="Meiryo UI" panose="020B0604030504040204" pitchFamily="50" charset="-128"/>
                <a:ea typeface="Meiryo UI" panose="020B0604030504040204" pitchFamily="50" charset="-128"/>
                <a:cs typeface="Times New Roman" panose="02020603050405020304" pitchFamily="18" charset="0"/>
              </a:rPr>
              <a:t>。</a:t>
            </a:r>
            <a:endParaRPr lang="en-US" altLang="ja-JP" kern="100" dirty="0">
              <a:effectLst/>
              <a:latin typeface="Meiryo UI" panose="020B0604030504040204" pitchFamily="50" charset="-128"/>
              <a:ea typeface="Meiryo UI" panose="020B0604030504040204" pitchFamily="50" charset="-128"/>
              <a:cs typeface="Times New Roman" panose="02020603050405020304" pitchFamily="18" charset="0"/>
            </a:endParaRPr>
          </a:p>
        </p:txBody>
      </p:sp>
      <p:sp>
        <p:nvSpPr>
          <p:cNvPr id="2" name="Google Shape;166;p18">
            <a:extLst>
              <a:ext uri="{FF2B5EF4-FFF2-40B4-BE49-F238E27FC236}">
                <a16:creationId xmlns:a16="http://schemas.microsoft.com/office/drawing/2014/main" id="{812CCA21-3C14-B4FF-38F4-F75B458CFBE0}"/>
              </a:ext>
            </a:extLst>
          </p:cNvPr>
          <p:cNvSpPr txBox="1"/>
          <p:nvPr/>
        </p:nvSpPr>
        <p:spPr>
          <a:xfrm>
            <a:off x="972600" y="70434"/>
            <a:ext cx="78666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人間計算可能の定義</a:t>
            </a:r>
            <a:endParaRPr sz="4400" dirty="0">
              <a:solidFill>
                <a:schemeClr val="accent1"/>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sp>
        <p:nvSpPr>
          <p:cNvPr id="349" name="Google Shape;349;p43"/>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26</a:t>
            </a:fld>
            <a:endParaRPr/>
          </a:p>
        </p:txBody>
      </p:sp>
      <p:sp>
        <p:nvSpPr>
          <p:cNvPr id="350" name="Google Shape;350;p43"/>
          <p:cNvSpPr txBox="1">
            <a:spLocks noGrp="1"/>
          </p:cNvSpPr>
          <p:nvPr>
            <p:ph type="body" idx="1"/>
          </p:nvPr>
        </p:nvSpPr>
        <p:spPr>
          <a:xfrm>
            <a:off x="970200" y="1344575"/>
            <a:ext cx="10251600" cy="4988560"/>
          </a:xfrm>
          <a:prstGeom prst="rect">
            <a:avLst/>
          </a:prstGeom>
        </p:spPr>
        <p:txBody>
          <a:bodyPr spcFirstLastPara="1" vert="horz" wrap="square" lIns="121900" tIns="121900" rIns="121900" bIns="121900" rtlCol="0" anchor="t" anchorCtr="0">
            <a:noAutofit/>
          </a:bodyPr>
          <a:lstStyle/>
          <a:p>
            <a:pPr marL="177796" indent="0">
              <a:buSzPts val="1500"/>
              <a:buNone/>
            </a:pPr>
            <a:r>
              <a:rPr lang="en-US" altLang="ja-JP" sz="2400" b="1" dirty="0"/>
              <a:t>Ⅱ</a:t>
            </a:r>
            <a:r>
              <a:rPr lang="ja-JP" altLang="en-US" sz="2400" b="1" dirty="0"/>
              <a:t>　人間計算可能であるための条件：</a:t>
            </a:r>
            <a:endParaRPr lang="en-US" altLang="ja-JP" sz="2400" b="1" dirty="0"/>
          </a:p>
          <a:p>
            <a:pPr indent="-431789">
              <a:buSzPts val="1500"/>
            </a:pPr>
            <a:endParaRPr sz="2400" dirty="0"/>
          </a:p>
          <a:p>
            <a:pPr indent="-431789">
              <a:buSzPts val="1500"/>
            </a:pPr>
            <a:r>
              <a:rPr lang="en-US" altLang="ja" sz="2400" b="1" dirty="0"/>
              <a:t>PRPE</a:t>
            </a:r>
            <a:r>
              <a:rPr lang="en-US" altLang="ja" sz="2400" dirty="0"/>
              <a:t>(=COM + MEM): </a:t>
            </a:r>
            <a:r>
              <a:rPr lang="ja" altLang="en-US" sz="2400" dirty="0"/>
              <a:t>スキーマの学習に必要な時間</a:t>
            </a:r>
            <a:endParaRPr sz="2400" dirty="0"/>
          </a:p>
          <a:p>
            <a:pPr lvl="1" indent="-431789">
              <a:buSzPts val="1500"/>
            </a:pPr>
            <a:r>
              <a:rPr lang="en-US" altLang="ja" b="1" dirty="0"/>
              <a:t>COM</a:t>
            </a:r>
            <a:r>
              <a:rPr lang="en-US" altLang="ja" dirty="0"/>
              <a:t>: </a:t>
            </a:r>
            <a:r>
              <a:rPr lang="ja" altLang="en-US" dirty="0"/>
              <a:t>スキーマの学習に必要な時間</a:t>
            </a:r>
            <a:endParaRPr dirty="0"/>
          </a:p>
          <a:p>
            <a:pPr lvl="1" indent="-431789">
              <a:buSzPts val="1500"/>
            </a:pPr>
            <a:r>
              <a:rPr lang="en-US" altLang="ja" b="1" dirty="0"/>
              <a:t>MEM</a:t>
            </a:r>
            <a:r>
              <a:rPr lang="en-US" altLang="ja" dirty="0"/>
              <a:t>: </a:t>
            </a:r>
            <a:r>
              <a:rPr lang="ja" altLang="en-US" dirty="0"/>
              <a:t>スキーマに紐付く秘密鍵の生成</a:t>
            </a:r>
            <a:r>
              <a:rPr lang="ja-JP" altLang="en-US" dirty="0"/>
              <a:t>／</a:t>
            </a:r>
            <a:r>
              <a:rPr lang="ja" altLang="en-US" dirty="0"/>
              <a:t>記憶、リハーサルに必要な時間</a:t>
            </a:r>
            <a:endParaRPr lang="en-US" altLang="ja" dirty="0"/>
          </a:p>
          <a:p>
            <a:pPr lvl="1" indent="-431789">
              <a:buSzPts val="1500"/>
            </a:pPr>
            <a:endParaRPr dirty="0"/>
          </a:p>
          <a:p>
            <a:pPr indent="-431789">
              <a:buSzPts val="1500"/>
            </a:pPr>
            <a:r>
              <a:rPr lang="en-US" altLang="ja" sz="2400" b="1" dirty="0"/>
              <a:t>PROC</a:t>
            </a:r>
            <a:r>
              <a:rPr lang="en-US" altLang="ja" sz="2400" dirty="0"/>
              <a:t>: </a:t>
            </a:r>
            <a:r>
              <a:rPr lang="ja" altLang="en-US" sz="2400" dirty="0"/>
              <a:t>記憶したスキーマと秘密鍵を用いて、実際に認証を行うのに必要な時間</a:t>
            </a:r>
            <a:endParaRPr lang="en-US" altLang="ja" sz="2400" dirty="0"/>
          </a:p>
          <a:p>
            <a:pPr indent="-431789">
              <a:buSzPts val="1500"/>
            </a:pPr>
            <a:endParaRPr sz="2400" dirty="0"/>
          </a:p>
          <a:p>
            <a:pPr indent="-431789">
              <a:buSzPts val="1500"/>
            </a:pPr>
            <a:r>
              <a:rPr lang="ja" altLang="en-US" sz="2400" dirty="0"/>
              <a:t>人間計算可能であるための時間的条件</a:t>
            </a:r>
            <a:endParaRPr sz="2400" dirty="0"/>
          </a:p>
          <a:p>
            <a:pPr lvl="1" indent="-431789">
              <a:buClr>
                <a:srgbClr val="FF0000"/>
              </a:buClr>
              <a:buSzPts val="1500"/>
            </a:pPr>
            <a:r>
              <a:rPr lang="en-US" altLang="ja" dirty="0">
                <a:solidFill>
                  <a:srgbClr val="FF0000"/>
                </a:solidFill>
              </a:rPr>
              <a:t>COMM &lt; 10min</a:t>
            </a:r>
            <a:endParaRPr dirty="0">
              <a:solidFill>
                <a:srgbClr val="FF0000"/>
              </a:solidFill>
            </a:endParaRPr>
          </a:p>
          <a:p>
            <a:pPr lvl="1" indent="-431789">
              <a:buClr>
                <a:srgbClr val="FF0000"/>
              </a:buClr>
              <a:buSzPts val="1500"/>
            </a:pPr>
            <a:r>
              <a:rPr lang="en-US" altLang="ja" dirty="0">
                <a:solidFill>
                  <a:srgbClr val="FF0000"/>
                </a:solidFill>
              </a:rPr>
              <a:t>MEM &lt; 2h</a:t>
            </a:r>
            <a:endParaRPr dirty="0">
              <a:solidFill>
                <a:srgbClr val="FF0000"/>
              </a:solidFill>
            </a:endParaRPr>
          </a:p>
          <a:p>
            <a:pPr lvl="1" indent="-431789">
              <a:buClr>
                <a:srgbClr val="FF0000"/>
              </a:buClr>
              <a:buSzPts val="1500"/>
            </a:pPr>
            <a:r>
              <a:rPr lang="en-US" altLang="ja" dirty="0">
                <a:solidFill>
                  <a:srgbClr val="FF0000"/>
                </a:solidFill>
              </a:rPr>
              <a:t>PROC &lt; 1min</a:t>
            </a:r>
          </a:p>
          <a:p>
            <a:pPr lvl="1" indent="-431789">
              <a:buClr>
                <a:srgbClr val="FF0000"/>
              </a:buClr>
              <a:buSzPts val="1500"/>
            </a:pPr>
            <a:endParaRPr lang="en-US" dirty="0">
              <a:solidFill>
                <a:srgbClr val="FF0000"/>
              </a:solidFill>
            </a:endParaRPr>
          </a:p>
        </p:txBody>
      </p:sp>
      <p:sp>
        <p:nvSpPr>
          <p:cNvPr id="2" name="Google Shape;166;p18">
            <a:extLst>
              <a:ext uri="{FF2B5EF4-FFF2-40B4-BE49-F238E27FC236}">
                <a16:creationId xmlns:a16="http://schemas.microsoft.com/office/drawing/2014/main" id="{812CCA21-3C14-B4FF-38F4-F75B458CFBE0}"/>
              </a:ext>
            </a:extLst>
          </p:cNvPr>
          <p:cNvSpPr txBox="1"/>
          <p:nvPr/>
        </p:nvSpPr>
        <p:spPr>
          <a:xfrm>
            <a:off x="972600" y="70434"/>
            <a:ext cx="78666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人間計算可能の定義</a:t>
            </a:r>
            <a:endParaRPr sz="4400" dirty="0">
              <a:solidFill>
                <a:schemeClr val="accent1"/>
              </a:solidFill>
              <a:latin typeface="Lato"/>
              <a:ea typeface="Lato"/>
              <a:cs typeface="Lato"/>
              <a:sym typeface="Lato"/>
            </a:endParaRPr>
          </a:p>
        </p:txBody>
      </p:sp>
    </p:spTree>
    <p:extLst>
      <p:ext uri="{BB962C8B-B14F-4D97-AF65-F5344CB8AC3E}">
        <p14:creationId xmlns:p14="http://schemas.microsoft.com/office/powerpoint/2010/main" val="134612774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4" name="Google Shape;404;p49"/>
          <p:cNvSpPr txBox="1">
            <a:spLocks noGrp="1"/>
          </p:cNvSpPr>
          <p:nvPr>
            <p:ph type="body" idx="1"/>
          </p:nvPr>
        </p:nvSpPr>
        <p:spPr>
          <a:xfrm>
            <a:off x="970200" y="1773467"/>
            <a:ext cx="10251600" cy="5122000"/>
          </a:xfrm>
          <a:prstGeom prst="rect">
            <a:avLst/>
          </a:prstGeom>
        </p:spPr>
        <p:txBody>
          <a:bodyPr spcFirstLastPara="1" vert="horz" wrap="square" lIns="121900" tIns="121900" rIns="121900" bIns="121900" rtlCol="0" anchor="t" anchorCtr="0">
            <a:normAutofit/>
          </a:bodyPr>
          <a:lstStyle/>
          <a:p>
            <a:pPr indent="-448722">
              <a:buSzPts val="1700"/>
            </a:pPr>
            <a:r>
              <a:rPr lang="ja" altLang="en-US" sz="2267" b="1" dirty="0"/>
              <a:t>マッピング関数</a:t>
            </a:r>
            <a:r>
              <a:rPr lang="en-US" altLang="ja" sz="2267" b="1" dirty="0"/>
              <a:t>σ</a:t>
            </a:r>
            <a:r>
              <a:rPr lang="ja-JP" altLang="en-US" sz="2267" b="1" dirty="0"/>
              <a:t>：</a:t>
            </a:r>
            <a:endParaRPr sz="2267" b="1" dirty="0"/>
          </a:p>
          <a:p>
            <a:pPr lvl="1" indent="-448722">
              <a:buSzPts val="1700"/>
            </a:pPr>
            <a:r>
              <a:rPr lang="ja" altLang="en-US" sz="2267" dirty="0"/>
              <a:t>乱数を用いて定義</a:t>
            </a:r>
            <a:endParaRPr sz="2267" dirty="0"/>
          </a:p>
          <a:p>
            <a:pPr marL="0" indent="0">
              <a:spcBef>
                <a:spcPts val="1600"/>
              </a:spcBef>
              <a:buNone/>
            </a:pPr>
            <a:endParaRPr sz="2267" dirty="0"/>
          </a:p>
          <a:p>
            <a:pPr marL="0" indent="0">
              <a:spcBef>
                <a:spcPts val="1600"/>
              </a:spcBef>
              <a:buNone/>
            </a:pPr>
            <a:endParaRPr lang="en-US" sz="2267" dirty="0"/>
          </a:p>
          <a:p>
            <a:pPr marL="0" indent="0">
              <a:spcBef>
                <a:spcPts val="1600"/>
              </a:spcBef>
              <a:buNone/>
            </a:pPr>
            <a:endParaRPr sz="2267" dirty="0"/>
          </a:p>
          <a:p>
            <a:pPr indent="-448722">
              <a:spcBef>
                <a:spcPts val="1600"/>
              </a:spcBef>
              <a:buSzPts val="1700"/>
            </a:pPr>
            <a:r>
              <a:rPr lang="ja" altLang="en-US" sz="2267" b="1" dirty="0"/>
              <a:t>データセット</a:t>
            </a:r>
            <a:r>
              <a:rPr lang="ja-JP" altLang="en-US" sz="2267" b="1" dirty="0"/>
              <a:t>：</a:t>
            </a:r>
            <a:endParaRPr sz="2267" b="1" dirty="0"/>
          </a:p>
          <a:p>
            <a:pPr lvl="1" indent="-448722">
              <a:buSzPts val="1700"/>
            </a:pPr>
            <a:r>
              <a:rPr lang="ja" altLang="en-US" sz="2267" dirty="0"/>
              <a:t>入力</a:t>
            </a:r>
            <a:r>
              <a:rPr lang="en-US" altLang="ja" sz="2267" dirty="0"/>
              <a:t>: </a:t>
            </a:r>
            <a:r>
              <a:rPr lang="ja" altLang="en-US" sz="2267" dirty="0"/>
              <a:t>画像番号</a:t>
            </a:r>
            <a:endParaRPr sz="2267" dirty="0"/>
          </a:p>
          <a:p>
            <a:pPr lvl="1" indent="-448722">
              <a:buSzPts val="1700"/>
            </a:pPr>
            <a:r>
              <a:rPr lang="ja" altLang="en-US" sz="2267" dirty="0"/>
              <a:t>出力</a:t>
            </a:r>
            <a:r>
              <a:rPr lang="en-US" altLang="ja" sz="2267" dirty="0"/>
              <a:t>: </a:t>
            </a:r>
            <a:r>
              <a:rPr lang="ja" altLang="en-US" sz="2267" dirty="0"/>
              <a:t>一桁の数値</a:t>
            </a:r>
            <a:r>
              <a:rPr lang="en-US" altLang="ja" sz="2267" dirty="0"/>
              <a:t>(</a:t>
            </a:r>
            <a:r>
              <a:rPr lang="ja" altLang="en-US" sz="2267" dirty="0"/>
              <a:t>関数</a:t>
            </a:r>
            <a:r>
              <a:rPr lang="en-US" altLang="ja" sz="2267" dirty="0"/>
              <a:t>f</a:t>
            </a:r>
            <a:r>
              <a:rPr lang="ja" altLang="en-US" sz="2267" dirty="0"/>
              <a:t>の答え</a:t>
            </a:r>
            <a:r>
              <a:rPr lang="en-US" altLang="ja" sz="2267" dirty="0"/>
              <a:t>)</a:t>
            </a:r>
            <a:endParaRPr sz="2267" dirty="0"/>
          </a:p>
          <a:p>
            <a:pPr marL="0" indent="0">
              <a:spcBef>
                <a:spcPts val="1600"/>
              </a:spcBef>
              <a:buNone/>
            </a:pPr>
            <a:endParaRPr sz="2267" dirty="0"/>
          </a:p>
          <a:p>
            <a:pPr marL="0" indent="0">
              <a:spcBef>
                <a:spcPts val="1600"/>
              </a:spcBef>
              <a:spcAft>
                <a:spcPts val="1600"/>
              </a:spcAft>
              <a:buNone/>
            </a:pPr>
            <a:endParaRPr sz="2267" dirty="0"/>
          </a:p>
        </p:txBody>
      </p:sp>
      <p:sp>
        <p:nvSpPr>
          <p:cNvPr id="405" name="Google Shape;405;p49"/>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27</a:t>
            </a:fld>
            <a:endParaRPr/>
          </a:p>
        </p:txBody>
      </p:sp>
      <p:graphicFrame>
        <p:nvGraphicFramePr>
          <p:cNvPr id="407" name="Google Shape;407;p49"/>
          <p:cNvGraphicFramePr/>
          <p:nvPr>
            <p:extLst>
              <p:ext uri="{D42A27DB-BD31-4B8C-83A1-F6EECF244321}">
                <p14:modId xmlns:p14="http://schemas.microsoft.com/office/powerpoint/2010/main" val="3451259442"/>
              </p:ext>
            </p:extLst>
          </p:nvPr>
        </p:nvGraphicFramePr>
        <p:xfrm>
          <a:off x="1189749" y="2706642"/>
          <a:ext cx="9812501" cy="975388"/>
        </p:xfrm>
        <a:graphic>
          <a:graphicData uri="http://schemas.openxmlformats.org/drawingml/2006/table">
            <a:tbl>
              <a:tblPr firstRow="1" bandRow="1">
                <a:noFill/>
              </a:tblPr>
              <a:tblGrid>
                <a:gridCol w="570033">
                  <a:extLst>
                    <a:ext uri="{9D8B030D-6E8A-4147-A177-3AD203B41FA5}">
                      <a16:colId xmlns:a16="http://schemas.microsoft.com/office/drawing/2014/main" val="20000"/>
                    </a:ext>
                  </a:extLst>
                </a:gridCol>
                <a:gridCol w="1621800">
                  <a:extLst>
                    <a:ext uri="{9D8B030D-6E8A-4147-A177-3AD203B41FA5}">
                      <a16:colId xmlns:a16="http://schemas.microsoft.com/office/drawing/2014/main" val="20001"/>
                    </a:ext>
                  </a:extLst>
                </a:gridCol>
                <a:gridCol w="1487833">
                  <a:extLst>
                    <a:ext uri="{9D8B030D-6E8A-4147-A177-3AD203B41FA5}">
                      <a16:colId xmlns:a16="http://schemas.microsoft.com/office/drawing/2014/main" val="20002"/>
                    </a:ext>
                  </a:extLst>
                </a:gridCol>
                <a:gridCol w="1226567">
                  <a:extLst>
                    <a:ext uri="{9D8B030D-6E8A-4147-A177-3AD203B41FA5}">
                      <a16:colId xmlns:a16="http://schemas.microsoft.com/office/drawing/2014/main" val="20003"/>
                    </a:ext>
                  </a:extLst>
                </a:gridCol>
                <a:gridCol w="1226567">
                  <a:extLst>
                    <a:ext uri="{9D8B030D-6E8A-4147-A177-3AD203B41FA5}">
                      <a16:colId xmlns:a16="http://schemas.microsoft.com/office/drawing/2014/main" val="20004"/>
                    </a:ext>
                  </a:extLst>
                </a:gridCol>
                <a:gridCol w="1226567">
                  <a:extLst>
                    <a:ext uri="{9D8B030D-6E8A-4147-A177-3AD203B41FA5}">
                      <a16:colId xmlns:a16="http://schemas.microsoft.com/office/drawing/2014/main" val="20005"/>
                    </a:ext>
                  </a:extLst>
                </a:gridCol>
                <a:gridCol w="1226567">
                  <a:extLst>
                    <a:ext uri="{9D8B030D-6E8A-4147-A177-3AD203B41FA5}">
                      <a16:colId xmlns:a16="http://schemas.microsoft.com/office/drawing/2014/main" val="20006"/>
                    </a:ext>
                  </a:extLst>
                </a:gridCol>
                <a:gridCol w="1226567">
                  <a:extLst>
                    <a:ext uri="{9D8B030D-6E8A-4147-A177-3AD203B41FA5}">
                      <a16:colId xmlns:a16="http://schemas.microsoft.com/office/drawing/2014/main" val="20007"/>
                    </a:ext>
                  </a:extLst>
                </a:gridCol>
              </a:tblGrid>
              <a:tr h="487693">
                <a:tc>
                  <a:txBody>
                    <a:bodyPr/>
                    <a:lstStyle/>
                    <a:p>
                      <a:pPr marL="0" marR="0" lvl="0" indent="0" algn="l" rtl="0">
                        <a:spcBef>
                          <a:spcPts val="0"/>
                        </a:spcBef>
                        <a:spcAft>
                          <a:spcPts val="0"/>
                        </a:spcAft>
                        <a:buNone/>
                      </a:pPr>
                      <a:r>
                        <a:rPr lang="ja" sz="2400"/>
                        <a:t>i</a:t>
                      </a:r>
                      <a:endParaRPr sz="2400"/>
                    </a:p>
                  </a:txBody>
                  <a:tcPr marL="121933" marR="121933" marT="60967" marB="60967" anchor="ctr"/>
                </a:tc>
                <a:tc>
                  <a:txBody>
                    <a:bodyPr/>
                    <a:lstStyle/>
                    <a:p>
                      <a:pPr marL="0" marR="0" lvl="0" indent="0" algn="ctr" rtl="0">
                        <a:spcBef>
                          <a:spcPts val="0"/>
                        </a:spcBef>
                        <a:spcAft>
                          <a:spcPts val="0"/>
                        </a:spcAft>
                        <a:buNone/>
                      </a:pPr>
                      <a:r>
                        <a:rPr lang="ja" sz="2400" b="0"/>
                        <a:t>0</a:t>
                      </a:r>
                      <a:endParaRPr sz="2400" b="0"/>
                    </a:p>
                  </a:txBody>
                  <a:tcPr marL="121933" marR="121933" marT="60967" marB="60967" anchor="ctr"/>
                </a:tc>
                <a:tc>
                  <a:txBody>
                    <a:bodyPr/>
                    <a:lstStyle/>
                    <a:p>
                      <a:pPr marL="0" marR="0" lvl="0" indent="0" algn="ctr" rtl="0">
                        <a:spcBef>
                          <a:spcPts val="0"/>
                        </a:spcBef>
                        <a:spcAft>
                          <a:spcPts val="0"/>
                        </a:spcAft>
                        <a:buNone/>
                      </a:pPr>
                      <a:r>
                        <a:rPr lang="ja" sz="2400" b="0"/>
                        <a:t>1</a:t>
                      </a:r>
                      <a:endParaRPr sz="2400" b="0"/>
                    </a:p>
                  </a:txBody>
                  <a:tcPr marL="121933" marR="121933" marT="60967" marB="60967" anchor="ctr"/>
                </a:tc>
                <a:tc>
                  <a:txBody>
                    <a:bodyPr/>
                    <a:lstStyle/>
                    <a:p>
                      <a:pPr marL="0" marR="0" lvl="0" indent="0" algn="ctr" rtl="0">
                        <a:spcBef>
                          <a:spcPts val="0"/>
                        </a:spcBef>
                        <a:spcAft>
                          <a:spcPts val="0"/>
                        </a:spcAft>
                        <a:buNone/>
                      </a:pPr>
                      <a:r>
                        <a:rPr lang="ja" sz="2400" b="0"/>
                        <a:t>2</a:t>
                      </a:r>
                      <a:endParaRPr sz="2400" b="0"/>
                    </a:p>
                  </a:txBody>
                  <a:tcPr marL="121933" marR="121933" marT="60967" marB="60967" anchor="ctr"/>
                </a:tc>
                <a:tc>
                  <a:txBody>
                    <a:bodyPr/>
                    <a:lstStyle/>
                    <a:p>
                      <a:pPr marL="0" marR="0" lvl="0" indent="0" algn="ctr" rtl="0">
                        <a:spcBef>
                          <a:spcPts val="0"/>
                        </a:spcBef>
                        <a:spcAft>
                          <a:spcPts val="0"/>
                        </a:spcAft>
                        <a:buNone/>
                      </a:pPr>
                      <a:r>
                        <a:rPr lang="ja" sz="2400" b="0"/>
                        <a:t>3</a:t>
                      </a:r>
                      <a:endParaRPr sz="2400" b="0"/>
                    </a:p>
                  </a:txBody>
                  <a:tcPr marL="121933" marR="121933" marT="60967" marB="60967" anchor="ctr"/>
                </a:tc>
                <a:tc>
                  <a:txBody>
                    <a:bodyPr/>
                    <a:lstStyle/>
                    <a:p>
                      <a:pPr marL="0" marR="0" lvl="0" indent="0" algn="ctr" rtl="0">
                        <a:spcBef>
                          <a:spcPts val="0"/>
                        </a:spcBef>
                        <a:spcAft>
                          <a:spcPts val="0"/>
                        </a:spcAft>
                        <a:buNone/>
                      </a:pPr>
                      <a:r>
                        <a:rPr lang="ja" sz="2400" b="0"/>
                        <a:t>…</a:t>
                      </a:r>
                      <a:endParaRPr sz="2400" b="0"/>
                    </a:p>
                  </a:txBody>
                  <a:tcPr marL="121933" marR="121933" marT="60967" marB="60967" anchor="ctr"/>
                </a:tc>
                <a:tc>
                  <a:txBody>
                    <a:bodyPr/>
                    <a:lstStyle/>
                    <a:p>
                      <a:pPr marL="0" marR="0" lvl="0" indent="0" algn="ctr" rtl="0">
                        <a:spcBef>
                          <a:spcPts val="0"/>
                        </a:spcBef>
                        <a:spcAft>
                          <a:spcPts val="0"/>
                        </a:spcAft>
                        <a:buNone/>
                      </a:pPr>
                      <a:r>
                        <a:rPr lang="ja" sz="2400" b="0"/>
                        <a:t>n-1</a:t>
                      </a:r>
                      <a:endParaRPr sz="2400" b="0"/>
                    </a:p>
                  </a:txBody>
                  <a:tcPr marL="121933" marR="121933" marT="60967" marB="60967" anchor="ctr"/>
                </a:tc>
                <a:tc>
                  <a:txBody>
                    <a:bodyPr/>
                    <a:lstStyle/>
                    <a:p>
                      <a:pPr marL="0" marR="0" lvl="0" indent="0" algn="ctr" rtl="0">
                        <a:spcBef>
                          <a:spcPts val="0"/>
                        </a:spcBef>
                        <a:spcAft>
                          <a:spcPts val="0"/>
                        </a:spcAft>
                        <a:buNone/>
                      </a:pPr>
                      <a:r>
                        <a:rPr lang="ja" sz="2400" b="0"/>
                        <a:t>n</a:t>
                      </a:r>
                      <a:endParaRPr sz="2400" b="0"/>
                    </a:p>
                  </a:txBody>
                  <a:tcPr marL="121933" marR="121933" marT="60967" marB="60967" anchor="ctr"/>
                </a:tc>
                <a:extLst>
                  <a:ext uri="{0D108BD9-81ED-4DB2-BD59-A6C34878D82A}">
                    <a16:rowId xmlns:a16="http://schemas.microsoft.com/office/drawing/2014/main" val="10000"/>
                  </a:ext>
                </a:extLst>
              </a:tr>
              <a:tr h="487693">
                <a:tc>
                  <a:txBody>
                    <a:bodyPr/>
                    <a:lstStyle/>
                    <a:p>
                      <a:pPr marL="0" marR="0" lvl="0" indent="0" algn="l" rtl="0">
                        <a:spcBef>
                          <a:spcPts val="0"/>
                        </a:spcBef>
                        <a:spcAft>
                          <a:spcPts val="0"/>
                        </a:spcAft>
                        <a:buNone/>
                      </a:pPr>
                      <a:r>
                        <a:rPr lang="ja" sz="2400"/>
                        <a:t>σ</a:t>
                      </a:r>
                      <a:endParaRPr sz="2400"/>
                    </a:p>
                  </a:txBody>
                  <a:tcPr marL="121933" marR="121933" marT="60967" marB="60967" anchor="ctr"/>
                </a:tc>
                <a:tc>
                  <a:txBody>
                    <a:bodyPr/>
                    <a:lstStyle/>
                    <a:p>
                      <a:pPr marL="0" marR="0" lvl="0" indent="0" algn="ctr" rtl="0">
                        <a:spcBef>
                          <a:spcPts val="0"/>
                        </a:spcBef>
                        <a:spcAft>
                          <a:spcPts val="0"/>
                        </a:spcAft>
                        <a:buNone/>
                      </a:pPr>
                      <a:r>
                        <a:rPr lang="ja" sz="2400"/>
                        <a:t>1</a:t>
                      </a:r>
                      <a:endParaRPr sz="2400" b="0"/>
                    </a:p>
                  </a:txBody>
                  <a:tcPr marL="121933" marR="121933" marT="60967" marB="60967" anchor="ctr"/>
                </a:tc>
                <a:tc>
                  <a:txBody>
                    <a:bodyPr/>
                    <a:lstStyle/>
                    <a:p>
                      <a:pPr marL="0" marR="0" lvl="0" indent="0" algn="ctr" rtl="0">
                        <a:spcBef>
                          <a:spcPts val="0"/>
                        </a:spcBef>
                        <a:spcAft>
                          <a:spcPts val="0"/>
                        </a:spcAft>
                        <a:buNone/>
                      </a:pPr>
                      <a:r>
                        <a:rPr lang="ja" sz="2400" b="0"/>
                        <a:t>3</a:t>
                      </a:r>
                      <a:endParaRPr sz="2400" b="0"/>
                    </a:p>
                  </a:txBody>
                  <a:tcPr marL="121933" marR="121933" marT="60967" marB="60967" anchor="ctr"/>
                </a:tc>
                <a:tc>
                  <a:txBody>
                    <a:bodyPr/>
                    <a:lstStyle/>
                    <a:p>
                      <a:pPr marL="0" marR="0" lvl="0" indent="0" algn="ctr" rtl="0">
                        <a:spcBef>
                          <a:spcPts val="0"/>
                        </a:spcBef>
                        <a:spcAft>
                          <a:spcPts val="0"/>
                        </a:spcAft>
                        <a:buNone/>
                      </a:pPr>
                      <a:r>
                        <a:rPr lang="ja" sz="2400"/>
                        <a:t>9</a:t>
                      </a:r>
                      <a:endParaRPr sz="2400" b="0"/>
                    </a:p>
                  </a:txBody>
                  <a:tcPr marL="121933" marR="121933" marT="60967" marB="60967" anchor="ctr"/>
                </a:tc>
                <a:tc>
                  <a:txBody>
                    <a:bodyPr/>
                    <a:lstStyle/>
                    <a:p>
                      <a:pPr marL="0" marR="0" lvl="0" indent="0" algn="ctr" rtl="0">
                        <a:spcBef>
                          <a:spcPts val="0"/>
                        </a:spcBef>
                        <a:spcAft>
                          <a:spcPts val="0"/>
                        </a:spcAft>
                        <a:buNone/>
                      </a:pPr>
                      <a:r>
                        <a:rPr lang="ja" sz="2400"/>
                        <a:t>6</a:t>
                      </a:r>
                      <a:endParaRPr sz="2400" b="0"/>
                    </a:p>
                  </a:txBody>
                  <a:tcPr marL="121933" marR="121933" marT="60967" marB="60967" anchor="ctr"/>
                </a:tc>
                <a:tc>
                  <a:txBody>
                    <a:bodyPr/>
                    <a:lstStyle/>
                    <a:p>
                      <a:pPr marL="0" marR="0" lvl="0" indent="0" algn="ctr" rtl="0">
                        <a:spcBef>
                          <a:spcPts val="0"/>
                        </a:spcBef>
                        <a:spcAft>
                          <a:spcPts val="0"/>
                        </a:spcAft>
                        <a:buNone/>
                      </a:pPr>
                      <a:r>
                        <a:rPr lang="ja" sz="2400" b="0"/>
                        <a:t>…</a:t>
                      </a:r>
                      <a:endParaRPr sz="2400" b="0"/>
                    </a:p>
                  </a:txBody>
                  <a:tcPr marL="121933" marR="121933" marT="60967" marB="60967" anchor="ctr"/>
                </a:tc>
                <a:tc>
                  <a:txBody>
                    <a:bodyPr/>
                    <a:lstStyle/>
                    <a:p>
                      <a:pPr marL="0" marR="0" lvl="0" indent="0" algn="ctr" rtl="0">
                        <a:spcBef>
                          <a:spcPts val="0"/>
                        </a:spcBef>
                        <a:spcAft>
                          <a:spcPts val="0"/>
                        </a:spcAft>
                        <a:buNone/>
                      </a:pPr>
                      <a:r>
                        <a:rPr lang="ja" sz="2400"/>
                        <a:t>2</a:t>
                      </a:r>
                      <a:endParaRPr sz="2400" b="0"/>
                    </a:p>
                  </a:txBody>
                  <a:tcPr marL="121933" marR="121933" marT="60967" marB="60967" anchor="ctr"/>
                </a:tc>
                <a:tc>
                  <a:txBody>
                    <a:bodyPr/>
                    <a:lstStyle/>
                    <a:p>
                      <a:pPr marL="0" marR="0" lvl="0" indent="0" algn="ctr" rtl="0">
                        <a:spcBef>
                          <a:spcPts val="0"/>
                        </a:spcBef>
                        <a:spcAft>
                          <a:spcPts val="0"/>
                        </a:spcAft>
                        <a:buNone/>
                      </a:pPr>
                      <a:r>
                        <a:rPr lang="ja" sz="2400" dirty="0"/>
                        <a:t>6</a:t>
                      </a:r>
                      <a:endParaRPr sz="2400" b="0" dirty="0"/>
                    </a:p>
                  </a:txBody>
                  <a:tcPr marL="121933" marR="121933" marT="60967" marB="60967" anchor="ctr"/>
                </a:tc>
                <a:extLst>
                  <a:ext uri="{0D108BD9-81ED-4DB2-BD59-A6C34878D82A}">
                    <a16:rowId xmlns:a16="http://schemas.microsoft.com/office/drawing/2014/main" val="10001"/>
                  </a:ext>
                </a:extLst>
              </a:tr>
            </a:tbl>
          </a:graphicData>
        </a:graphic>
      </p:graphicFrame>
      <p:graphicFrame>
        <p:nvGraphicFramePr>
          <p:cNvPr id="408" name="Google Shape;408;p49"/>
          <p:cNvGraphicFramePr/>
          <p:nvPr/>
        </p:nvGraphicFramePr>
        <p:xfrm>
          <a:off x="188432" y="5394949"/>
          <a:ext cx="11815138" cy="975388"/>
        </p:xfrm>
        <a:graphic>
          <a:graphicData uri="http://schemas.openxmlformats.org/drawingml/2006/table">
            <a:tbl>
              <a:tblPr firstRow="1" bandRow="1">
                <a:noFill/>
              </a:tblPr>
              <a:tblGrid>
                <a:gridCol w="772400">
                  <a:extLst>
                    <a:ext uri="{9D8B030D-6E8A-4147-A177-3AD203B41FA5}">
                      <a16:colId xmlns:a16="http://schemas.microsoft.com/office/drawing/2014/main" val="20000"/>
                    </a:ext>
                  </a:extLst>
                </a:gridCol>
                <a:gridCol w="788767">
                  <a:extLst>
                    <a:ext uri="{9D8B030D-6E8A-4147-A177-3AD203B41FA5}">
                      <a16:colId xmlns:a16="http://schemas.microsoft.com/office/drawing/2014/main" val="20001"/>
                    </a:ext>
                  </a:extLst>
                </a:gridCol>
                <a:gridCol w="788767">
                  <a:extLst>
                    <a:ext uri="{9D8B030D-6E8A-4147-A177-3AD203B41FA5}">
                      <a16:colId xmlns:a16="http://schemas.microsoft.com/office/drawing/2014/main" val="20002"/>
                    </a:ext>
                  </a:extLst>
                </a:gridCol>
                <a:gridCol w="788767">
                  <a:extLst>
                    <a:ext uri="{9D8B030D-6E8A-4147-A177-3AD203B41FA5}">
                      <a16:colId xmlns:a16="http://schemas.microsoft.com/office/drawing/2014/main" val="20003"/>
                    </a:ext>
                  </a:extLst>
                </a:gridCol>
                <a:gridCol w="788767">
                  <a:extLst>
                    <a:ext uri="{9D8B030D-6E8A-4147-A177-3AD203B41FA5}">
                      <a16:colId xmlns:a16="http://schemas.microsoft.com/office/drawing/2014/main" val="20004"/>
                    </a:ext>
                  </a:extLst>
                </a:gridCol>
                <a:gridCol w="788767">
                  <a:extLst>
                    <a:ext uri="{9D8B030D-6E8A-4147-A177-3AD203B41FA5}">
                      <a16:colId xmlns:a16="http://schemas.microsoft.com/office/drawing/2014/main" val="20005"/>
                    </a:ext>
                  </a:extLst>
                </a:gridCol>
                <a:gridCol w="788767">
                  <a:extLst>
                    <a:ext uri="{9D8B030D-6E8A-4147-A177-3AD203B41FA5}">
                      <a16:colId xmlns:a16="http://schemas.microsoft.com/office/drawing/2014/main" val="20006"/>
                    </a:ext>
                  </a:extLst>
                </a:gridCol>
                <a:gridCol w="788767">
                  <a:extLst>
                    <a:ext uri="{9D8B030D-6E8A-4147-A177-3AD203B41FA5}">
                      <a16:colId xmlns:a16="http://schemas.microsoft.com/office/drawing/2014/main" val="20007"/>
                    </a:ext>
                  </a:extLst>
                </a:gridCol>
                <a:gridCol w="788767">
                  <a:extLst>
                    <a:ext uri="{9D8B030D-6E8A-4147-A177-3AD203B41FA5}">
                      <a16:colId xmlns:a16="http://schemas.microsoft.com/office/drawing/2014/main" val="20008"/>
                    </a:ext>
                  </a:extLst>
                </a:gridCol>
                <a:gridCol w="788767">
                  <a:extLst>
                    <a:ext uri="{9D8B030D-6E8A-4147-A177-3AD203B41FA5}">
                      <a16:colId xmlns:a16="http://schemas.microsoft.com/office/drawing/2014/main" val="20009"/>
                    </a:ext>
                  </a:extLst>
                </a:gridCol>
                <a:gridCol w="788767">
                  <a:extLst>
                    <a:ext uri="{9D8B030D-6E8A-4147-A177-3AD203B41FA5}">
                      <a16:colId xmlns:a16="http://schemas.microsoft.com/office/drawing/2014/main" val="20010"/>
                    </a:ext>
                  </a:extLst>
                </a:gridCol>
                <a:gridCol w="788767">
                  <a:extLst>
                    <a:ext uri="{9D8B030D-6E8A-4147-A177-3AD203B41FA5}">
                      <a16:colId xmlns:a16="http://schemas.microsoft.com/office/drawing/2014/main" val="20011"/>
                    </a:ext>
                  </a:extLst>
                </a:gridCol>
                <a:gridCol w="788767">
                  <a:extLst>
                    <a:ext uri="{9D8B030D-6E8A-4147-A177-3AD203B41FA5}">
                      <a16:colId xmlns:a16="http://schemas.microsoft.com/office/drawing/2014/main" val="20012"/>
                    </a:ext>
                  </a:extLst>
                </a:gridCol>
                <a:gridCol w="788767">
                  <a:extLst>
                    <a:ext uri="{9D8B030D-6E8A-4147-A177-3AD203B41FA5}">
                      <a16:colId xmlns:a16="http://schemas.microsoft.com/office/drawing/2014/main" val="20013"/>
                    </a:ext>
                  </a:extLst>
                </a:gridCol>
                <a:gridCol w="788767">
                  <a:extLst>
                    <a:ext uri="{9D8B030D-6E8A-4147-A177-3AD203B41FA5}">
                      <a16:colId xmlns:a16="http://schemas.microsoft.com/office/drawing/2014/main" val="20014"/>
                    </a:ext>
                  </a:extLst>
                </a:gridCol>
              </a:tblGrid>
              <a:tr h="487693">
                <a:tc>
                  <a:txBody>
                    <a:bodyPr/>
                    <a:lstStyle/>
                    <a:p>
                      <a:pPr marL="0" marR="0" lvl="0" indent="0" algn="l" rtl="0">
                        <a:spcBef>
                          <a:spcPts val="0"/>
                        </a:spcBef>
                        <a:spcAft>
                          <a:spcPts val="0"/>
                        </a:spcAft>
                        <a:buNone/>
                      </a:pPr>
                      <a:r>
                        <a:rPr lang="ja" sz="2400"/>
                        <a:t>X0</a:t>
                      </a:r>
                      <a:endParaRPr sz="2400"/>
                    </a:p>
                  </a:txBody>
                  <a:tcPr marL="121933" marR="121933" marT="60967" marB="60967"/>
                </a:tc>
                <a:tc>
                  <a:txBody>
                    <a:bodyPr/>
                    <a:lstStyle/>
                    <a:p>
                      <a:pPr marL="0" marR="0" lvl="0" indent="0" algn="l" rtl="0">
                        <a:spcBef>
                          <a:spcPts val="0"/>
                        </a:spcBef>
                        <a:spcAft>
                          <a:spcPts val="0"/>
                        </a:spcAft>
                        <a:buNone/>
                      </a:pPr>
                      <a:r>
                        <a:rPr lang="ja" sz="2400"/>
                        <a:t>X1</a:t>
                      </a:r>
                      <a:endParaRPr sz="2400"/>
                    </a:p>
                  </a:txBody>
                  <a:tcPr marL="121933" marR="121933" marT="60967" marB="60967"/>
                </a:tc>
                <a:tc>
                  <a:txBody>
                    <a:bodyPr/>
                    <a:lstStyle/>
                    <a:p>
                      <a:pPr marL="0" marR="0" lvl="0" indent="0" algn="l" rtl="0">
                        <a:spcBef>
                          <a:spcPts val="0"/>
                        </a:spcBef>
                        <a:spcAft>
                          <a:spcPts val="0"/>
                        </a:spcAft>
                        <a:buNone/>
                      </a:pPr>
                      <a:r>
                        <a:rPr lang="ja" sz="2400"/>
                        <a:t>X2</a:t>
                      </a:r>
                      <a:endParaRPr sz="2400"/>
                    </a:p>
                  </a:txBody>
                  <a:tcPr marL="121933" marR="121933" marT="60967" marB="60967"/>
                </a:tc>
                <a:tc>
                  <a:txBody>
                    <a:bodyPr/>
                    <a:lstStyle/>
                    <a:p>
                      <a:pPr marL="0" marR="0" lvl="0" indent="0" algn="l" rtl="0">
                        <a:spcBef>
                          <a:spcPts val="0"/>
                        </a:spcBef>
                        <a:spcAft>
                          <a:spcPts val="0"/>
                        </a:spcAft>
                        <a:buNone/>
                      </a:pPr>
                      <a:r>
                        <a:rPr lang="ja" sz="2400"/>
                        <a:t>X3</a:t>
                      </a:r>
                      <a:endParaRPr sz="2400"/>
                    </a:p>
                  </a:txBody>
                  <a:tcPr marL="121933" marR="121933" marT="60967" marB="60967"/>
                </a:tc>
                <a:tc>
                  <a:txBody>
                    <a:bodyPr/>
                    <a:lstStyle/>
                    <a:p>
                      <a:pPr marL="0" marR="0" lvl="0" indent="0" algn="l" rtl="0">
                        <a:spcBef>
                          <a:spcPts val="0"/>
                        </a:spcBef>
                        <a:spcAft>
                          <a:spcPts val="0"/>
                        </a:spcAft>
                        <a:buNone/>
                      </a:pPr>
                      <a:r>
                        <a:rPr lang="ja" sz="2400"/>
                        <a:t>X4</a:t>
                      </a:r>
                      <a:endParaRPr sz="2400"/>
                    </a:p>
                  </a:txBody>
                  <a:tcPr marL="121933" marR="121933" marT="60967" marB="60967"/>
                </a:tc>
                <a:tc>
                  <a:txBody>
                    <a:bodyPr/>
                    <a:lstStyle/>
                    <a:p>
                      <a:pPr marL="0" marR="0" lvl="0" indent="0" algn="l" rtl="0">
                        <a:spcBef>
                          <a:spcPts val="0"/>
                        </a:spcBef>
                        <a:spcAft>
                          <a:spcPts val="0"/>
                        </a:spcAft>
                        <a:buNone/>
                      </a:pPr>
                      <a:r>
                        <a:rPr lang="ja" sz="2400"/>
                        <a:t>X5</a:t>
                      </a:r>
                      <a:endParaRPr sz="2400"/>
                    </a:p>
                  </a:txBody>
                  <a:tcPr marL="121933" marR="121933" marT="60967" marB="60967"/>
                </a:tc>
                <a:tc>
                  <a:txBody>
                    <a:bodyPr/>
                    <a:lstStyle/>
                    <a:p>
                      <a:pPr marL="0" marR="0" lvl="0" indent="0" algn="l" rtl="0">
                        <a:spcBef>
                          <a:spcPts val="0"/>
                        </a:spcBef>
                        <a:spcAft>
                          <a:spcPts val="0"/>
                        </a:spcAft>
                        <a:buNone/>
                      </a:pPr>
                      <a:r>
                        <a:rPr lang="ja" sz="2400"/>
                        <a:t>X6</a:t>
                      </a:r>
                      <a:endParaRPr sz="2400"/>
                    </a:p>
                  </a:txBody>
                  <a:tcPr marL="121933" marR="121933" marT="60967" marB="60967"/>
                </a:tc>
                <a:tc>
                  <a:txBody>
                    <a:bodyPr/>
                    <a:lstStyle/>
                    <a:p>
                      <a:pPr marL="0" marR="0" lvl="0" indent="0" algn="l" rtl="0">
                        <a:spcBef>
                          <a:spcPts val="0"/>
                        </a:spcBef>
                        <a:spcAft>
                          <a:spcPts val="0"/>
                        </a:spcAft>
                        <a:buNone/>
                      </a:pPr>
                      <a:r>
                        <a:rPr lang="ja" sz="2400"/>
                        <a:t>X7</a:t>
                      </a:r>
                      <a:endParaRPr sz="2400"/>
                    </a:p>
                  </a:txBody>
                  <a:tcPr marL="121933" marR="121933" marT="60967" marB="60967"/>
                </a:tc>
                <a:tc>
                  <a:txBody>
                    <a:bodyPr/>
                    <a:lstStyle/>
                    <a:p>
                      <a:pPr marL="0" marR="0" lvl="0" indent="0" algn="l" rtl="0">
                        <a:spcBef>
                          <a:spcPts val="0"/>
                        </a:spcBef>
                        <a:spcAft>
                          <a:spcPts val="0"/>
                        </a:spcAft>
                        <a:buNone/>
                      </a:pPr>
                      <a:r>
                        <a:rPr lang="ja" sz="2400"/>
                        <a:t>X8</a:t>
                      </a:r>
                      <a:endParaRPr sz="2400"/>
                    </a:p>
                  </a:txBody>
                  <a:tcPr marL="121933" marR="121933" marT="60967" marB="60967"/>
                </a:tc>
                <a:tc>
                  <a:txBody>
                    <a:bodyPr/>
                    <a:lstStyle/>
                    <a:p>
                      <a:pPr marL="0" marR="0" lvl="0" indent="0" algn="l" rtl="0">
                        <a:spcBef>
                          <a:spcPts val="0"/>
                        </a:spcBef>
                        <a:spcAft>
                          <a:spcPts val="0"/>
                        </a:spcAft>
                        <a:buNone/>
                      </a:pPr>
                      <a:r>
                        <a:rPr lang="ja" sz="2400"/>
                        <a:t>X9</a:t>
                      </a:r>
                      <a:endParaRPr sz="2400"/>
                    </a:p>
                  </a:txBody>
                  <a:tcPr marL="121933" marR="121933" marT="60967" marB="60967"/>
                </a:tc>
                <a:tc>
                  <a:txBody>
                    <a:bodyPr/>
                    <a:lstStyle/>
                    <a:p>
                      <a:pPr marL="0" marR="0" lvl="0" indent="0" algn="l" rtl="0">
                        <a:spcBef>
                          <a:spcPts val="0"/>
                        </a:spcBef>
                        <a:spcAft>
                          <a:spcPts val="0"/>
                        </a:spcAft>
                        <a:buNone/>
                      </a:pPr>
                      <a:r>
                        <a:rPr lang="ja" sz="2400"/>
                        <a:t>X10</a:t>
                      </a:r>
                      <a:endParaRPr sz="2400"/>
                    </a:p>
                  </a:txBody>
                  <a:tcPr marL="121933" marR="121933" marT="60967" marB="60967"/>
                </a:tc>
                <a:tc>
                  <a:txBody>
                    <a:bodyPr/>
                    <a:lstStyle/>
                    <a:p>
                      <a:pPr marL="0" marR="0" lvl="0" indent="0" algn="l" rtl="0">
                        <a:spcBef>
                          <a:spcPts val="0"/>
                        </a:spcBef>
                        <a:spcAft>
                          <a:spcPts val="0"/>
                        </a:spcAft>
                        <a:buNone/>
                      </a:pPr>
                      <a:r>
                        <a:rPr lang="ja" sz="2400"/>
                        <a:t>X11</a:t>
                      </a:r>
                      <a:endParaRPr sz="2400"/>
                    </a:p>
                  </a:txBody>
                  <a:tcPr marL="121933" marR="121933" marT="60967" marB="60967"/>
                </a:tc>
                <a:tc>
                  <a:txBody>
                    <a:bodyPr/>
                    <a:lstStyle/>
                    <a:p>
                      <a:pPr marL="0" marR="0" lvl="0" indent="0" algn="l" rtl="0">
                        <a:spcBef>
                          <a:spcPts val="0"/>
                        </a:spcBef>
                        <a:spcAft>
                          <a:spcPts val="0"/>
                        </a:spcAft>
                        <a:buNone/>
                      </a:pPr>
                      <a:r>
                        <a:rPr lang="ja" sz="2400"/>
                        <a:t>X12</a:t>
                      </a:r>
                      <a:endParaRPr sz="2400"/>
                    </a:p>
                  </a:txBody>
                  <a:tcPr marL="121933" marR="121933" marT="60967" marB="60967"/>
                </a:tc>
                <a:tc>
                  <a:txBody>
                    <a:bodyPr/>
                    <a:lstStyle/>
                    <a:p>
                      <a:pPr marL="0" marR="0" lvl="0" indent="0" algn="l" rtl="0">
                        <a:spcBef>
                          <a:spcPts val="0"/>
                        </a:spcBef>
                        <a:spcAft>
                          <a:spcPts val="0"/>
                        </a:spcAft>
                        <a:buNone/>
                      </a:pPr>
                      <a:r>
                        <a:rPr lang="ja" sz="2400"/>
                        <a:t>X13</a:t>
                      </a:r>
                      <a:endParaRPr sz="2400"/>
                    </a:p>
                  </a:txBody>
                  <a:tcPr marL="121933" marR="121933" marT="60967" marB="60967"/>
                </a:tc>
                <a:tc>
                  <a:txBody>
                    <a:bodyPr/>
                    <a:lstStyle/>
                    <a:p>
                      <a:pPr marL="0" marR="0" lvl="0" indent="0" algn="l" rtl="0">
                        <a:spcBef>
                          <a:spcPts val="0"/>
                        </a:spcBef>
                        <a:spcAft>
                          <a:spcPts val="0"/>
                        </a:spcAft>
                        <a:buNone/>
                      </a:pPr>
                      <a:r>
                        <a:rPr lang="ja" sz="2400"/>
                        <a:t>Z</a:t>
                      </a:r>
                      <a:endParaRPr sz="2400"/>
                    </a:p>
                  </a:txBody>
                  <a:tcPr marL="121933" marR="121933" marT="60967" marB="60967"/>
                </a:tc>
                <a:extLst>
                  <a:ext uri="{0D108BD9-81ED-4DB2-BD59-A6C34878D82A}">
                    <a16:rowId xmlns:a16="http://schemas.microsoft.com/office/drawing/2014/main" val="10000"/>
                  </a:ext>
                </a:extLst>
              </a:tr>
              <a:tr h="487693">
                <a:tc>
                  <a:txBody>
                    <a:bodyPr/>
                    <a:lstStyle/>
                    <a:p>
                      <a:pPr marL="0" marR="0" lvl="0" indent="0" algn="l" rtl="0">
                        <a:spcBef>
                          <a:spcPts val="0"/>
                        </a:spcBef>
                        <a:spcAft>
                          <a:spcPts val="0"/>
                        </a:spcAft>
                        <a:buNone/>
                      </a:pPr>
                      <a:r>
                        <a:rPr lang="ja" sz="2400"/>
                        <a:t>12</a:t>
                      </a:r>
                      <a:endParaRPr sz="2400"/>
                    </a:p>
                  </a:txBody>
                  <a:tcPr marL="121933" marR="121933" marT="60967" marB="60967"/>
                </a:tc>
                <a:tc>
                  <a:txBody>
                    <a:bodyPr/>
                    <a:lstStyle/>
                    <a:p>
                      <a:pPr marL="0" marR="0" lvl="0" indent="0" algn="l" rtl="0">
                        <a:spcBef>
                          <a:spcPts val="0"/>
                        </a:spcBef>
                        <a:spcAft>
                          <a:spcPts val="0"/>
                        </a:spcAft>
                        <a:buNone/>
                      </a:pPr>
                      <a:r>
                        <a:rPr lang="ja" sz="2400"/>
                        <a:t>52</a:t>
                      </a:r>
                      <a:endParaRPr sz="2400"/>
                    </a:p>
                  </a:txBody>
                  <a:tcPr marL="121933" marR="121933" marT="60967" marB="60967"/>
                </a:tc>
                <a:tc>
                  <a:txBody>
                    <a:bodyPr/>
                    <a:lstStyle/>
                    <a:p>
                      <a:pPr marL="0" marR="0" lvl="0" indent="0" algn="l" rtl="0">
                        <a:spcBef>
                          <a:spcPts val="0"/>
                        </a:spcBef>
                        <a:spcAft>
                          <a:spcPts val="0"/>
                        </a:spcAft>
                        <a:buNone/>
                      </a:pPr>
                      <a:r>
                        <a:rPr lang="ja" sz="2400"/>
                        <a:t>21</a:t>
                      </a:r>
                      <a:endParaRPr sz="2400"/>
                    </a:p>
                  </a:txBody>
                  <a:tcPr marL="121933" marR="121933" marT="60967" marB="60967"/>
                </a:tc>
                <a:tc>
                  <a:txBody>
                    <a:bodyPr/>
                    <a:lstStyle/>
                    <a:p>
                      <a:pPr marL="0" marR="0" lvl="0" indent="0" algn="l" rtl="0">
                        <a:spcBef>
                          <a:spcPts val="0"/>
                        </a:spcBef>
                        <a:spcAft>
                          <a:spcPts val="0"/>
                        </a:spcAft>
                        <a:buNone/>
                      </a:pPr>
                      <a:r>
                        <a:rPr lang="ja" sz="2400"/>
                        <a:t>32</a:t>
                      </a:r>
                      <a:endParaRPr sz="2400"/>
                    </a:p>
                  </a:txBody>
                  <a:tcPr marL="121933" marR="121933" marT="60967" marB="60967"/>
                </a:tc>
                <a:tc>
                  <a:txBody>
                    <a:bodyPr/>
                    <a:lstStyle/>
                    <a:p>
                      <a:pPr marL="0" marR="0" lvl="0" indent="0" algn="l" rtl="0">
                        <a:spcBef>
                          <a:spcPts val="0"/>
                        </a:spcBef>
                        <a:spcAft>
                          <a:spcPts val="0"/>
                        </a:spcAft>
                        <a:buNone/>
                      </a:pPr>
                      <a:r>
                        <a:rPr lang="ja" sz="2400"/>
                        <a:t>96</a:t>
                      </a:r>
                      <a:endParaRPr sz="2400"/>
                    </a:p>
                  </a:txBody>
                  <a:tcPr marL="121933" marR="121933" marT="60967" marB="60967"/>
                </a:tc>
                <a:tc>
                  <a:txBody>
                    <a:bodyPr/>
                    <a:lstStyle/>
                    <a:p>
                      <a:pPr marL="0" marR="0" lvl="0" indent="0" algn="l" rtl="0">
                        <a:spcBef>
                          <a:spcPts val="0"/>
                        </a:spcBef>
                        <a:spcAft>
                          <a:spcPts val="0"/>
                        </a:spcAft>
                        <a:buNone/>
                      </a:pPr>
                      <a:r>
                        <a:rPr lang="ja" sz="2400"/>
                        <a:t>27</a:t>
                      </a:r>
                      <a:endParaRPr sz="2400"/>
                    </a:p>
                  </a:txBody>
                  <a:tcPr marL="121933" marR="121933" marT="60967" marB="60967"/>
                </a:tc>
                <a:tc>
                  <a:txBody>
                    <a:bodyPr/>
                    <a:lstStyle/>
                    <a:p>
                      <a:pPr marL="0" marR="0" lvl="0" indent="0" algn="l" rtl="0">
                        <a:spcBef>
                          <a:spcPts val="0"/>
                        </a:spcBef>
                        <a:spcAft>
                          <a:spcPts val="0"/>
                        </a:spcAft>
                        <a:buNone/>
                      </a:pPr>
                      <a:r>
                        <a:rPr lang="ja" sz="2400"/>
                        <a:t>11</a:t>
                      </a:r>
                      <a:endParaRPr sz="2400"/>
                    </a:p>
                  </a:txBody>
                  <a:tcPr marL="121933" marR="121933" marT="60967" marB="60967"/>
                </a:tc>
                <a:tc>
                  <a:txBody>
                    <a:bodyPr/>
                    <a:lstStyle/>
                    <a:p>
                      <a:pPr marL="0" marR="0" lvl="0" indent="0" algn="l" rtl="0">
                        <a:spcBef>
                          <a:spcPts val="0"/>
                        </a:spcBef>
                        <a:spcAft>
                          <a:spcPts val="0"/>
                        </a:spcAft>
                        <a:buNone/>
                      </a:pPr>
                      <a:r>
                        <a:rPr lang="ja" sz="2400"/>
                        <a:t>63</a:t>
                      </a:r>
                      <a:endParaRPr sz="2400"/>
                    </a:p>
                  </a:txBody>
                  <a:tcPr marL="121933" marR="121933" marT="60967" marB="60967"/>
                </a:tc>
                <a:tc>
                  <a:txBody>
                    <a:bodyPr/>
                    <a:lstStyle/>
                    <a:p>
                      <a:pPr marL="0" marR="0" lvl="0" indent="0" algn="l" rtl="0">
                        <a:spcBef>
                          <a:spcPts val="0"/>
                        </a:spcBef>
                        <a:spcAft>
                          <a:spcPts val="0"/>
                        </a:spcAft>
                        <a:buNone/>
                      </a:pPr>
                      <a:r>
                        <a:rPr lang="ja" sz="2400"/>
                        <a:t>23</a:t>
                      </a:r>
                      <a:endParaRPr sz="2400"/>
                    </a:p>
                  </a:txBody>
                  <a:tcPr marL="121933" marR="121933" marT="60967" marB="60967"/>
                </a:tc>
                <a:tc>
                  <a:txBody>
                    <a:bodyPr/>
                    <a:lstStyle/>
                    <a:p>
                      <a:pPr marL="0" marR="0" lvl="0" indent="0" algn="l" rtl="0">
                        <a:spcBef>
                          <a:spcPts val="0"/>
                        </a:spcBef>
                        <a:spcAft>
                          <a:spcPts val="0"/>
                        </a:spcAft>
                        <a:buNone/>
                      </a:pPr>
                      <a:r>
                        <a:rPr lang="ja" sz="2400"/>
                        <a:t>78</a:t>
                      </a:r>
                      <a:endParaRPr sz="2400"/>
                    </a:p>
                  </a:txBody>
                  <a:tcPr marL="121933" marR="121933" marT="60967" marB="60967"/>
                </a:tc>
                <a:tc>
                  <a:txBody>
                    <a:bodyPr/>
                    <a:lstStyle/>
                    <a:p>
                      <a:pPr marL="0" marR="0" lvl="0" indent="0" algn="l" rtl="0">
                        <a:spcBef>
                          <a:spcPts val="0"/>
                        </a:spcBef>
                        <a:spcAft>
                          <a:spcPts val="0"/>
                        </a:spcAft>
                        <a:buNone/>
                      </a:pPr>
                      <a:r>
                        <a:rPr lang="ja" sz="2400"/>
                        <a:t>23</a:t>
                      </a:r>
                      <a:endParaRPr sz="2400"/>
                    </a:p>
                  </a:txBody>
                  <a:tcPr marL="121933" marR="121933" marT="60967" marB="60967"/>
                </a:tc>
                <a:tc>
                  <a:txBody>
                    <a:bodyPr/>
                    <a:lstStyle/>
                    <a:p>
                      <a:pPr marL="0" marR="0" lvl="0" indent="0" algn="l" rtl="0">
                        <a:spcBef>
                          <a:spcPts val="0"/>
                        </a:spcBef>
                        <a:spcAft>
                          <a:spcPts val="0"/>
                        </a:spcAft>
                        <a:buNone/>
                      </a:pPr>
                      <a:r>
                        <a:rPr lang="ja" sz="2400"/>
                        <a:t>20</a:t>
                      </a:r>
                      <a:endParaRPr sz="2400"/>
                    </a:p>
                  </a:txBody>
                  <a:tcPr marL="121933" marR="121933" marT="60967" marB="60967"/>
                </a:tc>
                <a:tc>
                  <a:txBody>
                    <a:bodyPr/>
                    <a:lstStyle/>
                    <a:p>
                      <a:pPr marL="0" marR="0" lvl="0" indent="0" algn="l" rtl="0">
                        <a:spcBef>
                          <a:spcPts val="0"/>
                        </a:spcBef>
                        <a:spcAft>
                          <a:spcPts val="0"/>
                        </a:spcAft>
                        <a:buNone/>
                      </a:pPr>
                      <a:r>
                        <a:rPr lang="ja" sz="2400"/>
                        <a:t>54</a:t>
                      </a:r>
                      <a:endParaRPr sz="2400"/>
                    </a:p>
                  </a:txBody>
                  <a:tcPr marL="121933" marR="121933" marT="60967" marB="60967"/>
                </a:tc>
                <a:tc>
                  <a:txBody>
                    <a:bodyPr/>
                    <a:lstStyle/>
                    <a:p>
                      <a:pPr marL="0" marR="0" lvl="0" indent="0" algn="l" rtl="0">
                        <a:spcBef>
                          <a:spcPts val="0"/>
                        </a:spcBef>
                        <a:spcAft>
                          <a:spcPts val="0"/>
                        </a:spcAft>
                        <a:buNone/>
                      </a:pPr>
                      <a:r>
                        <a:rPr lang="ja" sz="2400"/>
                        <a:t>16</a:t>
                      </a:r>
                      <a:endParaRPr sz="2400"/>
                    </a:p>
                  </a:txBody>
                  <a:tcPr marL="121933" marR="121933" marT="60967" marB="60967"/>
                </a:tc>
                <a:tc>
                  <a:txBody>
                    <a:bodyPr/>
                    <a:lstStyle/>
                    <a:p>
                      <a:pPr marL="0" marR="0" lvl="0" indent="0" algn="l" rtl="0">
                        <a:spcBef>
                          <a:spcPts val="0"/>
                        </a:spcBef>
                        <a:spcAft>
                          <a:spcPts val="0"/>
                        </a:spcAft>
                        <a:buNone/>
                      </a:pPr>
                      <a:r>
                        <a:rPr lang="ja" sz="2400" dirty="0"/>
                        <a:t>77</a:t>
                      </a:r>
                      <a:endParaRPr sz="2400" dirty="0"/>
                    </a:p>
                  </a:txBody>
                  <a:tcPr marL="121933" marR="121933" marT="60967" marB="60967"/>
                </a:tc>
                <a:extLst>
                  <a:ext uri="{0D108BD9-81ED-4DB2-BD59-A6C34878D82A}">
                    <a16:rowId xmlns:a16="http://schemas.microsoft.com/office/drawing/2014/main" val="10001"/>
                  </a:ext>
                </a:extLst>
              </a:tr>
            </a:tbl>
          </a:graphicData>
        </a:graphic>
      </p:graphicFrame>
      <p:sp>
        <p:nvSpPr>
          <p:cNvPr id="4" name="Google Shape;166;p18">
            <a:extLst>
              <a:ext uri="{FF2B5EF4-FFF2-40B4-BE49-F238E27FC236}">
                <a16:creationId xmlns:a16="http://schemas.microsoft.com/office/drawing/2014/main" id="{AF42C4E4-E9D4-A26B-5419-EB5CE4CD0AED}"/>
              </a:ext>
            </a:extLst>
          </p:cNvPr>
          <p:cNvSpPr txBox="1"/>
          <p:nvPr/>
        </p:nvSpPr>
        <p:spPr>
          <a:xfrm>
            <a:off x="972600" y="70434"/>
            <a:ext cx="78666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実験に使用したデータセット</a:t>
            </a:r>
            <a:endParaRPr sz="4400" dirty="0">
              <a:solidFill>
                <a:schemeClr val="accent1"/>
              </a:solidFill>
              <a:latin typeface="Lato"/>
              <a:ea typeface="Lato"/>
              <a:cs typeface="Lato"/>
              <a:sym typeface="Lato"/>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18"/>
          <p:cNvSpPr txBox="1">
            <a:spLocks noGrp="1"/>
          </p:cNvSpPr>
          <p:nvPr>
            <p:ph type="body" idx="1"/>
          </p:nvPr>
        </p:nvSpPr>
        <p:spPr>
          <a:xfrm>
            <a:off x="622653" y="1967046"/>
            <a:ext cx="10251600" cy="4150800"/>
          </a:xfrm>
          <a:prstGeom prst="rect">
            <a:avLst/>
          </a:prstGeom>
        </p:spPr>
        <p:txBody>
          <a:bodyPr spcFirstLastPara="1" vert="horz" wrap="square" lIns="121900" tIns="121900" rIns="121900" bIns="121900" rtlCol="0" anchor="t" anchorCtr="0">
            <a:noAutofit/>
          </a:bodyPr>
          <a:lstStyle/>
          <a:p>
            <a:pPr indent="-406390">
              <a:buSzPts val="1200"/>
            </a:pPr>
            <a:r>
              <a:rPr lang="ja" altLang="en-US" sz="2400" b="1" dirty="0"/>
              <a:t>埋め込み</a:t>
            </a:r>
            <a:endParaRPr sz="2400" b="1" dirty="0"/>
          </a:p>
          <a:p>
            <a:pPr lvl="1" indent="-406390">
              <a:buSzPts val="1200"/>
            </a:pPr>
            <a:r>
              <a:rPr lang="ja" altLang="en-US" dirty="0"/>
              <a:t>データ</a:t>
            </a:r>
            <a:r>
              <a:rPr lang="en-US" altLang="ja" dirty="0"/>
              <a:t>id</a:t>
            </a:r>
            <a:r>
              <a:rPr lang="ja" altLang="en-US" dirty="0"/>
              <a:t>が入力</a:t>
            </a:r>
            <a:endParaRPr dirty="0"/>
          </a:p>
          <a:p>
            <a:pPr lvl="1" indent="-406390">
              <a:buSzPts val="1200"/>
            </a:pPr>
            <a:r>
              <a:rPr lang="en-US" altLang="ja" dirty="0"/>
              <a:t>id</a:t>
            </a:r>
            <a:r>
              <a:rPr lang="ja" altLang="en-US" dirty="0"/>
              <a:t>に対応するベクトルを出力</a:t>
            </a:r>
            <a:endParaRPr dirty="0"/>
          </a:p>
          <a:p>
            <a:pPr lvl="1" indent="-406390">
              <a:buSzPts val="1200"/>
            </a:pPr>
            <a:r>
              <a:rPr lang="ja" altLang="en-US" dirty="0"/>
              <a:t>ベクトルと番号の辞書</a:t>
            </a:r>
            <a:endParaRPr dirty="0"/>
          </a:p>
          <a:p>
            <a:pPr lvl="1" indent="-406390">
              <a:buSzPts val="1200"/>
            </a:pPr>
            <a:r>
              <a:rPr lang="ja" altLang="en-US" dirty="0"/>
              <a:t>言語処理に応用される</a:t>
            </a:r>
            <a:endParaRPr dirty="0"/>
          </a:p>
          <a:p>
            <a:pPr lvl="2" indent="-406390">
              <a:buSzPts val="1200"/>
            </a:pPr>
            <a:r>
              <a:rPr lang="ja" altLang="en-US" sz="2400" dirty="0"/>
              <a:t>単語</a:t>
            </a:r>
            <a:r>
              <a:rPr lang="en-US" altLang="ja" sz="2400" dirty="0"/>
              <a:t>id =&gt; </a:t>
            </a:r>
            <a:r>
              <a:rPr lang="ja" altLang="en-US" sz="2400" dirty="0"/>
              <a:t>ベクトル</a:t>
            </a:r>
            <a:endParaRPr sz="2400" dirty="0"/>
          </a:p>
          <a:p>
            <a:pPr marL="0" indent="0">
              <a:spcBef>
                <a:spcPts val="1600"/>
              </a:spcBef>
              <a:buNone/>
            </a:pPr>
            <a:endParaRPr sz="2400" dirty="0"/>
          </a:p>
          <a:p>
            <a:pPr indent="-406390">
              <a:spcBef>
                <a:spcPts val="1600"/>
              </a:spcBef>
              <a:buSzPts val="1200"/>
            </a:pPr>
            <a:r>
              <a:rPr lang="ja" altLang="en-US" sz="2400" b="1" dirty="0"/>
              <a:t>双方向</a:t>
            </a:r>
            <a:r>
              <a:rPr lang="en-US" altLang="ja" sz="2400" b="1" dirty="0"/>
              <a:t>LSTM</a:t>
            </a:r>
            <a:endParaRPr sz="2400" b="1" dirty="0"/>
          </a:p>
          <a:p>
            <a:pPr lvl="1" indent="-406390">
              <a:buSzPts val="1200"/>
            </a:pPr>
            <a:r>
              <a:rPr lang="ja" altLang="en-US" dirty="0"/>
              <a:t>通常の</a:t>
            </a:r>
            <a:r>
              <a:rPr lang="en-US" altLang="ja" dirty="0"/>
              <a:t>LSTM</a:t>
            </a:r>
            <a:r>
              <a:rPr lang="ja" altLang="en-US" dirty="0"/>
              <a:t>は時系列方向</a:t>
            </a:r>
            <a:endParaRPr dirty="0"/>
          </a:p>
          <a:p>
            <a:pPr lvl="1" indent="-406390">
              <a:buSzPts val="1200"/>
            </a:pPr>
            <a:r>
              <a:rPr lang="ja" altLang="en-US" dirty="0"/>
              <a:t>時系列データではない場合</a:t>
            </a:r>
            <a:endParaRPr dirty="0"/>
          </a:p>
          <a:p>
            <a:pPr lvl="1" indent="-406390">
              <a:buSzPts val="1200"/>
            </a:pPr>
            <a:r>
              <a:rPr lang="ja" altLang="en-US" dirty="0"/>
              <a:t>双方向に学習を行う</a:t>
            </a:r>
            <a:endParaRPr dirty="0"/>
          </a:p>
          <a:p>
            <a:pPr lvl="1" indent="-406390">
              <a:buSzPts val="1200"/>
            </a:pPr>
            <a:r>
              <a:rPr lang="ja" altLang="en-US" dirty="0"/>
              <a:t>動画の補完などに応用される</a:t>
            </a:r>
            <a:endParaRPr dirty="0"/>
          </a:p>
        </p:txBody>
      </p:sp>
      <p:sp>
        <p:nvSpPr>
          <p:cNvPr id="165" name="Google Shape;165;p18"/>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28</a:t>
            </a:fld>
            <a:endParaRPr/>
          </a:p>
        </p:txBody>
      </p:sp>
      <p:sp>
        <p:nvSpPr>
          <p:cNvPr id="166" name="Google Shape;166;p18"/>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機械学習レイヤ</a:t>
            </a:r>
            <a:endParaRPr sz="4400" dirty="0">
              <a:solidFill>
                <a:schemeClr val="accent1"/>
              </a:solidFill>
              <a:latin typeface="Lato"/>
              <a:ea typeface="Lato"/>
              <a:cs typeface="Lato"/>
              <a:sym typeface="Lato"/>
            </a:endParaRPr>
          </a:p>
        </p:txBody>
      </p:sp>
      <p:pic>
        <p:nvPicPr>
          <p:cNvPr id="167" name="Google Shape;167;p18"/>
          <p:cNvPicPr preferRelativeResize="0"/>
          <p:nvPr/>
        </p:nvPicPr>
        <p:blipFill>
          <a:blip r:embed="rId3">
            <a:alphaModFix/>
          </a:blip>
          <a:stretch>
            <a:fillRect/>
          </a:stretch>
        </p:blipFill>
        <p:spPr>
          <a:xfrm>
            <a:off x="4930700" y="811885"/>
            <a:ext cx="7182632" cy="3078567"/>
          </a:xfrm>
          <a:prstGeom prst="rect">
            <a:avLst/>
          </a:prstGeom>
          <a:noFill/>
          <a:ln>
            <a:noFill/>
          </a:ln>
        </p:spPr>
      </p:pic>
      <p:pic>
        <p:nvPicPr>
          <p:cNvPr id="168" name="Google Shape;168;p18"/>
          <p:cNvPicPr preferRelativeResize="0"/>
          <p:nvPr/>
        </p:nvPicPr>
        <p:blipFill>
          <a:blip r:embed="rId4">
            <a:alphaModFix/>
          </a:blip>
          <a:stretch>
            <a:fillRect/>
          </a:stretch>
        </p:blipFill>
        <p:spPr>
          <a:xfrm>
            <a:off x="6910967" y="4177401"/>
            <a:ext cx="4584235" cy="253933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4" name="Google Shape;164;p18"/>
          <p:cNvSpPr txBox="1">
            <a:spLocks noGrp="1"/>
          </p:cNvSpPr>
          <p:nvPr>
            <p:ph type="body" idx="1"/>
          </p:nvPr>
        </p:nvSpPr>
        <p:spPr>
          <a:xfrm>
            <a:off x="622653" y="1353600"/>
            <a:ext cx="10251600" cy="4150800"/>
          </a:xfrm>
          <a:prstGeom prst="rect">
            <a:avLst/>
          </a:prstGeom>
        </p:spPr>
        <p:txBody>
          <a:bodyPr spcFirstLastPara="1" vert="horz" wrap="square" lIns="121900" tIns="121900" rIns="121900" bIns="121900" rtlCol="0" anchor="t" anchorCtr="0">
            <a:noAutofit/>
          </a:bodyPr>
          <a:lstStyle/>
          <a:p>
            <a:pPr indent="-406390">
              <a:buSzPts val="1200"/>
            </a:pPr>
            <a:r>
              <a:rPr lang="ja-JP" altLang="en-US" b="1" dirty="0"/>
              <a:t>畳み込み層：</a:t>
            </a:r>
            <a:endParaRPr lang="en-US" altLang="ja-JP" b="1" dirty="0"/>
          </a:p>
          <a:p>
            <a:pPr indent="-406390">
              <a:buSzPts val="1200"/>
            </a:pPr>
            <a:endParaRPr lang="en-US" b="1" dirty="0"/>
          </a:p>
          <a:p>
            <a:pPr indent="-406390">
              <a:buSzPts val="1200"/>
            </a:pPr>
            <a:r>
              <a:rPr lang="ja-JP" altLang="en-US" b="0" i="0" dirty="0">
                <a:effectLst/>
                <a:latin typeface="YakuHanJPs"/>
              </a:rPr>
              <a:t>入力データに対してカーネルを適用。</a:t>
            </a:r>
            <a:endParaRPr lang="en-US" altLang="ja-JP" b="0" i="0" dirty="0">
              <a:effectLst/>
              <a:latin typeface="YakuHanJPs"/>
            </a:endParaRPr>
          </a:p>
          <a:p>
            <a:pPr indent="-406390">
              <a:buSzPts val="1200"/>
            </a:pPr>
            <a:r>
              <a:rPr lang="ja-JP" altLang="en-US" b="0" i="0" dirty="0">
                <a:effectLst/>
                <a:latin typeface="YakuHanJPs"/>
              </a:rPr>
              <a:t>カーネルを一定の間隔（ストライド）でスライドさせながら演算を行う。</a:t>
            </a:r>
            <a:endParaRPr lang="en-US" altLang="ja-JP" b="0" i="0" dirty="0">
              <a:effectLst/>
              <a:latin typeface="YakuHanJPs"/>
            </a:endParaRPr>
          </a:p>
          <a:p>
            <a:pPr indent="-406390">
              <a:buSzPts val="1200"/>
            </a:pPr>
            <a:r>
              <a:rPr lang="ja-JP" altLang="en-US" b="0" i="0" dirty="0">
                <a:effectLst/>
                <a:latin typeface="YakuHanJPs"/>
              </a:rPr>
              <a:t>入力データにカーネルを順次重ねて、カーネルと入力データの対応ウィンドウを積和演算。出力結果の対応する場所に格納。</a:t>
            </a:r>
            <a:endParaRPr b="1" dirty="0"/>
          </a:p>
        </p:txBody>
      </p:sp>
      <p:sp>
        <p:nvSpPr>
          <p:cNvPr id="165" name="Google Shape;165;p18"/>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29</a:t>
            </a:fld>
            <a:endParaRPr/>
          </a:p>
        </p:txBody>
      </p:sp>
      <p:sp>
        <p:nvSpPr>
          <p:cNvPr id="166" name="Google Shape;166;p18"/>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機械学習レイヤ</a:t>
            </a:r>
            <a:endParaRPr sz="4400" dirty="0">
              <a:solidFill>
                <a:schemeClr val="accent1"/>
              </a:solidFill>
              <a:latin typeface="Lato"/>
              <a:ea typeface="Lato"/>
              <a:cs typeface="Lato"/>
              <a:sym typeface="Lato"/>
            </a:endParaRPr>
          </a:p>
        </p:txBody>
      </p:sp>
      <p:pic>
        <p:nvPicPr>
          <p:cNvPr id="3" name="図 2">
            <a:extLst>
              <a:ext uri="{FF2B5EF4-FFF2-40B4-BE49-F238E27FC236}">
                <a16:creationId xmlns:a16="http://schemas.microsoft.com/office/drawing/2014/main" id="{5633B47F-33F3-0E0B-E426-8DD5E26F7FF3}"/>
              </a:ext>
            </a:extLst>
          </p:cNvPr>
          <p:cNvPicPr>
            <a:picLocks noChangeAspect="1"/>
          </p:cNvPicPr>
          <p:nvPr/>
        </p:nvPicPr>
        <p:blipFill>
          <a:blip r:embed="rId3"/>
          <a:stretch>
            <a:fillRect/>
          </a:stretch>
        </p:blipFill>
        <p:spPr>
          <a:xfrm>
            <a:off x="3154941" y="4356532"/>
            <a:ext cx="7995398" cy="1816609"/>
          </a:xfrm>
          <a:prstGeom prst="rect">
            <a:avLst/>
          </a:prstGeom>
        </p:spPr>
      </p:pic>
      <p:sp>
        <p:nvSpPr>
          <p:cNvPr id="4" name="テキスト ボックス 3">
            <a:extLst>
              <a:ext uri="{FF2B5EF4-FFF2-40B4-BE49-F238E27FC236}">
                <a16:creationId xmlns:a16="http://schemas.microsoft.com/office/drawing/2014/main" id="{93232DA2-0EDF-C50F-962E-2CF735C59E53}"/>
              </a:ext>
            </a:extLst>
          </p:cNvPr>
          <p:cNvSpPr txBox="1"/>
          <p:nvPr/>
        </p:nvSpPr>
        <p:spPr>
          <a:xfrm>
            <a:off x="4615176" y="6226203"/>
            <a:ext cx="6766560" cy="369332"/>
          </a:xfrm>
          <a:prstGeom prst="rect">
            <a:avLst/>
          </a:prstGeom>
          <a:noFill/>
        </p:spPr>
        <p:txBody>
          <a:bodyPr wrap="square" rtlCol="0">
            <a:spAutoFit/>
          </a:bodyPr>
          <a:lstStyle/>
          <a:p>
            <a:r>
              <a:rPr kumimoji="1" lang="en-US" altLang="ja-JP" dirty="0"/>
              <a:t>https://qiita.com/DeepTama/items/379cac9a73c2aed7a082</a:t>
            </a:r>
            <a:endParaRPr kumimoji="1" lang="ja-JP" altLang="en-US" dirty="0"/>
          </a:p>
        </p:txBody>
      </p:sp>
    </p:spTree>
    <p:extLst>
      <p:ext uri="{BB962C8B-B14F-4D97-AF65-F5344CB8AC3E}">
        <p14:creationId xmlns:p14="http://schemas.microsoft.com/office/powerpoint/2010/main" val="7109197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19"/>
          <p:cNvSpPr txBox="1">
            <a:spLocks noGrp="1"/>
          </p:cNvSpPr>
          <p:nvPr>
            <p:ph type="body" idx="1"/>
          </p:nvPr>
        </p:nvSpPr>
        <p:spPr>
          <a:xfrm>
            <a:off x="970200" y="1757567"/>
            <a:ext cx="10251600" cy="4858400"/>
          </a:xfrm>
          <a:prstGeom prst="rect">
            <a:avLst/>
          </a:prstGeom>
        </p:spPr>
        <p:txBody>
          <a:bodyPr spcFirstLastPara="1" vert="horz" wrap="square" lIns="121900" tIns="121900" rIns="121900" bIns="121900" rtlCol="0" anchor="t" anchorCtr="0">
            <a:normAutofit/>
          </a:bodyPr>
          <a:lstStyle/>
          <a:p>
            <a:r>
              <a:rPr lang="ja-JP" altLang="en-US" sz="2133" b="1" dirty="0"/>
              <a:t>埋め込み層＋</a:t>
            </a:r>
            <a:r>
              <a:rPr lang="en-US" altLang="ja-JP" sz="2133" b="1" dirty="0"/>
              <a:t>MLP</a:t>
            </a:r>
            <a:endParaRPr sz="1333" b="1" dirty="0"/>
          </a:p>
          <a:p>
            <a:pPr marL="0" indent="0">
              <a:spcBef>
                <a:spcPts val="1600"/>
              </a:spcBef>
              <a:buNone/>
            </a:pPr>
            <a:endParaRPr dirty="0"/>
          </a:p>
          <a:p>
            <a:pPr marL="0" indent="0">
              <a:spcBef>
                <a:spcPts val="1600"/>
              </a:spcBef>
              <a:buNone/>
            </a:pPr>
            <a:endParaRPr dirty="0"/>
          </a:p>
          <a:p>
            <a:pPr marL="0" indent="0">
              <a:spcBef>
                <a:spcPts val="1600"/>
              </a:spcBef>
              <a:buNone/>
            </a:pPr>
            <a:endParaRPr dirty="0"/>
          </a:p>
          <a:p>
            <a:pPr marL="0" indent="0">
              <a:spcBef>
                <a:spcPts val="1600"/>
              </a:spcBef>
              <a:buNone/>
            </a:pPr>
            <a:endParaRPr dirty="0"/>
          </a:p>
          <a:p>
            <a:pPr marL="0" indent="0">
              <a:spcBef>
                <a:spcPts val="1600"/>
              </a:spcBef>
              <a:buNone/>
            </a:pPr>
            <a:endParaRPr dirty="0"/>
          </a:p>
          <a:p>
            <a:pPr marL="0" indent="0">
              <a:spcBef>
                <a:spcPts val="1600"/>
              </a:spcBef>
              <a:buNone/>
            </a:pPr>
            <a:endParaRPr dirty="0"/>
          </a:p>
          <a:p>
            <a:pPr indent="-440256">
              <a:spcBef>
                <a:spcPts val="1600"/>
              </a:spcBef>
              <a:buSzPts val="1600"/>
            </a:pPr>
            <a:r>
              <a:rPr lang="ja" altLang="en-US" sz="2133" dirty="0"/>
              <a:t>単純な</a:t>
            </a:r>
            <a:r>
              <a:rPr lang="en-US" altLang="ja" sz="2133" dirty="0"/>
              <a:t>MLP/LSTM</a:t>
            </a:r>
            <a:r>
              <a:rPr lang="ja" altLang="en-US" sz="2133" dirty="0"/>
              <a:t>と比較し、多少の改善が見られた</a:t>
            </a:r>
            <a:endParaRPr sz="2133" dirty="0"/>
          </a:p>
        </p:txBody>
      </p:sp>
      <p:sp>
        <p:nvSpPr>
          <p:cNvPr id="174" name="Google Shape;174;p19"/>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30</a:t>
            </a:fld>
            <a:endParaRPr/>
          </a:p>
        </p:txBody>
      </p:sp>
      <p:graphicFrame>
        <p:nvGraphicFramePr>
          <p:cNvPr id="176" name="Google Shape;176;p19"/>
          <p:cNvGraphicFramePr/>
          <p:nvPr>
            <p:extLst>
              <p:ext uri="{D42A27DB-BD31-4B8C-83A1-F6EECF244321}">
                <p14:modId xmlns:p14="http://schemas.microsoft.com/office/powerpoint/2010/main" val="2928462113"/>
              </p:ext>
            </p:extLst>
          </p:nvPr>
        </p:nvGraphicFramePr>
        <p:xfrm>
          <a:off x="883920" y="2432932"/>
          <a:ext cx="5865115" cy="3094108"/>
        </p:xfrm>
        <a:graphic>
          <a:graphicData uri="http://schemas.openxmlformats.org/drawingml/2006/table">
            <a:tbl>
              <a:tblPr>
                <a:noFill/>
              </a:tblPr>
              <a:tblGrid>
                <a:gridCol w="2032000">
                  <a:extLst>
                    <a:ext uri="{9D8B030D-6E8A-4147-A177-3AD203B41FA5}">
                      <a16:colId xmlns:a16="http://schemas.microsoft.com/office/drawing/2014/main" val="20000"/>
                    </a:ext>
                  </a:extLst>
                </a:gridCol>
                <a:gridCol w="1422050">
                  <a:extLst>
                    <a:ext uri="{9D8B030D-6E8A-4147-A177-3AD203B41FA5}">
                      <a16:colId xmlns:a16="http://schemas.microsoft.com/office/drawing/2014/main" val="20001"/>
                    </a:ext>
                  </a:extLst>
                </a:gridCol>
                <a:gridCol w="1178791">
                  <a:extLst>
                    <a:ext uri="{9D8B030D-6E8A-4147-A177-3AD203B41FA5}">
                      <a16:colId xmlns:a16="http://schemas.microsoft.com/office/drawing/2014/main" val="20002"/>
                    </a:ext>
                  </a:extLst>
                </a:gridCol>
                <a:gridCol w="1232274">
                  <a:extLst>
                    <a:ext uri="{9D8B030D-6E8A-4147-A177-3AD203B41FA5}">
                      <a16:colId xmlns:a16="http://schemas.microsoft.com/office/drawing/2014/main" val="20003"/>
                    </a:ext>
                  </a:extLst>
                </a:gridCol>
              </a:tblGrid>
              <a:tr h="592796">
                <a:tc>
                  <a:txBody>
                    <a:bodyPr/>
                    <a:lstStyle/>
                    <a:p>
                      <a:pPr marL="0" lvl="0" indent="0" algn="ctr" rtl="0">
                        <a:lnSpc>
                          <a:spcPct val="115000"/>
                        </a:lnSpc>
                        <a:spcBef>
                          <a:spcPts val="0"/>
                        </a:spcBef>
                        <a:spcAft>
                          <a:spcPts val="0"/>
                        </a:spcAft>
                        <a:buNone/>
                      </a:pPr>
                      <a:r>
                        <a:rPr lang="ja" sz="1600">
                          <a:latin typeface="Times New Roman"/>
                          <a:ea typeface="Times New Roman"/>
                          <a:cs typeface="Times New Roman"/>
                          <a:sym typeface="Times New Roman"/>
                        </a:rPr>
                        <a:t>データ数＼画像枚数</a:t>
                      </a:r>
                      <a:endParaRPr sz="160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dirty="0">
                          <a:latin typeface="Times New Roman"/>
                          <a:ea typeface="Times New Roman"/>
                          <a:cs typeface="Times New Roman"/>
                          <a:sym typeface="Times New Roman"/>
                        </a:rPr>
                        <a:t>N=26</a:t>
                      </a:r>
                      <a:endParaRPr sz="2000"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a:latin typeface="Times New Roman"/>
                          <a:ea typeface="Times New Roman"/>
                          <a:cs typeface="Times New Roman"/>
                          <a:sym typeface="Times New Roman"/>
                        </a:rPr>
                        <a:t>N=50</a:t>
                      </a:r>
                      <a:endParaRPr sz="200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a:latin typeface="Times New Roman"/>
                          <a:ea typeface="Times New Roman"/>
                          <a:cs typeface="Times New Roman"/>
                          <a:sym typeface="Times New Roman"/>
                        </a:rPr>
                        <a:t>N=100</a:t>
                      </a:r>
                      <a:endParaRPr sz="200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636172">
                <a:tc>
                  <a:txBody>
                    <a:bodyPr/>
                    <a:lstStyle/>
                    <a:p>
                      <a:pPr marL="0" lvl="0" indent="0" algn="ctr" rtl="0">
                        <a:lnSpc>
                          <a:spcPct val="115000"/>
                        </a:lnSpc>
                        <a:spcBef>
                          <a:spcPts val="0"/>
                        </a:spcBef>
                        <a:spcAft>
                          <a:spcPts val="0"/>
                        </a:spcAft>
                        <a:buNone/>
                      </a:pPr>
                      <a:r>
                        <a:rPr lang="ja" sz="2000" dirty="0">
                          <a:latin typeface="Times New Roman"/>
                          <a:ea typeface="Times New Roman"/>
                          <a:cs typeface="Times New Roman"/>
                          <a:sym typeface="Times New Roman"/>
                        </a:rPr>
                        <a:t>1000</a:t>
                      </a:r>
                      <a:endParaRPr sz="2000"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13.50%</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a:latin typeface="Times New Roman"/>
                          <a:ea typeface="Times New Roman"/>
                          <a:cs typeface="Times New Roman"/>
                          <a:sym typeface="Times New Roman"/>
                        </a:rPr>
                        <a:t>11.90%</a:t>
                      </a:r>
                      <a:endParaRPr sz="2000" b="1">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a:latin typeface="Times New Roman"/>
                          <a:ea typeface="Times New Roman"/>
                          <a:cs typeface="Times New Roman"/>
                          <a:sym typeface="Times New Roman"/>
                        </a:rPr>
                        <a:t>13.20%</a:t>
                      </a:r>
                      <a:endParaRPr sz="2000" b="1">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592796">
                <a:tc>
                  <a:txBody>
                    <a:bodyPr/>
                    <a:lstStyle/>
                    <a:p>
                      <a:pPr marL="0" lvl="0" indent="0" algn="ctr" rtl="0">
                        <a:lnSpc>
                          <a:spcPct val="115000"/>
                        </a:lnSpc>
                        <a:spcBef>
                          <a:spcPts val="0"/>
                        </a:spcBef>
                        <a:spcAft>
                          <a:spcPts val="0"/>
                        </a:spcAft>
                        <a:buNone/>
                      </a:pPr>
                      <a:r>
                        <a:rPr lang="ja" sz="2000" dirty="0">
                          <a:latin typeface="Times New Roman"/>
                          <a:ea typeface="Times New Roman"/>
                          <a:cs typeface="Times New Roman"/>
                          <a:sym typeface="Times New Roman"/>
                        </a:rPr>
                        <a:t>5000</a:t>
                      </a:r>
                      <a:endParaRPr sz="2000"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11.22%</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12.16%</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12.98%</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636172">
                <a:tc>
                  <a:txBody>
                    <a:bodyPr/>
                    <a:lstStyle/>
                    <a:p>
                      <a:pPr marL="0" lvl="0" indent="0" algn="ctr" rtl="0">
                        <a:lnSpc>
                          <a:spcPct val="115000"/>
                        </a:lnSpc>
                        <a:spcBef>
                          <a:spcPts val="0"/>
                        </a:spcBef>
                        <a:spcAft>
                          <a:spcPts val="0"/>
                        </a:spcAft>
                        <a:buNone/>
                      </a:pPr>
                      <a:r>
                        <a:rPr lang="ja" sz="2000" dirty="0">
                          <a:latin typeface="Times New Roman"/>
                          <a:ea typeface="Times New Roman"/>
                          <a:cs typeface="Times New Roman"/>
                          <a:sym typeface="Times New Roman"/>
                        </a:rPr>
                        <a:t>10000</a:t>
                      </a:r>
                      <a:endParaRPr sz="2000"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solidFill>
                            <a:schemeClr val="dk2"/>
                          </a:solidFill>
                          <a:latin typeface="Times New Roman"/>
                          <a:ea typeface="Times New Roman"/>
                          <a:cs typeface="Times New Roman"/>
                          <a:sym typeface="Times New Roman"/>
                        </a:rPr>
                        <a:t>18.52</a:t>
                      </a:r>
                      <a:r>
                        <a:rPr lang="ja" sz="2000" b="1" dirty="0">
                          <a:latin typeface="Times New Roman"/>
                          <a:ea typeface="Times New Roman"/>
                          <a:cs typeface="Times New Roman"/>
                          <a:sym typeface="Times New Roman"/>
                        </a:rPr>
                        <a:t>%</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11.14%</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a:latin typeface="Times New Roman"/>
                          <a:ea typeface="Times New Roman"/>
                          <a:cs typeface="Times New Roman"/>
                          <a:sym typeface="Times New Roman"/>
                        </a:rPr>
                        <a:t>11.21%</a:t>
                      </a:r>
                      <a:endParaRPr sz="2000" b="1">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636172">
                <a:tc>
                  <a:txBody>
                    <a:bodyPr/>
                    <a:lstStyle/>
                    <a:p>
                      <a:pPr marL="0" lvl="0" indent="0" algn="ctr" rtl="0">
                        <a:lnSpc>
                          <a:spcPct val="115000"/>
                        </a:lnSpc>
                        <a:spcBef>
                          <a:spcPts val="0"/>
                        </a:spcBef>
                        <a:spcAft>
                          <a:spcPts val="0"/>
                        </a:spcAft>
                        <a:buNone/>
                      </a:pPr>
                      <a:r>
                        <a:rPr lang="ja" sz="2000" dirty="0">
                          <a:latin typeface="Times New Roman"/>
                          <a:ea typeface="Times New Roman"/>
                          <a:cs typeface="Times New Roman"/>
                          <a:sym typeface="Times New Roman"/>
                        </a:rPr>
                        <a:t>50000</a:t>
                      </a:r>
                      <a:endParaRPr sz="2000"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a:solidFill>
                            <a:schemeClr val="dk2"/>
                          </a:solidFill>
                          <a:latin typeface="Times New Roman"/>
                          <a:ea typeface="Times New Roman"/>
                          <a:cs typeface="Times New Roman"/>
                          <a:sym typeface="Times New Roman"/>
                        </a:rPr>
                        <a:t>27.1</a:t>
                      </a:r>
                      <a:r>
                        <a:rPr lang="ja" sz="2000" b="1">
                          <a:latin typeface="Times New Roman"/>
                          <a:ea typeface="Times New Roman"/>
                          <a:cs typeface="Times New Roman"/>
                          <a:sym typeface="Times New Roman"/>
                        </a:rPr>
                        <a:t>%</a:t>
                      </a:r>
                      <a:endParaRPr sz="2000" b="1">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11.35%</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000" b="1" dirty="0">
                          <a:latin typeface="Times New Roman"/>
                          <a:ea typeface="Times New Roman"/>
                          <a:cs typeface="Times New Roman"/>
                          <a:sym typeface="Times New Roman"/>
                        </a:rPr>
                        <a:t>12.34%</a:t>
                      </a:r>
                      <a:endParaRPr sz="2000" b="1" dirty="0">
                        <a:latin typeface="Times New Roman"/>
                        <a:ea typeface="Times New Roman"/>
                        <a:cs typeface="Times New Roman"/>
                        <a:sym typeface="Times New Roman"/>
                      </a:endParaRPr>
                    </a:p>
                  </a:txBody>
                  <a:tcPr marL="91433" marR="91433" marT="121900" marB="121900">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pic>
        <p:nvPicPr>
          <p:cNvPr id="177" name="Google Shape;177;p19"/>
          <p:cNvPicPr preferRelativeResize="0"/>
          <p:nvPr/>
        </p:nvPicPr>
        <p:blipFill>
          <a:blip r:embed="rId3">
            <a:alphaModFix/>
          </a:blip>
          <a:stretch>
            <a:fillRect/>
          </a:stretch>
        </p:blipFill>
        <p:spPr>
          <a:xfrm>
            <a:off x="6827699" y="829267"/>
            <a:ext cx="5364301" cy="4023200"/>
          </a:xfrm>
          <a:prstGeom prst="rect">
            <a:avLst/>
          </a:prstGeom>
          <a:noFill/>
          <a:ln>
            <a:noFill/>
          </a:ln>
        </p:spPr>
      </p:pic>
      <p:sp>
        <p:nvSpPr>
          <p:cNvPr id="2" name="Google Shape;166;p18">
            <a:extLst>
              <a:ext uri="{FF2B5EF4-FFF2-40B4-BE49-F238E27FC236}">
                <a16:creationId xmlns:a16="http://schemas.microsoft.com/office/drawing/2014/main" id="{35866C9E-B1CD-0564-FAC9-1DA99A526C2F}"/>
              </a:ext>
            </a:extLst>
          </p:cNvPr>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既存研究</a:t>
            </a:r>
            <a:endParaRPr sz="4400" dirty="0">
              <a:solidFill>
                <a:schemeClr val="accent1"/>
              </a:solidFill>
              <a:latin typeface="Lato"/>
              <a:ea typeface="Lato"/>
              <a:cs typeface="Lato"/>
              <a:sym typeface="Lato"/>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4" name="Google Shape;174;p19"/>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31</a:t>
            </a:fld>
            <a:endParaRPr/>
          </a:p>
        </p:txBody>
      </p:sp>
      <p:sp>
        <p:nvSpPr>
          <p:cNvPr id="2" name="Google Shape;166;p18">
            <a:extLst>
              <a:ext uri="{FF2B5EF4-FFF2-40B4-BE49-F238E27FC236}">
                <a16:creationId xmlns:a16="http://schemas.microsoft.com/office/drawing/2014/main" id="{35866C9E-B1CD-0564-FAC9-1DA99A526C2F}"/>
              </a:ext>
            </a:extLst>
          </p:cNvPr>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既存研究の比較</a:t>
            </a:r>
            <a:endParaRPr sz="4400" dirty="0">
              <a:solidFill>
                <a:schemeClr val="accent1"/>
              </a:solidFill>
              <a:latin typeface="Lato"/>
              <a:ea typeface="Lato"/>
              <a:cs typeface="Lato"/>
              <a:sym typeface="Lato"/>
            </a:endParaRPr>
          </a:p>
        </p:txBody>
      </p:sp>
      <p:graphicFrame>
        <p:nvGraphicFramePr>
          <p:cNvPr id="5" name="Google Shape;195;p21">
            <a:extLst>
              <a:ext uri="{FF2B5EF4-FFF2-40B4-BE49-F238E27FC236}">
                <a16:creationId xmlns:a16="http://schemas.microsoft.com/office/drawing/2014/main" id="{1BE8D279-893A-4CBA-E639-213F6E037747}"/>
              </a:ext>
            </a:extLst>
          </p:cNvPr>
          <p:cNvGraphicFramePr/>
          <p:nvPr>
            <p:extLst>
              <p:ext uri="{D42A27DB-BD31-4B8C-83A1-F6EECF244321}">
                <p14:modId xmlns:p14="http://schemas.microsoft.com/office/powerpoint/2010/main" val="1282633051"/>
              </p:ext>
            </p:extLst>
          </p:nvPr>
        </p:nvGraphicFramePr>
        <p:xfrm>
          <a:off x="711172" y="2286001"/>
          <a:ext cx="10769655" cy="3304158"/>
        </p:xfrm>
        <a:graphic>
          <a:graphicData uri="http://schemas.openxmlformats.org/drawingml/2006/table">
            <a:tbl>
              <a:tblPr>
                <a:noFill/>
              </a:tblPr>
              <a:tblGrid>
                <a:gridCol w="2359209">
                  <a:extLst>
                    <a:ext uri="{9D8B030D-6E8A-4147-A177-3AD203B41FA5}">
                      <a16:colId xmlns:a16="http://schemas.microsoft.com/office/drawing/2014/main" val="20000"/>
                    </a:ext>
                  </a:extLst>
                </a:gridCol>
                <a:gridCol w="2701243">
                  <a:extLst>
                    <a:ext uri="{9D8B030D-6E8A-4147-A177-3AD203B41FA5}">
                      <a16:colId xmlns:a16="http://schemas.microsoft.com/office/drawing/2014/main" val="20001"/>
                    </a:ext>
                  </a:extLst>
                </a:gridCol>
                <a:gridCol w="2433308">
                  <a:extLst>
                    <a:ext uri="{9D8B030D-6E8A-4147-A177-3AD203B41FA5}">
                      <a16:colId xmlns:a16="http://schemas.microsoft.com/office/drawing/2014/main" val="20002"/>
                    </a:ext>
                  </a:extLst>
                </a:gridCol>
                <a:gridCol w="3275895">
                  <a:extLst>
                    <a:ext uri="{9D8B030D-6E8A-4147-A177-3AD203B41FA5}">
                      <a16:colId xmlns:a16="http://schemas.microsoft.com/office/drawing/2014/main" val="20003"/>
                    </a:ext>
                  </a:extLst>
                </a:gridCol>
              </a:tblGrid>
              <a:tr h="742282">
                <a:tc>
                  <a:txBody>
                    <a:bodyPr/>
                    <a:lstStyle/>
                    <a:p>
                      <a:pPr marL="0" lvl="0" indent="0" algn="ctr" rtl="0">
                        <a:lnSpc>
                          <a:spcPct val="115000"/>
                        </a:lnSpc>
                        <a:spcBef>
                          <a:spcPts val="0"/>
                        </a:spcBef>
                        <a:spcAft>
                          <a:spcPts val="0"/>
                        </a:spcAft>
                        <a:buNone/>
                      </a:pPr>
                      <a:r>
                        <a:rPr lang="ja" sz="2400">
                          <a:latin typeface="Times New Roman"/>
                          <a:ea typeface="Times New Roman"/>
                          <a:cs typeface="Times New Roman"/>
                          <a:sym typeface="Times New Roman"/>
                        </a:rPr>
                        <a:t>画像枚数＼手法</a:t>
                      </a:r>
                      <a:endParaRPr sz="2400">
                        <a:latin typeface="Times New Roman"/>
                        <a:ea typeface="Times New Roman"/>
                        <a:cs typeface="Times New Roman"/>
                        <a:sym typeface="Times New Roman"/>
                      </a:endParaRPr>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ja" sz="2400" dirty="0"/>
                        <a:t>MLP</a:t>
                      </a:r>
                      <a:endParaRPr lang="en-US" altLang="ja" sz="2400" dirty="0"/>
                    </a:p>
                    <a:p>
                      <a:pPr marL="0" lvl="0" indent="0" algn="ctr" rtl="0">
                        <a:spcBef>
                          <a:spcPts val="0"/>
                        </a:spcBef>
                        <a:spcAft>
                          <a:spcPts val="0"/>
                        </a:spcAft>
                        <a:buNone/>
                      </a:pPr>
                      <a:r>
                        <a:rPr lang="ja" sz="2400" dirty="0"/>
                        <a:t>[村田/卒論202</a:t>
                      </a:r>
                      <a:r>
                        <a:rPr lang="en-US" altLang="ja" sz="2400" dirty="0"/>
                        <a:t>2</a:t>
                      </a:r>
                      <a:r>
                        <a:rPr lang="ja" sz="2400" dirty="0"/>
                        <a:t>]</a:t>
                      </a:r>
                      <a:endParaRPr sz="24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ja" sz="2400" dirty="0"/>
                        <a:t>LSTM</a:t>
                      </a:r>
                      <a:endParaRPr lang="en-US" altLang="ja" sz="2400" dirty="0"/>
                    </a:p>
                    <a:p>
                      <a:pPr marL="0" lvl="0" indent="0" algn="ctr" rtl="0">
                        <a:spcBef>
                          <a:spcPts val="0"/>
                        </a:spcBef>
                        <a:spcAft>
                          <a:spcPts val="0"/>
                        </a:spcAft>
                        <a:buNone/>
                      </a:pPr>
                      <a:r>
                        <a:rPr lang="ja" sz="2400" dirty="0"/>
                        <a:t>[丸野/卒論202</a:t>
                      </a:r>
                      <a:r>
                        <a:rPr lang="en-US" altLang="ja" sz="2400" dirty="0"/>
                        <a:t>3</a:t>
                      </a:r>
                      <a:r>
                        <a:rPr lang="ja" sz="2400" dirty="0"/>
                        <a:t>]</a:t>
                      </a:r>
                      <a:endParaRPr sz="24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ja" sz="2400" dirty="0"/>
                        <a:t>埋め込み+</a:t>
                      </a:r>
                      <a:r>
                        <a:rPr lang="en-US" altLang="ja" sz="2400" dirty="0"/>
                        <a:t>Bi-</a:t>
                      </a:r>
                      <a:r>
                        <a:rPr lang="ja" sz="2400" dirty="0"/>
                        <a:t>LSTM</a:t>
                      </a:r>
                      <a:endParaRPr lang="en-US" altLang="ja" sz="2400" dirty="0"/>
                    </a:p>
                    <a:p>
                      <a:pPr marL="0" lvl="0" indent="0" algn="ctr" rtl="0">
                        <a:spcBef>
                          <a:spcPts val="0"/>
                        </a:spcBef>
                        <a:spcAft>
                          <a:spcPts val="0"/>
                        </a:spcAft>
                        <a:buNone/>
                      </a:pPr>
                      <a:r>
                        <a:rPr lang="en-US" sz="2400" dirty="0"/>
                        <a:t>[</a:t>
                      </a:r>
                      <a:r>
                        <a:rPr lang="ja-JP" altLang="en-US" sz="2400" dirty="0"/>
                        <a:t>池田</a:t>
                      </a:r>
                      <a:r>
                        <a:rPr lang="en-US" altLang="ja-JP" sz="2400" dirty="0"/>
                        <a:t>/</a:t>
                      </a:r>
                      <a:r>
                        <a:rPr lang="ja-JP" altLang="en-US" sz="2400" dirty="0"/>
                        <a:t>卒論</a:t>
                      </a:r>
                      <a:r>
                        <a:rPr lang="en-US" altLang="ja-JP" sz="2400" dirty="0"/>
                        <a:t>2024</a:t>
                      </a:r>
                      <a:r>
                        <a:rPr lang="en-US" sz="2400" dirty="0"/>
                        <a:t>]</a:t>
                      </a:r>
                      <a:endParaRPr sz="2400" dirty="0"/>
                    </a:p>
                  </a:txBody>
                  <a:tcPr marL="68575" marR="6857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796596">
                <a:tc>
                  <a:txBody>
                    <a:bodyPr/>
                    <a:lstStyle/>
                    <a:p>
                      <a:pPr marL="0" lvl="0" indent="0" algn="ctr" rtl="0">
                        <a:lnSpc>
                          <a:spcPct val="115000"/>
                        </a:lnSpc>
                        <a:spcBef>
                          <a:spcPts val="0"/>
                        </a:spcBef>
                        <a:spcAft>
                          <a:spcPts val="0"/>
                        </a:spcAft>
                        <a:buNone/>
                      </a:pPr>
                      <a:r>
                        <a:rPr lang="ja" sz="2800" b="0" dirty="0">
                          <a:latin typeface="Times New Roman"/>
                          <a:ea typeface="Times New Roman"/>
                          <a:cs typeface="Times New Roman"/>
                          <a:sym typeface="Times New Roman"/>
                        </a:rPr>
                        <a:t>26</a:t>
                      </a:r>
                      <a:endParaRPr sz="2800" b="0"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11.80%</a:t>
                      </a:r>
                      <a:endParaRPr sz="2800" b="1" dirty="0"/>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11.52%</a:t>
                      </a:r>
                      <a:endParaRPr sz="2800" b="1"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solidFill>
                            <a:schemeClr val="tx1"/>
                          </a:solidFill>
                          <a:latin typeface="Times New Roman"/>
                          <a:ea typeface="Times New Roman"/>
                          <a:cs typeface="Times New Roman"/>
                          <a:sym typeface="Times New Roman"/>
                        </a:rPr>
                        <a:t>55.81%</a:t>
                      </a:r>
                      <a:endParaRPr sz="2800" b="1" dirty="0">
                        <a:solidFill>
                          <a:schemeClr val="tx1"/>
                        </a:solidFill>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796596">
                <a:tc>
                  <a:txBody>
                    <a:bodyPr/>
                    <a:lstStyle/>
                    <a:p>
                      <a:pPr marL="0" lvl="0" indent="0" algn="ctr" rtl="0">
                        <a:lnSpc>
                          <a:spcPct val="115000"/>
                        </a:lnSpc>
                        <a:spcBef>
                          <a:spcPts val="0"/>
                        </a:spcBef>
                        <a:spcAft>
                          <a:spcPts val="0"/>
                        </a:spcAft>
                        <a:buNone/>
                      </a:pPr>
                      <a:r>
                        <a:rPr lang="ja" sz="2800" b="0" dirty="0">
                          <a:latin typeface="Times New Roman"/>
                          <a:ea typeface="Times New Roman"/>
                          <a:cs typeface="Times New Roman"/>
                          <a:sym typeface="Times New Roman"/>
                        </a:rPr>
                        <a:t>50</a:t>
                      </a:r>
                      <a:endParaRPr sz="2800" b="0"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11.33%</a:t>
                      </a:r>
                      <a:endParaRPr sz="2800" b="1" dirty="0"/>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10.23%</a:t>
                      </a:r>
                      <a:endParaRPr sz="2800" b="1"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solidFill>
                            <a:schemeClr val="tx1"/>
                          </a:solidFill>
                          <a:latin typeface="Times New Roman"/>
                          <a:ea typeface="Times New Roman"/>
                          <a:cs typeface="Times New Roman"/>
                          <a:sym typeface="Times New Roman"/>
                        </a:rPr>
                        <a:t>17.20%</a:t>
                      </a:r>
                      <a:endParaRPr sz="2800" b="1" dirty="0">
                        <a:solidFill>
                          <a:schemeClr val="tx1"/>
                        </a:solidFill>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796596">
                <a:tc>
                  <a:txBody>
                    <a:bodyPr/>
                    <a:lstStyle/>
                    <a:p>
                      <a:pPr marL="0" lvl="0" indent="0" algn="ctr" rtl="0">
                        <a:lnSpc>
                          <a:spcPct val="115000"/>
                        </a:lnSpc>
                        <a:spcBef>
                          <a:spcPts val="0"/>
                        </a:spcBef>
                        <a:spcAft>
                          <a:spcPts val="0"/>
                        </a:spcAft>
                        <a:buNone/>
                      </a:pPr>
                      <a:r>
                        <a:rPr lang="ja" sz="2800" b="0" dirty="0">
                          <a:latin typeface="Times New Roman"/>
                          <a:ea typeface="Times New Roman"/>
                          <a:cs typeface="Times New Roman"/>
                          <a:sym typeface="Times New Roman"/>
                        </a:rPr>
                        <a:t>100</a:t>
                      </a:r>
                      <a:endParaRPr sz="2800" b="0"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10.10%</a:t>
                      </a:r>
                      <a:endParaRPr sz="2800" b="1" dirty="0"/>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latin typeface="Times New Roman"/>
                          <a:ea typeface="Times New Roman"/>
                          <a:cs typeface="Times New Roman"/>
                          <a:sym typeface="Times New Roman"/>
                        </a:rPr>
                        <a:t>10.08%</a:t>
                      </a:r>
                      <a:endParaRPr sz="2800" b="1" dirty="0">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lnSpc>
                          <a:spcPct val="115000"/>
                        </a:lnSpc>
                        <a:spcBef>
                          <a:spcPts val="0"/>
                        </a:spcBef>
                        <a:spcAft>
                          <a:spcPts val="0"/>
                        </a:spcAft>
                        <a:buNone/>
                      </a:pPr>
                      <a:r>
                        <a:rPr lang="ja" sz="2800" b="1" dirty="0">
                          <a:solidFill>
                            <a:schemeClr val="tx1"/>
                          </a:solidFill>
                          <a:latin typeface="Times New Roman"/>
                          <a:ea typeface="Times New Roman"/>
                          <a:cs typeface="Times New Roman"/>
                          <a:sym typeface="Times New Roman"/>
                        </a:rPr>
                        <a:t>14.20%</a:t>
                      </a:r>
                      <a:endParaRPr sz="2800" b="1" dirty="0">
                        <a:solidFill>
                          <a:schemeClr val="tx1"/>
                        </a:solidFill>
                        <a:latin typeface="Times New Roman"/>
                        <a:ea typeface="Times New Roman"/>
                        <a:cs typeface="Times New Roman"/>
                        <a:sym typeface="Times New Roman"/>
                      </a:endParaRPr>
                    </a:p>
                  </a:txBody>
                  <a:tcPr marL="68575" marR="68575" marT="91425" marB="91425" anchor="ctr">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05474541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p31"/>
          <p:cNvSpPr txBox="1">
            <a:spLocks noGrp="1"/>
          </p:cNvSpPr>
          <p:nvPr>
            <p:ph type="body" idx="1"/>
          </p:nvPr>
        </p:nvSpPr>
        <p:spPr>
          <a:xfrm>
            <a:off x="972600" y="1554480"/>
            <a:ext cx="10251600" cy="4894553"/>
          </a:xfrm>
          <a:prstGeom prst="rect">
            <a:avLst/>
          </a:prstGeom>
        </p:spPr>
        <p:txBody>
          <a:bodyPr spcFirstLastPara="1" vert="horz" wrap="square" lIns="121900" tIns="121900" rIns="121900" bIns="121900" rtlCol="0" anchor="t" anchorCtr="0">
            <a:normAutofit/>
          </a:bodyPr>
          <a:lstStyle/>
          <a:p>
            <a:pPr indent="-448722">
              <a:buSzPts val="1700"/>
            </a:pPr>
            <a:r>
              <a:rPr lang="ja" altLang="en-US" sz="2400" b="1" dirty="0"/>
              <a:t>制約充足問題</a:t>
            </a:r>
            <a:r>
              <a:rPr lang="en-US" altLang="ja" sz="2400" b="1" dirty="0"/>
              <a:t>(Constraint satisfaction problem)</a:t>
            </a:r>
            <a:r>
              <a:rPr lang="ja-JP" altLang="en-US" sz="2400" b="1" dirty="0"/>
              <a:t>：</a:t>
            </a:r>
            <a:endParaRPr lang="en-US" altLang="ja" sz="2400" b="1" dirty="0"/>
          </a:p>
          <a:p>
            <a:pPr indent="-448722">
              <a:buSzPts val="1700"/>
            </a:pPr>
            <a:endParaRPr lang="en-US" sz="2400" dirty="0"/>
          </a:p>
          <a:p>
            <a:pPr indent="-448722">
              <a:buSzPts val="1700"/>
            </a:pPr>
            <a:endParaRPr sz="2400" dirty="0"/>
          </a:p>
          <a:p>
            <a:pPr lvl="1" indent="-448722">
              <a:buSzPts val="1700"/>
            </a:pPr>
            <a:r>
              <a:rPr lang="ja" altLang="en-US" dirty="0"/>
              <a:t>複数の制約を満たす数式などを探索する問題</a:t>
            </a:r>
            <a:endParaRPr dirty="0"/>
          </a:p>
          <a:p>
            <a:pPr lvl="1" indent="-448722">
              <a:buSzPts val="1700"/>
            </a:pPr>
            <a:r>
              <a:rPr lang="ja" altLang="en-US" dirty="0"/>
              <a:t>各変数に値を割り当てたときに、その組み合わせを満たすことが可能であるか調べる問題</a:t>
            </a:r>
            <a:endParaRPr lang="en-US" altLang="ja" dirty="0"/>
          </a:p>
          <a:p>
            <a:pPr marL="770448" lvl="1" indent="0">
              <a:buSzPts val="1700"/>
              <a:buNone/>
            </a:pPr>
            <a:endParaRPr dirty="0"/>
          </a:p>
          <a:p>
            <a:pPr indent="-448722">
              <a:buSzPts val="1700"/>
            </a:pPr>
            <a:r>
              <a:rPr lang="en-US" altLang="ja" sz="2400" b="1" dirty="0" err="1"/>
              <a:t>CSPSolver</a:t>
            </a:r>
            <a:r>
              <a:rPr lang="ja-JP" altLang="en-US" sz="2400" b="1" dirty="0"/>
              <a:t>：</a:t>
            </a:r>
            <a:endParaRPr lang="en-US" altLang="ja" sz="2400" b="1" dirty="0"/>
          </a:p>
          <a:p>
            <a:pPr indent="-448722">
              <a:buSzPts val="1700"/>
            </a:pPr>
            <a:endParaRPr sz="2400" dirty="0"/>
          </a:p>
          <a:p>
            <a:pPr lvl="1" indent="-448722">
              <a:buSzPts val="1700"/>
            </a:pPr>
            <a:r>
              <a:rPr lang="ja" altLang="en-US" dirty="0"/>
              <a:t>制約充足問題を解くためのプログラム</a:t>
            </a:r>
            <a:endParaRPr dirty="0"/>
          </a:p>
        </p:txBody>
      </p:sp>
      <p:sp>
        <p:nvSpPr>
          <p:cNvPr id="262" name="Google Shape;262;p31"/>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32</a:t>
            </a:fld>
            <a:endParaRPr/>
          </a:p>
        </p:txBody>
      </p:sp>
      <p:sp>
        <p:nvSpPr>
          <p:cNvPr id="263" name="Google Shape;263;p31"/>
          <p:cNvSpPr txBox="1"/>
          <p:nvPr/>
        </p:nvSpPr>
        <p:spPr>
          <a:xfrm>
            <a:off x="972599" y="5800518"/>
            <a:ext cx="10356000" cy="861720"/>
          </a:xfrm>
          <a:prstGeom prst="rect">
            <a:avLst/>
          </a:prstGeom>
          <a:noFill/>
          <a:ln>
            <a:noFill/>
          </a:ln>
        </p:spPr>
        <p:txBody>
          <a:bodyPr spcFirstLastPara="1" wrap="square" lIns="121900" tIns="60933" rIns="121900" bIns="60933" anchor="t" anchorCtr="0">
            <a:spAutoFit/>
          </a:bodyPr>
          <a:lstStyle/>
          <a:p>
            <a:r>
              <a:rPr lang="ja" altLang="en-US" sz="1600">
                <a:solidFill>
                  <a:schemeClr val="dk2"/>
                </a:solidFill>
                <a:latin typeface="Gill Sans"/>
                <a:ea typeface="Gill Sans"/>
                <a:cs typeface="Gill Sans"/>
                <a:sym typeface="Gill Sans"/>
              </a:rPr>
              <a:t>参考論文</a:t>
            </a:r>
            <a:endParaRPr sz="1600">
              <a:solidFill>
                <a:schemeClr val="dk2"/>
              </a:solidFill>
              <a:latin typeface="Gill Sans"/>
              <a:ea typeface="Gill Sans"/>
              <a:cs typeface="Gill Sans"/>
              <a:sym typeface="Gill Sans"/>
            </a:endParaRPr>
          </a:p>
          <a:p>
            <a:r>
              <a:rPr lang="ja" altLang="en-US" sz="1600">
                <a:solidFill>
                  <a:schemeClr val="dk2"/>
                </a:solidFill>
                <a:latin typeface="Gill Sans"/>
                <a:ea typeface="Gill Sans"/>
                <a:cs typeface="Gill Sans"/>
                <a:sym typeface="Gill Sans"/>
              </a:rPr>
              <a:t>田村直之</a:t>
            </a:r>
            <a:r>
              <a:rPr lang="en-US" altLang="ja" sz="1600">
                <a:solidFill>
                  <a:schemeClr val="dk2"/>
                </a:solidFill>
                <a:latin typeface="Gill Sans"/>
                <a:ea typeface="Gill Sans"/>
                <a:cs typeface="Gill Sans"/>
                <a:sym typeface="Gill Sans"/>
              </a:rPr>
              <a:t>/</a:t>
            </a:r>
            <a:r>
              <a:rPr lang="ja" altLang="en-US" sz="1600">
                <a:solidFill>
                  <a:schemeClr val="dk2"/>
                </a:solidFill>
                <a:latin typeface="Gill Sans"/>
                <a:ea typeface="Gill Sans"/>
                <a:cs typeface="Gill Sans"/>
                <a:sym typeface="Gill Sans"/>
              </a:rPr>
              <a:t>丹生智也</a:t>
            </a:r>
            <a:r>
              <a:rPr lang="en-US" altLang="ja" sz="1600">
                <a:solidFill>
                  <a:schemeClr val="dk2"/>
                </a:solidFill>
                <a:latin typeface="Gill Sans"/>
                <a:ea typeface="Gill Sans"/>
                <a:cs typeface="Gill Sans"/>
                <a:sym typeface="Gill Sans"/>
              </a:rPr>
              <a:t>/</a:t>
            </a:r>
            <a:r>
              <a:rPr lang="ja" altLang="en-US" sz="1600">
                <a:solidFill>
                  <a:schemeClr val="dk2"/>
                </a:solidFill>
                <a:latin typeface="Gill Sans"/>
                <a:ea typeface="Gill Sans"/>
                <a:cs typeface="Gill Sans"/>
                <a:sym typeface="Gill Sans"/>
              </a:rPr>
              <a:t>番原睦則（</a:t>
            </a:r>
            <a:r>
              <a:rPr lang="en-US" altLang="ja" sz="1600">
                <a:solidFill>
                  <a:schemeClr val="dk2"/>
                </a:solidFill>
                <a:latin typeface="Gill Sans"/>
                <a:ea typeface="Gill Sans"/>
                <a:cs typeface="Gill Sans"/>
                <a:sym typeface="Gill Sans"/>
              </a:rPr>
              <a:t>2010</a:t>
            </a:r>
            <a:r>
              <a:rPr lang="ja" altLang="en-US" sz="1600">
                <a:solidFill>
                  <a:schemeClr val="dk2"/>
                </a:solidFill>
                <a:latin typeface="Gill Sans"/>
                <a:ea typeface="Gill Sans"/>
                <a:cs typeface="Gill Sans"/>
                <a:sym typeface="Gill Sans"/>
              </a:rPr>
              <a:t>）</a:t>
            </a:r>
            <a:endParaRPr sz="1600">
              <a:solidFill>
                <a:schemeClr val="dk2"/>
              </a:solidFill>
              <a:latin typeface="Gill Sans"/>
              <a:ea typeface="Gill Sans"/>
              <a:cs typeface="Gill Sans"/>
              <a:sym typeface="Gill Sans"/>
            </a:endParaRPr>
          </a:p>
          <a:p>
            <a:r>
              <a:rPr lang="en-US" altLang="ja" sz="1600">
                <a:solidFill>
                  <a:schemeClr val="dk2"/>
                </a:solidFill>
                <a:latin typeface="Gill Sans"/>
                <a:ea typeface="Gill Sans"/>
                <a:cs typeface="Gill Sans"/>
                <a:sym typeface="Gill Sans"/>
              </a:rPr>
              <a:t>SAT</a:t>
            </a:r>
            <a:r>
              <a:rPr lang="ja" altLang="en-US" sz="1600">
                <a:solidFill>
                  <a:schemeClr val="dk2"/>
                </a:solidFill>
                <a:latin typeface="Gill Sans"/>
                <a:ea typeface="Gill Sans"/>
                <a:cs typeface="Gill Sans"/>
                <a:sym typeface="Gill Sans"/>
              </a:rPr>
              <a:t>変換に基づく制約ソルバーとその性能評価</a:t>
            </a:r>
            <a:endParaRPr sz="1600">
              <a:solidFill>
                <a:schemeClr val="dk2"/>
              </a:solidFill>
              <a:latin typeface="Gill Sans"/>
              <a:ea typeface="Gill Sans"/>
              <a:cs typeface="Gill Sans"/>
              <a:sym typeface="Gill Sans"/>
            </a:endParaRPr>
          </a:p>
        </p:txBody>
      </p:sp>
      <p:sp>
        <p:nvSpPr>
          <p:cNvPr id="2" name="Google Shape;166;p18">
            <a:extLst>
              <a:ext uri="{FF2B5EF4-FFF2-40B4-BE49-F238E27FC236}">
                <a16:creationId xmlns:a16="http://schemas.microsoft.com/office/drawing/2014/main" id="{E36BB212-C69F-725B-DC24-883E6C0F12B0}"/>
              </a:ext>
            </a:extLst>
          </p:cNvPr>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en-US" sz="4400" dirty="0">
                <a:solidFill>
                  <a:schemeClr val="accent1"/>
                </a:solidFill>
                <a:latin typeface="Lato"/>
                <a:ea typeface="Lato"/>
                <a:cs typeface="Lato"/>
                <a:sym typeface="Lato"/>
              </a:rPr>
              <a:t>CSP Solver </a:t>
            </a:r>
            <a:r>
              <a:rPr lang="ja-JP" altLang="en-US" sz="4400" dirty="0">
                <a:solidFill>
                  <a:schemeClr val="accent1"/>
                </a:solidFill>
                <a:latin typeface="Lato"/>
                <a:ea typeface="Lato"/>
                <a:cs typeface="Lato"/>
                <a:sym typeface="Lato"/>
              </a:rPr>
              <a:t>について</a:t>
            </a:r>
            <a:endParaRPr sz="4400" dirty="0">
              <a:solidFill>
                <a:schemeClr val="accent1"/>
              </a:solidFill>
              <a:latin typeface="Lato"/>
              <a:ea typeface="Lato"/>
              <a:cs typeface="Lato"/>
              <a:sym typeface="Lato"/>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9" name="Google Shape;269;p32"/>
          <p:cNvSpPr txBox="1">
            <a:spLocks noGrp="1"/>
          </p:cNvSpPr>
          <p:nvPr>
            <p:ph type="body" idx="1"/>
          </p:nvPr>
        </p:nvSpPr>
        <p:spPr>
          <a:xfrm>
            <a:off x="970199" y="4785359"/>
            <a:ext cx="10251600" cy="1653413"/>
          </a:xfrm>
          <a:prstGeom prst="rect">
            <a:avLst/>
          </a:prstGeom>
        </p:spPr>
        <p:txBody>
          <a:bodyPr spcFirstLastPara="1" vert="horz" wrap="square" lIns="121900" tIns="121900" rIns="121900" bIns="121900" rtlCol="0" anchor="t" anchorCtr="0">
            <a:normAutofit/>
          </a:bodyPr>
          <a:lstStyle/>
          <a:p>
            <a:pPr marL="0" indent="0">
              <a:spcBef>
                <a:spcPts val="1600"/>
              </a:spcBef>
              <a:buNone/>
            </a:pPr>
            <a:r>
              <a:rPr lang="ja" altLang="en-US" sz="2267" dirty="0"/>
              <a:t>ここで、</a:t>
            </a:r>
            <a:r>
              <a:rPr lang="en-US" altLang="ja" sz="2267" dirty="0"/>
              <a:t>n</a:t>
            </a:r>
            <a:r>
              <a:rPr lang="ja" altLang="en-US" sz="2267" dirty="0"/>
              <a:t>は画像枚数</a:t>
            </a:r>
            <a:r>
              <a:rPr lang="en-US" altLang="ja" sz="2267" dirty="0"/>
              <a:t>, m</a:t>
            </a:r>
            <a:r>
              <a:rPr lang="ja" altLang="en-US" sz="2267" dirty="0"/>
              <a:t>はデータ数</a:t>
            </a:r>
            <a:endParaRPr sz="2267" dirty="0"/>
          </a:p>
          <a:p>
            <a:pPr marL="0" indent="0">
              <a:spcBef>
                <a:spcPts val="1600"/>
              </a:spcBef>
              <a:buNone/>
            </a:pPr>
            <a:r>
              <a:rPr lang="en-US" altLang="ja" sz="2267" dirty="0"/>
              <a:t>HARD: 2.5</a:t>
            </a:r>
            <a:r>
              <a:rPr lang="ja" altLang="en-US" sz="2267" dirty="0"/>
              <a:t>日以内に解決できなかった </a:t>
            </a:r>
            <a:r>
              <a:rPr lang="en-US" altLang="ja" sz="2267" dirty="0"/>
              <a:t>UNSOLVED: </a:t>
            </a:r>
            <a:r>
              <a:rPr lang="ja" altLang="en-US" sz="2267" dirty="0"/>
              <a:t>解けない</a:t>
            </a:r>
            <a:endParaRPr sz="2267" dirty="0"/>
          </a:p>
          <a:p>
            <a:pPr marL="0" indent="0">
              <a:spcBef>
                <a:spcPts val="1600"/>
              </a:spcBef>
              <a:spcAft>
                <a:spcPts val="1600"/>
              </a:spcAft>
              <a:buNone/>
            </a:pPr>
            <a:endParaRPr sz="2267" dirty="0"/>
          </a:p>
        </p:txBody>
      </p:sp>
      <p:sp>
        <p:nvSpPr>
          <p:cNvPr id="270" name="Google Shape;270;p32"/>
          <p:cNvSpPr txBox="1">
            <a:spLocks noGrp="1"/>
          </p:cNvSpPr>
          <p:nvPr>
            <p:ph type="sldNum" idx="12"/>
          </p:nvPr>
        </p:nvSpPr>
        <p:spPr>
          <a:xfrm>
            <a:off x="11381736" y="6333135"/>
            <a:ext cx="731600" cy="524800"/>
          </a:xfrm>
          <a:prstGeom prst="rect">
            <a:avLst/>
          </a:prstGeom>
        </p:spPr>
        <p:txBody>
          <a:bodyPr spcFirstLastPara="1" vert="horz" wrap="square" lIns="121900" tIns="121900" rIns="121900" bIns="121900" rtlCol="0" anchor="ctr" anchorCtr="0">
            <a:normAutofit/>
          </a:bodyPr>
          <a:lstStyle/>
          <a:p>
            <a:fld id="{00000000-1234-1234-1234-123412341234}" type="slidenum">
              <a:rPr lang="en-US" altLang="ja"/>
              <a:pPr/>
              <a:t>33</a:t>
            </a:fld>
            <a:endParaRPr/>
          </a:p>
        </p:txBody>
      </p:sp>
      <p:pic>
        <p:nvPicPr>
          <p:cNvPr id="271" name="Google Shape;271;p32"/>
          <p:cNvPicPr preferRelativeResize="0"/>
          <p:nvPr/>
        </p:nvPicPr>
        <p:blipFill rotWithShape="1">
          <a:blip r:embed="rId3">
            <a:alphaModFix/>
          </a:blip>
          <a:srcRect/>
          <a:stretch/>
        </p:blipFill>
        <p:spPr>
          <a:xfrm>
            <a:off x="161384" y="2327156"/>
            <a:ext cx="11869231" cy="2203688"/>
          </a:xfrm>
          <a:prstGeom prst="rect">
            <a:avLst/>
          </a:prstGeom>
          <a:noFill/>
          <a:ln>
            <a:noFill/>
          </a:ln>
        </p:spPr>
      </p:pic>
      <p:sp>
        <p:nvSpPr>
          <p:cNvPr id="2" name="Google Shape;166;p18">
            <a:extLst>
              <a:ext uri="{FF2B5EF4-FFF2-40B4-BE49-F238E27FC236}">
                <a16:creationId xmlns:a16="http://schemas.microsoft.com/office/drawing/2014/main" id="{834AACF9-E5E6-EAAD-BDD3-04133DBB4941}"/>
              </a:ext>
            </a:extLst>
          </p:cNvPr>
          <p:cNvSpPr txBox="1"/>
          <p:nvPr/>
        </p:nvSpPr>
        <p:spPr>
          <a:xfrm>
            <a:off x="972600" y="70434"/>
            <a:ext cx="6359200" cy="923289"/>
          </a:xfrm>
          <a:prstGeom prst="rect">
            <a:avLst/>
          </a:prstGeom>
          <a:noFill/>
          <a:ln>
            <a:noFill/>
          </a:ln>
        </p:spPr>
        <p:txBody>
          <a:bodyPr spcFirstLastPara="1" wrap="square" lIns="121900" tIns="121900" rIns="121900" bIns="121900" anchor="t" anchorCtr="0">
            <a:spAutoFit/>
          </a:bodyPr>
          <a:lstStyle/>
          <a:p>
            <a:r>
              <a:rPr lang="ja-JP" altLang="en-US" sz="4400" dirty="0">
                <a:solidFill>
                  <a:schemeClr val="accent1"/>
                </a:solidFill>
                <a:latin typeface="Lato"/>
                <a:ea typeface="Lato"/>
                <a:cs typeface="Lato"/>
                <a:sym typeface="Lato"/>
              </a:rPr>
              <a:t>既存研究：</a:t>
            </a:r>
            <a:r>
              <a:rPr lang="en-US" altLang="ja-JP" sz="4400" dirty="0">
                <a:solidFill>
                  <a:schemeClr val="accent1"/>
                </a:solidFill>
                <a:latin typeface="Lato"/>
                <a:ea typeface="Lato"/>
                <a:cs typeface="Lato"/>
                <a:sym typeface="Lato"/>
              </a:rPr>
              <a:t>CSP Solver</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48697</TotalTime>
  <Words>5297</Words>
  <Application>Microsoft Office PowerPoint</Application>
  <PresentationFormat>ワイド画面</PresentationFormat>
  <Paragraphs>609</Paragraphs>
  <Slides>34</Slides>
  <Notes>33</Notes>
  <HiddenSlides>9</HiddenSlides>
  <MMClips>0</MMClips>
  <ScaleCrop>false</ScaleCrop>
  <HeadingPairs>
    <vt:vector size="6" baseType="variant">
      <vt:variant>
        <vt:lpstr>使用されているフォント</vt:lpstr>
      </vt:variant>
      <vt:variant>
        <vt:i4>12</vt:i4>
      </vt:variant>
      <vt:variant>
        <vt:lpstr>テーマ</vt:lpstr>
      </vt:variant>
      <vt:variant>
        <vt:i4>1</vt:i4>
      </vt:variant>
      <vt:variant>
        <vt:lpstr>スライド タイトル</vt:lpstr>
      </vt:variant>
      <vt:variant>
        <vt:i4>34</vt:i4>
      </vt:variant>
    </vt:vector>
  </HeadingPairs>
  <TitlesOfParts>
    <vt:vector size="47" baseType="lpstr">
      <vt:lpstr>Gill Sans</vt:lpstr>
      <vt:lpstr>Meiryo UI</vt:lpstr>
      <vt:lpstr>NotoSansJP</vt:lpstr>
      <vt:lpstr>YakuHanJPs</vt:lpstr>
      <vt:lpstr>游ゴシック</vt:lpstr>
      <vt:lpstr>游ゴシック Light</vt:lpstr>
      <vt:lpstr>游明朝</vt:lpstr>
      <vt:lpstr>Arial</vt:lpstr>
      <vt:lpstr>Calibri</vt:lpstr>
      <vt:lpstr>Cambria Math</vt:lpstr>
      <vt:lpstr>Lato</vt:lpstr>
      <vt:lpstr>Times New Roman</vt:lpstr>
      <vt:lpstr>Office テーマ</vt:lpstr>
      <vt:lpstr>人間計算可能なパスワード認証に対する 畳み込みニューラルネットワークを用いた 安全性評価</vt:lpstr>
      <vt:lpstr>研究背景と目的</vt:lpstr>
      <vt:lpstr>背景知識</vt:lpstr>
      <vt:lpstr>本研究の取り組み</vt:lpstr>
      <vt:lpstr>アイデア：CNN による局所特徴量の学習</vt:lpstr>
      <vt:lpstr>アイデア：CNN による局所特徴量の学習</vt:lpstr>
      <vt:lpstr>既存研究 [Y. Ikeda 2024] 再現：(k_1,k_2 )=(2,2)</vt:lpstr>
      <vt:lpstr>実験結果：(k_1,k_2 )=(2,2)</vt:lpstr>
      <vt:lpstr>まとめと今後の展望</vt:lpstr>
      <vt:lpstr>PowerPoint プレゼンテーション</vt:lpstr>
      <vt:lpstr>人間計算可能関数（一般形）</vt:lpstr>
      <vt:lpstr>人間計算可能なパスワード</vt:lpstr>
      <vt:lpstr>人間計算可能なパスワード</vt:lpstr>
      <vt:lpstr>人間計算可能の定義</vt:lpstr>
      <vt:lpstr>実験に使用したデータセット</vt:lpstr>
      <vt:lpstr>アイデア：CNNによる局所特徴量の学習</vt:lpstr>
      <vt:lpstr>実験結果：(k_1,k_2 )=(1,3)</vt:lpstr>
      <vt:lpstr>まとめと今後の展望</vt:lpstr>
      <vt:lpstr>中間報告会の質疑</vt:lpstr>
      <vt:lpstr>発表練習会の質疑</vt:lpstr>
      <vt:lpstr>想定される質疑</vt:lpstr>
      <vt:lpstr>想定される質疑</vt:lpstr>
      <vt:lpstr>過去の質疑</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MIYATA Moe</dc:creator>
  <cp:lastModifiedBy>ogawa shohei</cp:lastModifiedBy>
  <cp:revision>209</cp:revision>
  <dcterms:created xsi:type="dcterms:W3CDTF">2024-10-17T13:07:01Z</dcterms:created>
  <dcterms:modified xsi:type="dcterms:W3CDTF">2025-02-17T01:17:42Z</dcterms:modified>
</cp:coreProperties>
</file>